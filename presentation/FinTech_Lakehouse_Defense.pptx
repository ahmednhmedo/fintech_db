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1496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Ahmed, and this is the FinTech Lakehouse — an end-to-end data engineering platform for digital payment and transfer transactions. The headline is that it does two things into one warehouse: a batch pipeline that initializes the full history, and an incremental Kafka pipeline that keeps it current. It follows the Medallion architecture and a Kimball star schema, it's fully built and verified locally, and it has a working Microsoft Fabric cloud companion. I'll walk through the problem, the architecture, the data model, both pipelines, the cloud build, and the Power BI dashboards.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path. I'll start with the business problem and the solution, then the system architecture. Then the data model — the Kimball star. The core of the project is the local solution: the batch pipeline and the incremental Kafka pipeline. After that, the Microsoft Fabric cloud companion, the Power BI dashboards, and the validation evidence. Each section is built to be explained in under a minute.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is messy. The company runs huge volumes of payments and transfers, but the data lives as scattered CSV exports — eight separate files. There's no trusted, conformed dataset, so any analysis of volume, decline reasons, FX activity, or merchant performance is slow, manual, and error-prone. And crucially, there's no repeatable way to absorb new transactions as they keep arriving. Those four gaps are exactly what the platform is designed to close.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 FinTech Lakehouse. The 'from-to' on the left is the whole story: we go from scattered CSVs with no trust to a single conformed, referentially-correct warehouse. On the right are the capabilities. The batch path establishes the warehouse with the full history; the incremental path keeps the fact table current as new events arrive. Both enforce the same data-quality and integrity rules, dbt validates the result, and Power BI consumes it. And the whole pattern is mirrored in a Microsoft Fabric cloud companion.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local architecture. Read it as two tracks that converge. The top track in blue is the batch pipeline: eight CSVs through Pandas to a Bronze parquet layer, PySpark for Silver, into SQL Server, validated by dbt, into Power BI. The bottom track in green is the incremental pipeline, which adds the event backbone — FastAPI, Kafka, a JSONL bronze, a Spark silver, then SQL staging and a MERGE. Both land in the same SQL Server Express gold warehouse, the single source of truth. The split is deliberate: lake processing runs in Docker, while the warehouse layer runs on the Windows host for trusted authentication.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gold layer is a Kimball star: one fact table, fact_transactions, surrounded by seven dimensions. The business key is transaction_id, which carries a unique index — that's the anchor for both the batch dedupe and the incremental MERGE. The surrogate key, transaction_sk, is an IDENTITY column. The fact connects to every dimension through foreign keys, and dim_account is role-playing — it serves both the account and the peer-account on a P2P transfer. The model is built to answer transaction analytics, decline analysis, FX, merchant performance, and customer behaviour. On the right are the actual verified row counts straight from the warehouse — a million facts.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batch pipeline initializes the warehouse. Eight CSVs, roughly 1.3 million rows, flow through Pandas into a Bronze parquet layer, then PySpark conforms them into Silver — type casting, trimming, de-duplicating on the natural key. From there they load into the SQL Server gold star, and dbt validates. Orchestration is split: Airflow, running in Docker, owns the lake stages — you can see the three-task DAG all green — and PowerShell owns the warehouse stages, because that's where Windows authentication lives. The dbt build on the right is the quality gate: 47 checks pass, zero errors. Bronze preserves raw, Silver conforms, Gold is the star.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I'm most proud of — the incremental pipeline. It simulates how a real bank receives a continuous feed. A FastAPI endpoint serves one transaction per request; a Confluent Kafka producer publishes to a KRaft topic — no ZooKeeper; a consumer writes each event to a Bronze JSONL with full Kafka lineage. PySpark then conforms a micro-batch into Silver, here ninety-nine new rows with zero quarantined. The key design choice: only the fact is streamed, because it's the only genuinely append-only, high-velocity table. Dimensions stay batch-loaded. And the load into the warehouse is an idempotent MERGE on transaction_id, so we upsert deltas instead of reloading a million rows.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financial data, reliability is layered end to end. The consumer is at-least-once: it durably writes Bronze and only then commits the Kafka offset, so a crash replays rather than loses an event. Bad messages go to a dead-letter queue; bad rows are quarantined with a reason, never silently dropped. Silver checkpoints on the Kafka offset, which is a perfect replay-safe watermark. SQL staging validates and rejects before the MERGE, and the MERGE itself is idempotent on transaction_id — identical replays are no-ops. Every batch is logged, and dbt is the final gate. The two screenshots prove it: a re-run finds nothing to do, and the audit log shows a clean SUCCESS with the fact still at exactly one million.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companion re-expresses the exact same Medallion-plus-Kimball pattern on Microsoft Fabric. The tool stack on the left maps one-to-one to the local design: a Data Factory pipeline ingests, OneLake and a Fabric Lakehouse store the Bronze, Silver becomes conformed SQL views in the warehouse, and Gold is built with SQL plus dbt — here using the dbt-fabric adapter — feeding Power BI. The big architectural difference from local is identity: instead of Windows authentication, the cloud uses Microsoft Entra ID, workspace roles, and service principals. The original architecture document framed this as the target design; on the next slide I'll show it's actually deployed and running.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proof the cloud build is real, not just a diagram. Top-left: the Fabric Data Factory pipeline 'Ingest the data to silver' ran successfully — a ForEach over the files, every activity green. Top-right: the deployed workspace, with Bronze, Silver and Gold lakehouses, the Gold warehouse, the orchestration and transformation pipelines, and the silver-to-gold notebook. And at the bottom, the validation query against the Fabric Gold warehouse: the enriched fact view returns exactly one million rows — matching the local warehouse — plus the KPI marts for merchants, daily, customer segments, declines and more. So the same data, the same counts, reproduced in the cloud.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bridge between the two halves of the project. Every local component has a clean cloud counterpart, which is exactly why the migration path is realistic. Airflow-plus-PowerShell becomes a Data Factory pipeline. PySpark Silver becomes conformed SQL views. The SQL Server star becomes the Fabric warehouse. dbt-sqlserver swaps to dbt-fabric — often just changing the adapter type. Power BI stays Power BI. The one genuine re-architecture is authentication: local Windows Auth with no secrets becomes Entra ID with service principals. So the design isn't two unrelated systems — it's one pattern, two runtimes.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consumption layer. Power BI Desktop connects in Import mode over Windows Auth to the trusted warehouse and reporting views. There are four pages. Overview gives the headline KPIs — total transaction volume around 689 million EGP, forty thousand customers, the transaction-type mix. Transactions drills into decline reasons, FX, and city-level activity. Customers covers tiers, acquisition channels, age bands and growth. And Merchants shows category revenue, the SME-to-enterprise size mix, and the revenue trend. Because the source is frozen and deterministic, these numbers double as a benchmark — if a figure drifts, the model is stale or mis-connected.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evidence together. Both pipelines run end to end. The MERGE is proven idempotent. dbt build passes all forty-seven checks with zero warnings or errors — that single green result asserts uniqueness, intact foreign keys, valid domains, and sane measures all at once. There are no duplicate transaction_ids and no orphan keys. The reporting views are live, and the cloud Gold warehouse independently reproduces the same one million rows. So the correctness claim isn't a promise — it's checked by automated tests on every load, locally and in the cloud.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value delivered: this is a complete, working data engineering platform. It does historical batch loading and incremental event-driven ingestion. It implements the Medallion architecture and a Kimball dimensional model. It lands in a trusted SQL Server warehouse, validated by forty-seven automated dbt checks, and surfaced through Power BI analytics. And it has a real Microsoft Fabric evolution path that's already been built and validated. The design goal throughout was reproducibility and correctness — every KPI is traceable back through conformed, tested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FinTech Lakehouse: a batch and incremental data engineering pipeline, built locally end to end and validated in Microsoft Fabric. Thank you — I'm happy to take questions, whether on the Kafka incremental design, the MERGE idempotency, the dbt testing, or the Fabric migration path.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12"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8.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9.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15.png"/><Relationship Id="rId9"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8.png"/><Relationship Id="rId7"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2.png"/><Relationship Id="rId10" Type="http://schemas.openxmlformats.org/officeDocument/2006/relationships/image" Target="../media/image45.png"/><Relationship Id="rId4" Type="http://schemas.openxmlformats.org/officeDocument/2006/relationships/image" Target="../media/image40.png"/><Relationship Id="rId9"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9.png"/><Relationship Id="rId7"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17.png"/><Relationship Id="rId10" Type="http://schemas.openxmlformats.org/officeDocument/2006/relationships/image" Target="../media/image8.png"/><Relationship Id="rId4" Type="http://schemas.openxmlformats.org/officeDocument/2006/relationships/image" Target="../media/image16.png"/><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4D"/>
        </a:solidFill>
        <a:effectLst/>
      </p:bgPr>
    </p:bg>
    <p:spTree>
      <p:nvGrpSpPr>
        <p:cNvPr id="1" name=""/>
        <p:cNvGrpSpPr/>
        <p:nvPr/>
      </p:nvGrpSpPr>
      <p:grpSpPr>
        <a:xfrm>
          <a:off x="0" y="0"/>
          <a:ext cx="0" cy="0"/>
          <a:chOff x="0" y="0"/>
          <a:chExt cx="0" cy="0"/>
        </a:xfrm>
      </p:grpSpPr>
      <p:sp>
        <p:nvSpPr>
          <p:cNvPr id="2" name="Shape 0"/>
          <p:cNvSpPr/>
          <p:nvPr/>
        </p:nvSpPr>
        <p:spPr>
          <a:xfrm>
            <a:off x="9235440" y="-1554480"/>
            <a:ext cx="4206240" cy="4206240"/>
          </a:xfrm>
          <a:prstGeom prst="ellipse">
            <a:avLst/>
          </a:prstGeom>
          <a:solidFill>
            <a:srgbClr val="1E2F5E"/>
          </a:solidFill>
          <a:ln w="12700">
            <a:solidFill>
              <a:srgbClr val="26407A"/>
            </a:solidFill>
            <a:prstDash val="solid"/>
          </a:ln>
        </p:spPr>
        <p:txBody>
          <a:bodyPr/>
          <a:lstStyle/>
          <a:p>
            <a:endParaRPr lang="en-US"/>
          </a:p>
        </p:txBody>
      </p:sp>
      <p:sp>
        <p:nvSpPr>
          <p:cNvPr id="3" name="Shape 1"/>
          <p:cNvSpPr/>
          <p:nvPr/>
        </p:nvSpPr>
        <p:spPr>
          <a:xfrm>
            <a:off x="10058400" y="-822960"/>
            <a:ext cx="2651760" cy="2651760"/>
          </a:xfrm>
          <a:prstGeom prst="ellipse">
            <a:avLst/>
          </a:prstGeom>
          <a:solidFill>
            <a:srgbClr val="16244D"/>
          </a:solidFill>
          <a:ln w="12700">
            <a:solidFill>
              <a:srgbClr val="2E4B86"/>
            </a:solidFill>
            <a:prstDash val="solid"/>
          </a:ln>
        </p:spPr>
        <p:txBody>
          <a:bodyPr/>
          <a:lstStyle/>
          <a:p>
            <a:endParaRPr lang="en-US"/>
          </a:p>
        </p:txBody>
      </p:sp>
      <p:sp>
        <p:nvSpPr>
          <p:cNvPr id="4" name="Shape 2"/>
          <p:cNvSpPr/>
          <p:nvPr/>
        </p:nvSpPr>
        <p:spPr>
          <a:xfrm>
            <a:off x="-1280160" y="4297680"/>
            <a:ext cx="3291840" cy="3291840"/>
          </a:xfrm>
          <a:prstGeom prst="ellipse">
            <a:avLst/>
          </a:prstGeom>
          <a:solidFill>
            <a:srgbClr val="1E2F5E"/>
          </a:solidFill>
          <a:ln/>
        </p:spPr>
        <p:txBody>
          <a:bodyPr/>
          <a:lstStyle/>
          <a:p>
            <a:endParaRPr lang="en-US"/>
          </a:p>
        </p:txBody>
      </p:sp>
      <p:sp>
        <p:nvSpPr>
          <p:cNvPr id="5" name="Shape 3"/>
          <p:cNvSpPr/>
          <p:nvPr/>
        </p:nvSpPr>
        <p:spPr>
          <a:xfrm>
            <a:off x="822960" y="960120"/>
            <a:ext cx="3611880" cy="384048"/>
          </a:xfrm>
          <a:prstGeom prst="roundRect">
            <a:avLst>
              <a:gd name="adj" fmla="val 50000"/>
            </a:avLst>
          </a:prstGeom>
          <a:solidFill>
            <a:srgbClr val="0E7C86"/>
          </a:solidFill>
          <a:ln/>
        </p:spPr>
        <p:txBody>
          <a:bodyPr/>
          <a:lstStyle/>
          <a:p>
            <a:endParaRPr lang="en-US"/>
          </a:p>
        </p:txBody>
      </p:sp>
      <p:sp>
        <p:nvSpPr>
          <p:cNvPr id="6" name="Text 4"/>
          <p:cNvSpPr/>
          <p:nvPr/>
        </p:nvSpPr>
        <p:spPr>
          <a:xfrm>
            <a:off x="822960" y="960120"/>
            <a:ext cx="3611880"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 ENGINEERING PROJECT DEFENSE</a:t>
            </a:r>
            <a:endParaRPr lang="en-US" sz="1050" dirty="0"/>
          </a:p>
        </p:txBody>
      </p:sp>
      <p:sp>
        <p:nvSpPr>
          <p:cNvPr id="7" name="Text 5"/>
          <p:cNvSpPr/>
          <p:nvPr/>
        </p:nvSpPr>
        <p:spPr>
          <a:xfrm>
            <a:off x="777240" y="1508760"/>
            <a:ext cx="10607040" cy="105156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FinTech Lakehouse</a:t>
            </a:r>
            <a:endParaRPr lang="en-US" sz="6000" dirty="0"/>
          </a:p>
        </p:txBody>
      </p:sp>
      <p:sp>
        <p:nvSpPr>
          <p:cNvPr id="8" name="Text 6"/>
          <p:cNvSpPr/>
          <p:nvPr/>
        </p:nvSpPr>
        <p:spPr>
          <a:xfrm>
            <a:off x="822960" y="2697480"/>
            <a:ext cx="10058400" cy="548640"/>
          </a:xfrm>
          <a:prstGeom prst="rect">
            <a:avLst/>
          </a:prstGeom>
          <a:noFill/>
          <a:ln/>
        </p:spPr>
        <p:txBody>
          <a:bodyPr wrap="square" lIns="0" tIns="0" rIns="0" bIns="0" rtlCol="0" anchor="ctr"/>
          <a:lstStyle/>
          <a:p>
            <a:pPr marL="0" indent="0">
              <a:buNone/>
            </a:pPr>
            <a:r>
              <a:rPr lang="en-US" sz="2200" dirty="0">
                <a:solidFill>
                  <a:srgbClr val="CBD9F2"/>
                </a:solidFill>
                <a:latin typeface="Calibri" pitchFamily="34" charset="0"/>
                <a:ea typeface="Calibri" pitchFamily="34" charset="-122"/>
                <a:cs typeface="Calibri" pitchFamily="34" charset="-120"/>
              </a:rPr>
              <a:t>Batch + Incremental Data Engineering Pipeline</a:t>
            </a:r>
            <a:endParaRPr lang="en-US" sz="2200" dirty="0"/>
          </a:p>
        </p:txBody>
      </p:sp>
      <p:sp>
        <p:nvSpPr>
          <p:cNvPr id="9" name="Shape 7"/>
          <p:cNvSpPr/>
          <p:nvPr/>
        </p:nvSpPr>
        <p:spPr>
          <a:xfrm>
            <a:off x="822960" y="3429000"/>
            <a:ext cx="3429000" cy="402336"/>
          </a:xfrm>
          <a:prstGeom prst="roundRect">
            <a:avLst>
              <a:gd name="adj" fmla="val 50000"/>
            </a:avLst>
          </a:prstGeom>
          <a:solidFill>
            <a:srgbClr val="0E7C86"/>
          </a:solidFill>
          <a:ln/>
        </p:spPr>
        <p:txBody>
          <a:bodyPr/>
          <a:lstStyle/>
          <a:p>
            <a:endParaRPr lang="en-US"/>
          </a:p>
        </p:txBody>
      </p:sp>
      <p:sp>
        <p:nvSpPr>
          <p:cNvPr id="10" name="Text 8"/>
          <p:cNvSpPr/>
          <p:nvPr/>
        </p:nvSpPr>
        <p:spPr>
          <a:xfrm>
            <a:off x="822960" y="3429000"/>
            <a:ext cx="342900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Medallion · Bronze→Silver→Gold</a:t>
            </a:r>
            <a:endParaRPr lang="en-US" sz="1050" dirty="0"/>
          </a:p>
        </p:txBody>
      </p:sp>
      <p:sp>
        <p:nvSpPr>
          <p:cNvPr id="11" name="Shape 9"/>
          <p:cNvSpPr/>
          <p:nvPr/>
        </p:nvSpPr>
        <p:spPr>
          <a:xfrm>
            <a:off x="4434840" y="3429000"/>
            <a:ext cx="2372868" cy="402336"/>
          </a:xfrm>
          <a:prstGeom prst="roundRect">
            <a:avLst>
              <a:gd name="adj" fmla="val 50000"/>
            </a:avLst>
          </a:prstGeom>
          <a:solidFill>
            <a:srgbClr val="0E7C86"/>
          </a:solidFill>
          <a:ln/>
        </p:spPr>
        <p:txBody>
          <a:bodyPr/>
          <a:lstStyle/>
          <a:p>
            <a:endParaRPr lang="en-US"/>
          </a:p>
        </p:txBody>
      </p:sp>
      <p:sp>
        <p:nvSpPr>
          <p:cNvPr id="12" name="Text 10"/>
          <p:cNvSpPr/>
          <p:nvPr/>
        </p:nvSpPr>
        <p:spPr>
          <a:xfrm>
            <a:off x="4434840" y="3429000"/>
            <a:ext cx="2372868"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Kimball Star Schema</a:t>
            </a:r>
            <a:endParaRPr lang="en-US" sz="1050" dirty="0"/>
          </a:p>
        </p:txBody>
      </p:sp>
      <p:sp>
        <p:nvSpPr>
          <p:cNvPr id="13" name="Shape 11"/>
          <p:cNvSpPr/>
          <p:nvPr/>
        </p:nvSpPr>
        <p:spPr>
          <a:xfrm>
            <a:off x="6990588" y="3429000"/>
            <a:ext cx="3044952" cy="402336"/>
          </a:xfrm>
          <a:prstGeom prst="roundRect">
            <a:avLst>
              <a:gd name="adj" fmla="val 50000"/>
            </a:avLst>
          </a:prstGeom>
          <a:solidFill>
            <a:srgbClr val="1F9E54"/>
          </a:solidFill>
          <a:ln/>
        </p:spPr>
        <p:txBody>
          <a:bodyPr/>
          <a:lstStyle/>
          <a:p>
            <a:endParaRPr lang="en-US"/>
          </a:p>
        </p:txBody>
      </p:sp>
      <p:sp>
        <p:nvSpPr>
          <p:cNvPr id="14" name="Text 12"/>
          <p:cNvSpPr/>
          <p:nvPr/>
        </p:nvSpPr>
        <p:spPr>
          <a:xfrm>
            <a:off x="6990588" y="3429000"/>
            <a:ext cx="3044952"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Local + Cloud Architecture</a:t>
            </a:r>
            <a:endParaRPr lang="en-US" sz="1050" dirty="0"/>
          </a:p>
        </p:txBody>
      </p:sp>
      <p:sp>
        <p:nvSpPr>
          <p:cNvPr id="15" name="Shape 13"/>
          <p:cNvSpPr/>
          <p:nvPr/>
        </p:nvSpPr>
        <p:spPr>
          <a:xfrm>
            <a:off x="822960" y="5074920"/>
            <a:ext cx="5852160" cy="1005840"/>
          </a:xfrm>
          <a:prstGeom prst="roundRect">
            <a:avLst>
              <a:gd name="adj" fmla="val 9091"/>
            </a:avLst>
          </a:prstGeom>
          <a:solidFill>
            <a:srgbClr val="1E2F5E"/>
          </a:solidFill>
          <a:ln w="12700">
            <a:solidFill>
              <a:srgbClr val="2E4B86"/>
            </a:solidFill>
            <a:prstDash val="solid"/>
          </a:ln>
        </p:spPr>
        <p:txBody>
          <a:bodyPr/>
          <a:lstStyle/>
          <a:p>
            <a:endParaRPr lang="en-US" dirty="0"/>
          </a:p>
        </p:txBody>
      </p:sp>
      <p:sp>
        <p:nvSpPr>
          <p:cNvPr id="16" name="Shape 14"/>
          <p:cNvSpPr/>
          <p:nvPr/>
        </p:nvSpPr>
        <p:spPr>
          <a:xfrm>
            <a:off x="1051560" y="5285232"/>
            <a:ext cx="566928" cy="566928"/>
          </a:xfrm>
          <a:prstGeom prst="ellipse">
            <a:avLst/>
          </a:prstGeom>
          <a:solidFill>
            <a:srgbClr val="0E7C86"/>
          </a:solidFill>
          <a:ln/>
        </p:spPr>
        <p:txBody>
          <a:bodyPr/>
          <a:lstStyle/>
          <a:p>
            <a:endParaRPr lang="en-US"/>
          </a:p>
        </p:txBody>
      </p:sp>
      <p:pic>
        <p:nvPicPr>
          <p:cNvPr id="17" name="Image 0" descr="icons/cubes.png"/>
          <p:cNvPicPr>
            <a:picLocks noChangeAspect="1"/>
          </p:cNvPicPr>
          <p:nvPr/>
        </p:nvPicPr>
        <p:blipFill>
          <a:blip r:embed="rId3"/>
          <a:stretch>
            <a:fillRect/>
          </a:stretch>
        </p:blipFill>
        <p:spPr>
          <a:xfrm>
            <a:off x="1207008" y="5440680"/>
            <a:ext cx="256032" cy="256032"/>
          </a:xfrm>
          <a:prstGeom prst="rect">
            <a:avLst/>
          </a:prstGeom>
        </p:spPr>
      </p:pic>
      <p:sp>
        <p:nvSpPr>
          <p:cNvPr id="18" name="Text 15"/>
          <p:cNvSpPr/>
          <p:nvPr/>
        </p:nvSpPr>
        <p:spPr>
          <a:xfrm>
            <a:off x="1828800" y="5138928"/>
            <a:ext cx="4572000" cy="868680"/>
          </a:xfrm>
          <a:prstGeom prst="rect">
            <a:avLst/>
          </a:prstGeom>
          <a:noFill/>
          <a:ln/>
        </p:spPr>
        <p:txBody>
          <a:bodyPr wrap="square" lIns="0" tIns="0" rIns="0" bIns="0" rtlCol="0" anchor="ctr"/>
          <a:lstStyle/>
          <a:p>
            <a:pPr marL="0" indent="0">
              <a:buNone/>
            </a:pPr>
            <a:r>
              <a:rPr lang="en-US" sz="800" dirty="0">
                <a:solidFill>
                  <a:srgbClr val="9DB2D9"/>
                </a:solidFill>
                <a:latin typeface="Calibri" pitchFamily="34" charset="0"/>
                <a:ea typeface="Calibri" pitchFamily="34" charset="-122"/>
                <a:cs typeface="Calibri" pitchFamily="34" charset="-120"/>
              </a:rPr>
              <a:t>Presented by
</a:t>
            </a:r>
            <a:endParaRPr lang="en-US" sz="800" dirty="0"/>
          </a:p>
          <a:p>
            <a:pPr marL="0" indent="0">
              <a:buNone/>
            </a:pPr>
            <a:r>
              <a:rPr lang="en-US" sz="800" b="1" dirty="0">
                <a:solidFill>
                  <a:srgbClr val="FFFFFF"/>
                </a:solidFill>
                <a:latin typeface="Calibri" pitchFamily="34" charset="0"/>
                <a:ea typeface="Calibri" pitchFamily="34" charset="-122"/>
                <a:cs typeface="Calibri" pitchFamily="34" charset="-120"/>
              </a:rPr>
              <a:t>Ahmed Nhmedo</a:t>
            </a:r>
            <a:br>
              <a:rPr lang="en-US" sz="800" b="1" dirty="0">
                <a:solidFill>
                  <a:srgbClr val="FFFFFF"/>
                </a:solidFill>
                <a:latin typeface="Calibri" pitchFamily="34" charset="0"/>
                <a:ea typeface="Calibri" pitchFamily="34" charset="-122"/>
                <a:cs typeface="Calibri" pitchFamily="34" charset="-120"/>
              </a:rPr>
            </a:br>
            <a:r>
              <a:rPr lang="en-US" sz="800" b="1" dirty="0">
                <a:solidFill>
                  <a:srgbClr val="FFFFFF"/>
                </a:solidFill>
                <a:latin typeface="Calibri" pitchFamily="34" charset="0"/>
                <a:ea typeface="Calibri" pitchFamily="34" charset="-122"/>
                <a:cs typeface="Calibri" pitchFamily="34" charset="-120"/>
              </a:rPr>
              <a:t>Amr Magdy </a:t>
            </a:r>
            <a:br>
              <a:rPr lang="en-US" sz="800" b="1" dirty="0">
                <a:solidFill>
                  <a:srgbClr val="FFFFFF"/>
                </a:solidFill>
                <a:latin typeface="Calibri" pitchFamily="34" charset="0"/>
                <a:ea typeface="Calibri" pitchFamily="34" charset="-122"/>
                <a:cs typeface="Calibri" pitchFamily="34" charset="-120"/>
              </a:rPr>
            </a:br>
            <a:r>
              <a:rPr lang="en-US" sz="800" b="1" dirty="0">
                <a:solidFill>
                  <a:srgbClr val="FFFFFF"/>
                </a:solidFill>
                <a:latin typeface="Calibri" pitchFamily="34" charset="0"/>
                <a:ea typeface="Calibri" pitchFamily="34" charset="-122"/>
                <a:cs typeface="Calibri" pitchFamily="34" charset="-120"/>
              </a:rPr>
              <a:t>Mohamed </a:t>
            </a:r>
            <a:r>
              <a:rPr lang="en-US" sz="800" b="1" dirty="0" err="1">
                <a:solidFill>
                  <a:srgbClr val="FFFFFF"/>
                </a:solidFill>
                <a:latin typeface="Calibri" pitchFamily="34" charset="0"/>
                <a:ea typeface="Calibri" pitchFamily="34" charset="-122"/>
                <a:cs typeface="Calibri" pitchFamily="34" charset="-120"/>
              </a:rPr>
              <a:t>ElNoby</a:t>
            </a:r>
            <a:r>
              <a:rPr lang="en-US" sz="800" b="1" dirty="0">
                <a:solidFill>
                  <a:srgbClr val="FFFFFF"/>
                </a:solidFill>
                <a:latin typeface="Calibri" pitchFamily="34" charset="0"/>
                <a:ea typeface="Calibri" pitchFamily="34" charset="-122"/>
                <a:cs typeface="Calibri" pitchFamily="34" charset="-120"/>
              </a:rPr>
              <a:t> </a:t>
            </a:r>
            <a:br>
              <a:rPr lang="en-US" sz="800" b="1" dirty="0">
                <a:solidFill>
                  <a:srgbClr val="FFFFFF"/>
                </a:solidFill>
                <a:latin typeface="Calibri" pitchFamily="34" charset="0"/>
                <a:ea typeface="Calibri" pitchFamily="34" charset="-122"/>
                <a:cs typeface="Calibri" pitchFamily="34" charset="-120"/>
              </a:rPr>
            </a:br>
            <a:r>
              <a:rPr lang="en-US" sz="800" b="1" dirty="0">
                <a:solidFill>
                  <a:srgbClr val="FFFFFF"/>
                </a:solidFill>
                <a:latin typeface="Calibri" pitchFamily="34" charset="0"/>
                <a:ea typeface="Calibri" pitchFamily="34" charset="-122"/>
                <a:cs typeface="Calibri" pitchFamily="34" charset="-120"/>
              </a:rPr>
              <a:t>Abdelrahman Hussien</a:t>
            </a:r>
            <a:endParaRPr lang="en-US" sz="800" dirty="0"/>
          </a:p>
        </p:txBody>
      </p:sp>
      <p:sp>
        <p:nvSpPr>
          <p:cNvPr id="19" name="Text 16"/>
          <p:cNvSpPr/>
          <p:nvPr/>
        </p:nvSpPr>
        <p:spPr>
          <a:xfrm>
            <a:off x="7040880" y="5440680"/>
            <a:ext cx="4754880" cy="457200"/>
          </a:xfrm>
          <a:prstGeom prst="rect">
            <a:avLst/>
          </a:prstGeom>
          <a:noFill/>
          <a:ln/>
        </p:spPr>
        <p:txBody>
          <a:bodyPr wrap="square" lIns="0" tIns="0" rIns="0" bIns="0" rtlCol="0" anchor="ctr"/>
          <a:lstStyle/>
          <a:p>
            <a:pPr marL="0" indent="0" algn="r">
              <a:buNone/>
            </a:pPr>
            <a:r>
              <a:rPr lang="en-US" sz="1250" i="1" dirty="0">
                <a:solidFill>
                  <a:srgbClr val="9DB2D9"/>
                </a:solidFill>
                <a:latin typeface="Calibri" pitchFamily="34" charset="0"/>
                <a:ea typeface="Calibri" pitchFamily="34" charset="-122"/>
                <a:cs typeface="Calibri" pitchFamily="34" charset="-120"/>
              </a:rPr>
              <a:t>FinTech digital payments &amp; transfers analytics platform</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16244D"/>
          </a:solidFill>
          <a:ln/>
          <a:effectLst>
            <a:outerShdw blurRad="88900" dist="25400" dir="5400000" algn="bl" rotWithShape="0">
              <a:srgbClr val="13233F">
                <a:alpha val="12000"/>
              </a:srgbClr>
            </a:outerShdw>
          </a:effectLst>
        </p:spPr>
        <p:txBody>
          <a:bodyPr/>
          <a:lstStyle/>
          <a:p>
            <a:endParaRPr lang="en-US"/>
          </a:p>
        </p:txBody>
      </p:sp>
      <p:pic>
        <p:nvPicPr>
          <p:cNvPr id="3" name="Image 0" descr="icons/overview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16244D"/>
                </a:solidFill>
                <a:latin typeface="Calibri" pitchFamily="34" charset="0"/>
                <a:ea typeface="Calibri" pitchFamily="34" charset="-122"/>
                <a:cs typeface="Calibri" pitchFamily="34" charset="-120"/>
              </a:rPr>
              <a:t>PRESENTATION ROADMAP</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Agenda</a:t>
            </a:r>
            <a:endParaRPr lang="en-US" sz="2600" dirty="0"/>
          </a:p>
        </p:txBody>
      </p:sp>
      <p:sp>
        <p:nvSpPr>
          <p:cNvPr id="6" name="Shape 3"/>
          <p:cNvSpPr/>
          <p:nvPr/>
        </p:nvSpPr>
        <p:spPr>
          <a:xfrm>
            <a:off x="502920" y="1417320"/>
            <a:ext cx="3611880" cy="1874520"/>
          </a:xfrm>
          <a:prstGeom prst="roundRect">
            <a:avLst>
              <a:gd name="adj" fmla="val 4390"/>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7" name="Shape 4"/>
          <p:cNvSpPr/>
          <p:nvPr/>
        </p:nvSpPr>
        <p:spPr>
          <a:xfrm>
            <a:off x="758952" y="1673352"/>
            <a:ext cx="676656" cy="676656"/>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8" name="Image 1" descr="icons/problem_w.png"/>
          <p:cNvPicPr>
            <a:picLocks noChangeAspect="1"/>
          </p:cNvPicPr>
          <p:nvPr/>
        </p:nvPicPr>
        <p:blipFill>
          <a:blip r:embed="rId4"/>
          <a:stretch>
            <a:fillRect/>
          </a:stretch>
        </p:blipFill>
        <p:spPr>
          <a:xfrm>
            <a:off x="950976" y="1865376"/>
            <a:ext cx="292608" cy="292608"/>
          </a:xfrm>
          <a:prstGeom prst="rect">
            <a:avLst/>
          </a:prstGeom>
        </p:spPr>
      </p:pic>
      <p:sp>
        <p:nvSpPr>
          <p:cNvPr id="9" name="Text 5"/>
          <p:cNvSpPr/>
          <p:nvPr/>
        </p:nvSpPr>
        <p:spPr>
          <a:xfrm>
            <a:off x="3154680" y="1600200"/>
            <a:ext cx="777240" cy="640080"/>
          </a:xfrm>
          <a:prstGeom prst="rect">
            <a:avLst/>
          </a:prstGeom>
          <a:noFill/>
          <a:ln/>
        </p:spPr>
        <p:txBody>
          <a:bodyPr wrap="square" lIns="0" tIns="0" rIns="0" bIns="0" rtlCol="0" anchor="ctr"/>
          <a:lstStyle/>
          <a:p>
            <a:pPr marL="0" indent="0" algn="r">
              <a:buNone/>
            </a:pPr>
            <a:r>
              <a:rPr lang="en-US" sz="3000" b="1" dirty="0">
                <a:solidFill>
                  <a:srgbClr val="F4F7FB"/>
                </a:solidFill>
                <a:latin typeface="Cambria" pitchFamily="34" charset="0"/>
                <a:ea typeface="Cambria" pitchFamily="34" charset="-122"/>
                <a:cs typeface="Cambria" pitchFamily="34" charset="-120"/>
              </a:rPr>
              <a:t>01</a:t>
            </a:r>
            <a:endParaRPr lang="en-US" sz="3000" dirty="0"/>
          </a:p>
        </p:txBody>
      </p:sp>
      <p:sp>
        <p:nvSpPr>
          <p:cNvPr id="10" name="Text 6"/>
          <p:cNvSpPr/>
          <p:nvPr/>
        </p:nvSpPr>
        <p:spPr>
          <a:xfrm>
            <a:off x="777240" y="2441448"/>
            <a:ext cx="3108960" cy="365760"/>
          </a:xfrm>
          <a:prstGeom prst="rect">
            <a:avLst/>
          </a:prstGeom>
          <a:noFill/>
          <a:ln/>
        </p:spPr>
        <p:txBody>
          <a:bodyPr wrap="square" lIns="0" tIns="0" rIns="0" bIns="0" rtlCol="0" anchor="ctr"/>
          <a:lstStyle/>
          <a:p>
            <a:pPr marL="0" indent="0">
              <a:buNone/>
            </a:pPr>
            <a:r>
              <a:rPr lang="en-US" sz="1650" b="1" dirty="0">
                <a:solidFill>
                  <a:srgbClr val="16244D"/>
                </a:solidFill>
                <a:latin typeface="Cambria" pitchFamily="34" charset="0"/>
                <a:ea typeface="Cambria" pitchFamily="34" charset="-122"/>
                <a:cs typeface="Cambria" pitchFamily="34" charset="-120"/>
              </a:rPr>
              <a:t>Problem &amp; Solution</a:t>
            </a:r>
            <a:endParaRPr lang="en-US" sz="1650" dirty="0"/>
          </a:p>
        </p:txBody>
      </p:sp>
      <p:sp>
        <p:nvSpPr>
          <p:cNvPr id="11" name="Text 7"/>
          <p:cNvSpPr/>
          <p:nvPr/>
        </p:nvSpPr>
        <p:spPr>
          <a:xfrm>
            <a:off x="777240" y="2788920"/>
            <a:ext cx="3108960" cy="411480"/>
          </a:xfrm>
          <a:prstGeom prst="rect">
            <a:avLst/>
          </a:prstGeom>
          <a:noFill/>
          <a:ln/>
        </p:spPr>
        <p:txBody>
          <a:bodyPr wrap="square" lIns="0" tIns="0" rIns="0" bIns="0" rtlCol="0" anchor="ctr"/>
          <a:lstStyle/>
          <a:p>
            <a:pPr marL="0" indent="0">
              <a:buNone/>
            </a:pPr>
            <a:r>
              <a:rPr lang="en-US" sz="1150" dirty="0">
                <a:solidFill>
                  <a:srgbClr val="5A6B82"/>
                </a:solidFill>
                <a:latin typeface="Calibri" pitchFamily="34" charset="0"/>
                <a:ea typeface="Calibri" pitchFamily="34" charset="-122"/>
                <a:cs typeface="Calibri" pitchFamily="34" charset="-120"/>
              </a:rPr>
              <a:t>Why a lakehouse — the business gap</a:t>
            </a:r>
            <a:endParaRPr lang="en-US" sz="1150" dirty="0"/>
          </a:p>
        </p:txBody>
      </p:sp>
      <p:sp>
        <p:nvSpPr>
          <p:cNvPr id="12" name="Shape 8"/>
          <p:cNvSpPr/>
          <p:nvPr/>
        </p:nvSpPr>
        <p:spPr>
          <a:xfrm>
            <a:off x="4261104" y="1417320"/>
            <a:ext cx="3611880" cy="1874520"/>
          </a:xfrm>
          <a:prstGeom prst="roundRect">
            <a:avLst>
              <a:gd name="adj" fmla="val 4390"/>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3" name="Shape 9"/>
          <p:cNvSpPr/>
          <p:nvPr/>
        </p:nvSpPr>
        <p:spPr>
          <a:xfrm>
            <a:off x="4517136" y="1673352"/>
            <a:ext cx="676656" cy="676656"/>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14" name="Image 2" descr="icons/architecture_w.png"/>
          <p:cNvPicPr>
            <a:picLocks noChangeAspect="1"/>
          </p:cNvPicPr>
          <p:nvPr/>
        </p:nvPicPr>
        <p:blipFill>
          <a:blip r:embed="rId5"/>
          <a:stretch>
            <a:fillRect/>
          </a:stretch>
        </p:blipFill>
        <p:spPr>
          <a:xfrm>
            <a:off x="4709160" y="1865376"/>
            <a:ext cx="292608" cy="292608"/>
          </a:xfrm>
          <a:prstGeom prst="rect">
            <a:avLst/>
          </a:prstGeom>
        </p:spPr>
      </p:pic>
      <p:sp>
        <p:nvSpPr>
          <p:cNvPr id="15" name="Text 10"/>
          <p:cNvSpPr/>
          <p:nvPr/>
        </p:nvSpPr>
        <p:spPr>
          <a:xfrm>
            <a:off x="6912864" y="1600200"/>
            <a:ext cx="777240" cy="640080"/>
          </a:xfrm>
          <a:prstGeom prst="rect">
            <a:avLst/>
          </a:prstGeom>
          <a:noFill/>
          <a:ln/>
        </p:spPr>
        <p:txBody>
          <a:bodyPr wrap="square" lIns="0" tIns="0" rIns="0" bIns="0" rtlCol="0" anchor="ctr"/>
          <a:lstStyle/>
          <a:p>
            <a:pPr marL="0" indent="0" algn="r">
              <a:buNone/>
            </a:pPr>
            <a:r>
              <a:rPr lang="en-US" sz="3000" b="1" dirty="0">
                <a:solidFill>
                  <a:srgbClr val="F4F7FB"/>
                </a:solidFill>
                <a:latin typeface="Cambria" pitchFamily="34" charset="0"/>
                <a:ea typeface="Cambria" pitchFamily="34" charset="-122"/>
                <a:cs typeface="Cambria" pitchFamily="34" charset="-120"/>
              </a:rPr>
              <a:t>02</a:t>
            </a:r>
            <a:endParaRPr lang="en-US" sz="3000" dirty="0"/>
          </a:p>
        </p:txBody>
      </p:sp>
      <p:sp>
        <p:nvSpPr>
          <p:cNvPr id="16" name="Text 11"/>
          <p:cNvSpPr/>
          <p:nvPr/>
        </p:nvSpPr>
        <p:spPr>
          <a:xfrm>
            <a:off x="4535424" y="2441448"/>
            <a:ext cx="3108960" cy="365760"/>
          </a:xfrm>
          <a:prstGeom prst="rect">
            <a:avLst/>
          </a:prstGeom>
          <a:noFill/>
          <a:ln/>
        </p:spPr>
        <p:txBody>
          <a:bodyPr wrap="square" lIns="0" tIns="0" rIns="0" bIns="0" rtlCol="0" anchor="ctr"/>
          <a:lstStyle/>
          <a:p>
            <a:pPr marL="0" indent="0">
              <a:buNone/>
            </a:pPr>
            <a:r>
              <a:rPr lang="en-US" sz="1650" b="1" dirty="0">
                <a:solidFill>
                  <a:srgbClr val="16244D"/>
                </a:solidFill>
                <a:latin typeface="Cambria" pitchFamily="34" charset="0"/>
                <a:ea typeface="Cambria" pitchFamily="34" charset="-122"/>
                <a:cs typeface="Cambria" pitchFamily="34" charset="-120"/>
              </a:rPr>
              <a:t>System Architecture</a:t>
            </a:r>
            <a:endParaRPr lang="en-US" sz="1650" dirty="0"/>
          </a:p>
        </p:txBody>
      </p:sp>
      <p:sp>
        <p:nvSpPr>
          <p:cNvPr id="17" name="Text 12"/>
          <p:cNvSpPr/>
          <p:nvPr/>
        </p:nvSpPr>
        <p:spPr>
          <a:xfrm>
            <a:off x="4535424" y="2788920"/>
            <a:ext cx="3108960" cy="411480"/>
          </a:xfrm>
          <a:prstGeom prst="rect">
            <a:avLst/>
          </a:prstGeom>
          <a:noFill/>
          <a:ln/>
        </p:spPr>
        <p:txBody>
          <a:bodyPr wrap="square" lIns="0" tIns="0" rIns="0" bIns="0" rtlCol="0" anchor="ctr"/>
          <a:lstStyle/>
          <a:p>
            <a:pPr marL="0" indent="0">
              <a:buNone/>
            </a:pPr>
            <a:r>
              <a:rPr lang="en-US" sz="1150" dirty="0">
                <a:solidFill>
                  <a:srgbClr val="5A6B82"/>
                </a:solidFill>
                <a:latin typeface="Calibri" pitchFamily="34" charset="0"/>
                <a:ea typeface="Calibri" pitchFamily="34" charset="-122"/>
                <a:cs typeface="Calibri" pitchFamily="34" charset="-120"/>
              </a:rPr>
              <a:t>Hybrid local design, two pipelines</a:t>
            </a:r>
            <a:endParaRPr lang="en-US" sz="1150" dirty="0"/>
          </a:p>
        </p:txBody>
      </p:sp>
      <p:sp>
        <p:nvSpPr>
          <p:cNvPr id="18" name="Shape 13"/>
          <p:cNvSpPr/>
          <p:nvPr/>
        </p:nvSpPr>
        <p:spPr>
          <a:xfrm>
            <a:off x="8037576" y="1417320"/>
            <a:ext cx="3611880" cy="1874520"/>
          </a:xfrm>
          <a:prstGeom prst="roundRect">
            <a:avLst>
              <a:gd name="adj" fmla="val 4390"/>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9" name="Shape 14"/>
          <p:cNvSpPr/>
          <p:nvPr/>
        </p:nvSpPr>
        <p:spPr>
          <a:xfrm>
            <a:off x="8293608" y="1673352"/>
            <a:ext cx="676656" cy="676656"/>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20" name="Image 3" descr="icons/datamodel_w.png"/>
          <p:cNvPicPr>
            <a:picLocks noChangeAspect="1"/>
          </p:cNvPicPr>
          <p:nvPr/>
        </p:nvPicPr>
        <p:blipFill>
          <a:blip r:embed="rId6"/>
          <a:stretch>
            <a:fillRect/>
          </a:stretch>
        </p:blipFill>
        <p:spPr>
          <a:xfrm>
            <a:off x="8485632" y="1865376"/>
            <a:ext cx="292608" cy="292608"/>
          </a:xfrm>
          <a:prstGeom prst="rect">
            <a:avLst/>
          </a:prstGeom>
        </p:spPr>
      </p:pic>
      <p:sp>
        <p:nvSpPr>
          <p:cNvPr id="21" name="Text 15"/>
          <p:cNvSpPr/>
          <p:nvPr/>
        </p:nvSpPr>
        <p:spPr>
          <a:xfrm>
            <a:off x="10689336" y="1600200"/>
            <a:ext cx="777240" cy="640080"/>
          </a:xfrm>
          <a:prstGeom prst="rect">
            <a:avLst/>
          </a:prstGeom>
          <a:noFill/>
          <a:ln/>
        </p:spPr>
        <p:txBody>
          <a:bodyPr wrap="square" lIns="0" tIns="0" rIns="0" bIns="0" rtlCol="0" anchor="ctr"/>
          <a:lstStyle/>
          <a:p>
            <a:pPr marL="0" indent="0" algn="r">
              <a:buNone/>
            </a:pPr>
            <a:r>
              <a:rPr lang="en-US" sz="3000" b="1" dirty="0">
                <a:solidFill>
                  <a:srgbClr val="F4F7FB"/>
                </a:solidFill>
                <a:latin typeface="Cambria" pitchFamily="34" charset="0"/>
                <a:ea typeface="Cambria" pitchFamily="34" charset="-122"/>
                <a:cs typeface="Cambria" pitchFamily="34" charset="-120"/>
              </a:rPr>
              <a:t>03</a:t>
            </a:r>
            <a:endParaRPr lang="en-US" sz="3000" dirty="0"/>
          </a:p>
        </p:txBody>
      </p:sp>
      <p:sp>
        <p:nvSpPr>
          <p:cNvPr id="22" name="Text 16"/>
          <p:cNvSpPr/>
          <p:nvPr/>
        </p:nvSpPr>
        <p:spPr>
          <a:xfrm>
            <a:off x="8311896" y="2441448"/>
            <a:ext cx="3108960" cy="365760"/>
          </a:xfrm>
          <a:prstGeom prst="rect">
            <a:avLst/>
          </a:prstGeom>
          <a:noFill/>
          <a:ln/>
        </p:spPr>
        <p:txBody>
          <a:bodyPr wrap="square" lIns="0" tIns="0" rIns="0" bIns="0" rtlCol="0" anchor="ctr"/>
          <a:lstStyle/>
          <a:p>
            <a:pPr marL="0" indent="0">
              <a:buNone/>
            </a:pPr>
            <a:r>
              <a:rPr lang="en-US" sz="1650" b="1" dirty="0">
                <a:solidFill>
                  <a:srgbClr val="16244D"/>
                </a:solidFill>
                <a:latin typeface="Cambria" pitchFamily="34" charset="0"/>
                <a:ea typeface="Cambria" pitchFamily="34" charset="-122"/>
                <a:cs typeface="Cambria" pitchFamily="34" charset="-120"/>
              </a:rPr>
              <a:t>Data Model</a:t>
            </a:r>
            <a:endParaRPr lang="en-US" sz="1650" dirty="0"/>
          </a:p>
        </p:txBody>
      </p:sp>
      <p:sp>
        <p:nvSpPr>
          <p:cNvPr id="23" name="Text 17"/>
          <p:cNvSpPr/>
          <p:nvPr/>
        </p:nvSpPr>
        <p:spPr>
          <a:xfrm>
            <a:off x="8311896" y="2788920"/>
            <a:ext cx="3108960" cy="411480"/>
          </a:xfrm>
          <a:prstGeom prst="rect">
            <a:avLst/>
          </a:prstGeom>
          <a:noFill/>
          <a:ln/>
        </p:spPr>
        <p:txBody>
          <a:bodyPr wrap="square" lIns="0" tIns="0" rIns="0" bIns="0" rtlCol="0" anchor="ctr"/>
          <a:lstStyle/>
          <a:p>
            <a:pPr marL="0" indent="0">
              <a:buNone/>
            </a:pPr>
            <a:r>
              <a:rPr lang="en-US" sz="1150" dirty="0">
                <a:solidFill>
                  <a:srgbClr val="5A6B82"/>
                </a:solidFill>
                <a:latin typeface="Calibri" pitchFamily="34" charset="0"/>
                <a:ea typeface="Calibri" pitchFamily="34" charset="-122"/>
                <a:cs typeface="Calibri" pitchFamily="34" charset="-120"/>
              </a:rPr>
              <a:t>Kimball star: 1 fact · 7 dimensions</a:t>
            </a:r>
            <a:endParaRPr lang="en-US" sz="1150" dirty="0"/>
          </a:p>
        </p:txBody>
      </p:sp>
      <p:sp>
        <p:nvSpPr>
          <p:cNvPr id="24" name="Shape 18"/>
          <p:cNvSpPr/>
          <p:nvPr/>
        </p:nvSpPr>
        <p:spPr>
          <a:xfrm>
            <a:off x="502920" y="3611880"/>
            <a:ext cx="3611880" cy="1874520"/>
          </a:xfrm>
          <a:prstGeom prst="roundRect">
            <a:avLst>
              <a:gd name="adj" fmla="val 4390"/>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25" name="Shape 19"/>
          <p:cNvSpPr/>
          <p:nvPr/>
        </p:nvSpPr>
        <p:spPr>
          <a:xfrm>
            <a:off x="758952" y="3867912"/>
            <a:ext cx="676656" cy="676656"/>
          </a:xfrm>
          <a:prstGeom prst="ellipse">
            <a:avLst/>
          </a:prstGeom>
          <a:solidFill>
            <a:srgbClr val="1F9E54"/>
          </a:solidFill>
          <a:ln/>
          <a:effectLst>
            <a:outerShdw blurRad="88900" dist="25400" dir="5400000" algn="bl" rotWithShape="0">
              <a:srgbClr val="13233F">
                <a:alpha val="12000"/>
              </a:srgbClr>
            </a:outerShdw>
          </a:effectLst>
        </p:spPr>
        <p:txBody>
          <a:bodyPr/>
          <a:lstStyle/>
          <a:p>
            <a:endParaRPr lang="en-US"/>
          </a:p>
        </p:txBody>
      </p:sp>
      <p:pic>
        <p:nvPicPr>
          <p:cNvPr id="26" name="Image 4" descr="icons/warehouse_w.png"/>
          <p:cNvPicPr>
            <a:picLocks noChangeAspect="1"/>
          </p:cNvPicPr>
          <p:nvPr/>
        </p:nvPicPr>
        <p:blipFill>
          <a:blip r:embed="rId7"/>
          <a:stretch>
            <a:fillRect/>
          </a:stretch>
        </p:blipFill>
        <p:spPr>
          <a:xfrm>
            <a:off x="950976" y="4059936"/>
            <a:ext cx="292608" cy="292608"/>
          </a:xfrm>
          <a:prstGeom prst="rect">
            <a:avLst/>
          </a:prstGeom>
        </p:spPr>
      </p:pic>
      <p:sp>
        <p:nvSpPr>
          <p:cNvPr id="27" name="Text 20"/>
          <p:cNvSpPr/>
          <p:nvPr/>
        </p:nvSpPr>
        <p:spPr>
          <a:xfrm>
            <a:off x="3154680" y="3794760"/>
            <a:ext cx="777240" cy="640080"/>
          </a:xfrm>
          <a:prstGeom prst="rect">
            <a:avLst/>
          </a:prstGeom>
          <a:noFill/>
          <a:ln/>
        </p:spPr>
        <p:txBody>
          <a:bodyPr wrap="square" lIns="0" tIns="0" rIns="0" bIns="0" rtlCol="0" anchor="ctr"/>
          <a:lstStyle/>
          <a:p>
            <a:pPr marL="0" indent="0" algn="r">
              <a:buNone/>
            </a:pPr>
            <a:r>
              <a:rPr lang="en-US" sz="3000" b="1" dirty="0">
                <a:solidFill>
                  <a:srgbClr val="F4F7FB"/>
                </a:solidFill>
                <a:latin typeface="Cambria" pitchFamily="34" charset="0"/>
                <a:ea typeface="Cambria" pitchFamily="34" charset="-122"/>
                <a:cs typeface="Cambria" pitchFamily="34" charset="-120"/>
              </a:rPr>
              <a:t>04</a:t>
            </a:r>
            <a:endParaRPr lang="en-US" sz="3000" dirty="0"/>
          </a:p>
        </p:txBody>
      </p:sp>
      <p:sp>
        <p:nvSpPr>
          <p:cNvPr id="28" name="Text 21"/>
          <p:cNvSpPr/>
          <p:nvPr/>
        </p:nvSpPr>
        <p:spPr>
          <a:xfrm>
            <a:off x="777240" y="4636008"/>
            <a:ext cx="3108960" cy="365760"/>
          </a:xfrm>
          <a:prstGeom prst="rect">
            <a:avLst/>
          </a:prstGeom>
          <a:noFill/>
          <a:ln/>
        </p:spPr>
        <p:txBody>
          <a:bodyPr wrap="square" lIns="0" tIns="0" rIns="0" bIns="0" rtlCol="0" anchor="ctr"/>
          <a:lstStyle/>
          <a:p>
            <a:pPr marL="0" indent="0">
              <a:buNone/>
            </a:pPr>
            <a:r>
              <a:rPr lang="en-US" sz="1650" b="1" dirty="0">
                <a:solidFill>
                  <a:srgbClr val="16244D"/>
                </a:solidFill>
                <a:latin typeface="Cambria" pitchFamily="34" charset="0"/>
                <a:ea typeface="Cambria" pitchFamily="34" charset="-122"/>
                <a:cs typeface="Cambria" pitchFamily="34" charset="-120"/>
              </a:rPr>
              <a:t>Local Solution</a:t>
            </a:r>
            <a:endParaRPr lang="en-US" sz="1650" dirty="0"/>
          </a:p>
        </p:txBody>
      </p:sp>
      <p:sp>
        <p:nvSpPr>
          <p:cNvPr id="29" name="Text 22"/>
          <p:cNvSpPr/>
          <p:nvPr/>
        </p:nvSpPr>
        <p:spPr>
          <a:xfrm>
            <a:off x="777240" y="4983480"/>
            <a:ext cx="3108960" cy="411480"/>
          </a:xfrm>
          <a:prstGeom prst="rect">
            <a:avLst/>
          </a:prstGeom>
          <a:noFill/>
          <a:ln/>
        </p:spPr>
        <p:txBody>
          <a:bodyPr wrap="square" lIns="0" tIns="0" rIns="0" bIns="0" rtlCol="0" anchor="ctr"/>
          <a:lstStyle/>
          <a:p>
            <a:pPr marL="0" indent="0">
              <a:buNone/>
            </a:pPr>
            <a:r>
              <a:rPr lang="en-US" sz="1150" dirty="0">
                <a:solidFill>
                  <a:srgbClr val="5A6B82"/>
                </a:solidFill>
                <a:latin typeface="Calibri" pitchFamily="34" charset="0"/>
                <a:ea typeface="Calibri" pitchFamily="34" charset="-122"/>
                <a:cs typeface="Calibri" pitchFamily="34" charset="-120"/>
              </a:rPr>
              <a:t>Batch + incremental into SQL Server</a:t>
            </a:r>
            <a:endParaRPr lang="en-US" sz="1150" dirty="0"/>
          </a:p>
        </p:txBody>
      </p:sp>
      <p:sp>
        <p:nvSpPr>
          <p:cNvPr id="30" name="Shape 23"/>
          <p:cNvSpPr/>
          <p:nvPr/>
        </p:nvSpPr>
        <p:spPr>
          <a:xfrm>
            <a:off x="4261104" y="3611880"/>
            <a:ext cx="3611880" cy="1874520"/>
          </a:xfrm>
          <a:prstGeom prst="roundRect">
            <a:avLst>
              <a:gd name="adj" fmla="val 4390"/>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31" name="Shape 24"/>
          <p:cNvSpPr/>
          <p:nvPr/>
        </p:nvSpPr>
        <p:spPr>
          <a:xfrm>
            <a:off x="4517136" y="3867912"/>
            <a:ext cx="676656" cy="676656"/>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32" name="Image 5" descr="icons/cloud_w.png"/>
          <p:cNvPicPr>
            <a:picLocks noChangeAspect="1"/>
          </p:cNvPicPr>
          <p:nvPr/>
        </p:nvPicPr>
        <p:blipFill>
          <a:blip r:embed="rId8"/>
          <a:stretch>
            <a:fillRect/>
          </a:stretch>
        </p:blipFill>
        <p:spPr>
          <a:xfrm>
            <a:off x="4709160" y="4059936"/>
            <a:ext cx="292608" cy="292608"/>
          </a:xfrm>
          <a:prstGeom prst="rect">
            <a:avLst/>
          </a:prstGeom>
        </p:spPr>
      </p:pic>
      <p:sp>
        <p:nvSpPr>
          <p:cNvPr id="33" name="Text 25"/>
          <p:cNvSpPr/>
          <p:nvPr/>
        </p:nvSpPr>
        <p:spPr>
          <a:xfrm>
            <a:off x="6912864" y="3794760"/>
            <a:ext cx="777240" cy="640080"/>
          </a:xfrm>
          <a:prstGeom prst="rect">
            <a:avLst/>
          </a:prstGeom>
          <a:noFill/>
          <a:ln/>
        </p:spPr>
        <p:txBody>
          <a:bodyPr wrap="square" lIns="0" tIns="0" rIns="0" bIns="0" rtlCol="0" anchor="ctr"/>
          <a:lstStyle/>
          <a:p>
            <a:pPr marL="0" indent="0" algn="r">
              <a:buNone/>
            </a:pPr>
            <a:r>
              <a:rPr lang="en-US" sz="3000" b="1" dirty="0">
                <a:solidFill>
                  <a:srgbClr val="F4F7FB"/>
                </a:solidFill>
                <a:latin typeface="Cambria" pitchFamily="34" charset="0"/>
                <a:ea typeface="Cambria" pitchFamily="34" charset="-122"/>
                <a:cs typeface="Cambria" pitchFamily="34" charset="-120"/>
              </a:rPr>
              <a:t>05</a:t>
            </a:r>
            <a:endParaRPr lang="en-US" sz="3000" dirty="0"/>
          </a:p>
        </p:txBody>
      </p:sp>
      <p:sp>
        <p:nvSpPr>
          <p:cNvPr id="34" name="Text 26"/>
          <p:cNvSpPr/>
          <p:nvPr/>
        </p:nvSpPr>
        <p:spPr>
          <a:xfrm>
            <a:off x="4535424" y="4636008"/>
            <a:ext cx="3108960" cy="365760"/>
          </a:xfrm>
          <a:prstGeom prst="rect">
            <a:avLst/>
          </a:prstGeom>
          <a:noFill/>
          <a:ln/>
        </p:spPr>
        <p:txBody>
          <a:bodyPr wrap="square" lIns="0" tIns="0" rIns="0" bIns="0" rtlCol="0" anchor="ctr"/>
          <a:lstStyle/>
          <a:p>
            <a:pPr marL="0" indent="0">
              <a:buNone/>
            </a:pPr>
            <a:r>
              <a:rPr lang="en-US" sz="1650" b="1" dirty="0">
                <a:solidFill>
                  <a:srgbClr val="16244D"/>
                </a:solidFill>
                <a:latin typeface="Cambria" pitchFamily="34" charset="0"/>
                <a:ea typeface="Cambria" pitchFamily="34" charset="-122"/>
                <a:cs typeface="Cambria" pitchFamily="34" charset="-120"/>
              </a:rPr>
              <a:t>Cloud Solution</a:t>
            </a:r>
            <a:endParaRPr lang="en-US" sz="1650" dirty="0"/>
          </a:p>
        </p:txBody>
      </p:sp>
      <p:sp>
        <p:nvSpPr>
          <p:cNvPr id="35" name="Text 27"/>
          <p:cNvSpPr/>
          <p:nvPr/>
        </p:nvSpPr>
        <p:spPr>
          <a:xfrm>
            <a:off x="4535424" y="4983480"/>
            <a:ext cx="3108960" cy="411480"/>
          </a:xfrm>
          <a:prstGeom prst="rect">
            <a:avLst/>
          </a:prstGeom>
          <a:noFill/>
          <a:ln/>
        </p:spPr>
        <p:txBody>
          <a:bodyPr wrap="square" lIns="0" tIns="0" rIns="0" bIns="0" rtlCol="0" anchor="ctr"/>
          <a:lstStyle/>
          <a:p>
            <a:pPr marL="0" indent="0">
              <a:buNone/>
            </a:pPr>
            <a:r>
              <a:rPr lang="en-US" sz="1150" dirty="0">
                <a:solidFill>
                  <a:srgbClr val="5A6B82"/>
                </a:solidFill>
                <a:latin typeface="Calibri" pitchFamily="34" charset="0"/>
                <a:ea typeface="Calibri" pitchFamily="34" charset="-122"/>
                <a:cs typeface="Calibri" pitchFamily="34" charset="-120"/>
              </a:rPr>
              <a:t>Microsoft Fabric companion build</a:t>
            </a:r>
            <a:endParaRPr lang="en-US" sz="1150" dirty="0"/>
          </a:p>
        </p:txBody>
      </p:sp>
      <p:sp>
        <p:nvSpPr>
          <p:cNvPr id="36" name="Shape 28"/>
          <p:cNvSpPr/>
          <p:nvPr/>
        </p:nvSpPr>
        <p:spPr>
          <a:xfrm>
            <a:off x="8037576" y="3611880"/>
            <a:ext cx="3611880" cy="1874520"/>
          </a:xfrm>
          <a:prstGeom prst="roundRect">
            <a:avLst>
              <a:gd name="adj" fmla="val 4390"/>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37" name="Shape 29"/>
          <p:cNvSpPr/>
          <p:nvPr/>
        </p:nvSpPr>
        <p:spPr>
          <a:xfrm>
            <a:off x="8293608" y="3867912"/>
            <a:ext cx="676656" cy="676656"/>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38" name="Image 6" descr="icons/powerbi_w.png"/>
          <p:cNvPicPr>
            <a:picLocks noChangeAspect="1"/>
          </p:cNvPicPr>
          <p:nvPr/>
        </p:nvPicPr>
        <p:blipFill>
          <a:blip r:embed="rId9"/>
          <a:stretch>
            <a:fillRect/>
          </a:stretch>
        </p:blipFill>
        <p:spPr>
          <a:xfrm>
            <a:off x="8485632" y="4059936"/>
            <a:ext cx="292608" cy="292608"/>
          </a:xfrm>
          <a:prstGeom prst="rect">
            <a:avLst/>
          </a:prstGeom>
        </p:spPr>
      </p:pic>
      <p:sp>
        <p:nvSpPr>
          <p:cNvPr id="39" name="Text 30"/>
          <p:cNvSpPr/>
          <p:nvPr/>
        </p:nvSpPr>
        <p:spPr>
          <a:xfrm>
            <a:off x="10689336" y="3794760"/>
            <a:ext cx="777240" cy="640080"/>
          </a:xfrm>
          <a:prstGeom prst="rect">
            <a:avLst/>
          </a:prstGeom>
          <a:noFill/>
          <a:ln/>
        </p:spPr>
        <p:txBody>
          <a:bodyPr wrap="square" lIns="0" tIns="0" rIns="0" bIns="0" rtlCol="0" anchor="ctr"/>
          <a:lstStyle/>
          <a:p>
            <a:pPr marL="0" indent="0" algn="r">
              <a:buNone/>
            </a:pPr>
            <a:r>
              <a:rPr lang="en-US" sz="3000" b="1" dirty="0">
                <a:solidFill>
                  <a:srgbClr val="F4F7FB"/>
                </a:solidFill>
                <a:latin typeface="Cambria" pitchFamily="34" charset="0"/>
                <a:ea typeface="Cambria" pitchFamily="34" charset="-122"/>
                <a:cs typeface="Cambria" pitchFamily="34" charset="-120"/>
              </a:rPr>
              <a:t>06</a:t>
            </a:r>
            <a:endParaRPr lang="en-US" sz="3000" dirty="0"/>
          </a:p>
        </p:txBody>
      </p:sp>
      <p:sp>
        <p:nvSpPr>
          <p:cNvPr id="40" name="Text 31"/>
          <p:cNvSpPr/>
          <p:nvPr/>
        </p:nvSpPr>
        <p:spPr>
          <a:xfrm>
            <a:off x="8311896" y="4636008"/>
            <a:ext cx="3108960" cy="365760"/>
          </a:xfrm>
          <a:prstGeom prst="rect">
            <a:avLst/>
          </a:prstGeom>
          <a:noFill/>
          <a:ln/>
        </p:spPr>
        <p:txBody>
          <a:bodyPr wrap="square" lIns="0" tIns="0" rIns="0" bIns="0" rtlCol="0" anchor="ctr"/>
          <a:lstStyle/>
          <a:p>
            <a:pPr marL="0" indent="0">
              <a:buNone/>
            </a:pPr>
            <a:r>
              <a:rPr lang="en-US" sz="1650" b="1" dirty="0">
                <a:solidFill>
                  <a:srgbClr val="16244D"/>
                </a:solidFill>
                <a:latin typeface="Cambria" pitchFamily="34" charset="0"/>
                <a:ea typeface="Cambria" pitchFamily="34" charset="-122"/>
                <a:cs typeface="Cambria" pitchFamily="34" charset="-120"/>
              </a:rPr>
              <a:t>Power BI Dashboard</a:t>
            </a:r>
            <a:endParaRPr lang="en-US" sz="1650" dirty="0"/>
          </a:p>
        </p:txBody>
      </p:sp>
      <p:sp>
        <p:nvSpPr>
          <p:cNvPr id="41" name="Text 32"/>
          <p:cNvSpPr/>
          <p:nvPr/>
        </p:nvSpPr>
        <p:spPr>
          <a:xfrm>
            <a:off x="8311896" y="4983480"/>
            <a:ext cx="3108960" cy="411480"/>
          </a:xfrm>
          <a:prstGeom prst="rect">
            <a:avLst/>
          </a:prstGeom>
          <a:noFill/>
          <a:ln/>
        </p:spPr>
        <p:txBody>
          <a:bodyPr wrap="square" lIns="0" tIns="0" rIns="0" bIns="0" rtlCol="0" anchor="ctr"/>
          <a:lstStyle/>
          <a:p>
            <a:pPr marL="0" indent="0">
              <a:buNone/>
            </a:pPr>
            <a:r>
              <a:rPr lang="en-US" sz="1150" dirty="0">
                <a:solidFill>
                  <a:srgbClr val="5A6B82"/>
                </a:solidFill>
                <a:latin typeface="Calibri" pitchFamily="34" charset="0"/>
                <a:ea typeface="Calibri" pitchFamily="34" charset="-122"/>
                <a:cs typeface="Calibri" pitchFamily="34" charset="-120"/>
              </a:rPr>
              <a:t>Volume, declines, FX, merchants</a:t>
            </a:r>
            <a:endParaRPr lang="en-US" sz="1150" dirty="0"/>
          </a:p>
        </p:txBody>
      </p:sp>
      <p:sp>
        <p:nvSpPr>
          <p:cNvPr id="42" name="Text 3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C8A24A"/>
          </a:solidFill>
          <a:ln/>
          <a:effectLst>
            <a:outerShdw blurRad="88900" dist="25400" dir="5400000" algn="bl" rotWithShape="0">
              <a:srgbClr val="13233F">
                <a:alpha val="12000"/>
              </a:srgbClr>
            </a:outerShdw>
          </a:effectLst>
        </p:spPr>
        <p:txBody>
          <a:bodyPr/>
          <a:lstStyle/>
          <a:p>
            <a:endParaRPr lang="en-US"/>
          </a:p>
        </p:txBody>
      </p:sp>
      <p:pic>
        <p:nvPicPr>
          <p:cNvPr id="3" name="Image 0" descr="icons/problem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C8A24A"/>
                </a:solidFill>
                <a:latin typeface="Calibri" pitchFamily="34" charset="0"/>
                <a:ea typeface="Calibri" pitchFamily="34" charset="-122"/>
                <a:cs typeface="Calibri" pitchFamily="34" charset="-120"/>
              </a:rPr>
              <a:t>SECTION 01 — PROBLEM &amp; SOLUTION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The Business Problem</a:t>
            </a:r>
            <a:endParaRPr lang="en-US" sz="2600" dirty="0"/>
          </a:p>
        </p:txBody>
      </p:sp>
      <p:sp>
        <p:nvSpPr>
          <p:cNvPr id="6" name="Text 3"/>
          <p:cNvSpPr/>
          <p:nvPr/>
        </p:nvSpPr>
        <p:spPr>
          <a:xfrm>
            <a:off x="502920" y="1371600"/>
            <a:ext cx="11155680" cy="640080"/>
          </a:xfrm>
          <a:prstGeom prst="rect">
            <a:avLst/>
          </a:prstGeom>
          <a:noFill/>
          <a:ln/>
        </p:spPr>
        <p:txBody>
          <a:bodyPr wrap="square" lIns="0" tIns="0" rIns="0" bIns="0" rtlCol="0" anchor="ctr"/>
          <a:lstStyle/>
          <a:p>
            <a:pPr marL="0" indent="0">
              <a:lnSpc>
                <a:spcPct val="110000"/>
              </a:lnSpc>
              <a:buNone/>
            </a:pPr>
            <a:r>
              <a:rPr lang="en-US" sz="1500" dirty="0">
                <a:solidFill>
                  <a:srgbClr val="1C2A3A"/>
                </a:solidFill>
                <a:latin typeface="Calibri" pitchFamily="34" charset="0"/>
                <a:ea typeface="Calibri" pitchFamily="34" charset="-122"/>
                <a:cs typeface="Calibri" pitchFamily="34" charset="-120"/>
              </a:rPr>
              <a:t>A fintech company processes large volumes of digital payment and transfer transactions — </a:t>
            </a:r>
            <a:r>
              <a:rPr lang="en-US" sz="1500" b="1" dirty="0">
                <a:solidFill>
                  <a:srgbClr val="16244D"/>
                </a:solidFill>
                <a:latin typeface="Calibri" pitchFamily="34" charset="0"/>
                <a:ea typeface="Calibri" pitchFamily="34" charset="-122"/>
                <a:cs typeface="Calibri" pitchFamily="34" charset="-120"/>
              </a:rPr>
              <a:t>but the raw operational data exists only as scattered CSV exports.</a:t>
            </a:r>
            <a:endParaRPr lang="en-US" sz="1500" dirty="0"/>
          </a:p>
        </p:txBody>
      </p:sp>
      <p:sp>
        <p:nvSpPr>
          <p:cNvPr id="7" name="Shape 4"/>
          <p:cNvSpPr/>
          <p:nvPr/>
        </p:nvSpPr>
        <p:spPr>
          <a:xfrm>
            <a:off x="502920" y="2286000"/>
            <a:ext cx="5486400" cy="1627632"/>
          </a:xfrm>
          <a:prstGeom prst="roundRect">
            <a:avLst>
              <a:gd name="adj" fmla="val 5056"/>
            </a:avLst>
          </a:prstGeom>
          <a:solidFill>
            <a:srgbClr val="F4F7FB"/>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8" name="Shape 5"/>
          <p:cNvSpPr/>
          <p:nvPr/>
        </p:nvSpPr>
        <p:spPr>
          <a:xfrm>
            <a:off x="777240" y="2724912"/>
            <a:ext cx="749808" cy="749808"/>
          </a:xfrm>
          <a:prstGeom prst="ellipse">
            <a:avLst/>
          </a:prstGeom>
          <a:solidFill>
            <a:srgbClr val="FFFFFF"/>
          </a:solidFill>
          <a:ln w="12700">
            <a:solidFill>
              <a:srgbClr val="D9E1EC"/>
            </a:solidFill>
            <a:prstDash val="solid"/>
          </a:ln>
        </p:spPr>
        <p:txBody>
          <a:bodyPr/>
          <a:lstStyle/>
          <a:p>
            <a:endParaRPr lang="en-US"/>
          </a:p>
        </p:txBody>
      </p:sp>
      <p:pic>
        <p:nvPicPr>
          <p:cNvPr id="9" name="Image 1" descr="icons/csv.png"/>
          <p:cNvPicPr>
            <a:picLocks noChangeAspect="1"/>
          </p:cNvPicPr>
          <p:nvPr/>
        </p:nvPicPr>
        <p:blipFill>
          <a:blip r:embed="rId4"/>
          <a:stretch>
            <a:fillRect/>
          </a:stretch>
        </p:blipFill>
        <p:spPr>
          <a:xfrm>
            <a:off x="987552" y="2935224"/>
            <a:ext cx="329184" cy="329184"/>
          </a:xfrm>
          <a:prstGeom prst="rect">
            <a:avLst/>
          </a:prstGeom>
        </p:spPr>
      </p:pic>
      <p:sp>
        <p:nvSpPr>
          <p:cNvPr id="10" name="Text 6"/>
          <p:cNvSpPr/>
          <p:nvPr/>
        </p:nvSpPr>
        <p:spPr>
          <a:xfrm>
            <a:off x="1737360" y="2578608"/>
            <a:ext cx="4023360" cy="411480"/>
          </a:xfrm>
          <a:prstGeom prst="rect">
            <a:avLst/>
          </a:prstGeom>
          <a:noFill/>
          <a:ln/>
        </p:spPr>
        <p:txBody>
          <a:bodyPr wrap="square" lIns="0" tIns="0" rIns="0" bIns="0" rtlCol="0" anchor="ctr"/>
          <a:lstStyle/>
          <a:p>
            <a:pPr marL="0" indent="0">
              <a:buNone/>
            </a:pPr>
            <a:r>
              <a:rPr lang="en-US" sz="1550" b="1" dirty="0">
                <a:solidFill>
                  <a:srgbClr val="16244D"/>
                </a:solidFill>
                <a:latin typeface="Cambria" pitchFamily="34" charset="0"/>
                <a:ea typeface="Cambria" pitchFamily="34" charset="-122"/>
                <a:cs typeface="Cambria" pitchFamily="34" charset="-120"/>
              </a:rPr>
              <a:t>Scattered CSV exports</a:t>
            </a:r>
            <a:endParaRPr lang="en-US" sz="1550" dirty="0"/>
          </a:p>
        </p:txBody>
      </p:sp>
      <p:sp>
        <p:nvSpPr>
          <p:cNvPr id="11" name="Text 7"/>
          <p:cNvSpPr/>
          <p:nvPr/>
        </p:nvSpPr>
        <p:spPr>
          <a:xfrm>
            <a:off x="1737360" y="2999232"/>
            <a:ext cx="4023360" cy="731520"/>
          </a:xfrm>
          <a:prstGeom prst="rect">
            <a:avLst/>
          </a:prstGeom>
          <a:noFill/>
          <a:ln/>
        </p:spPr>
        <p:txBody>
          <a:bodyPr wrap="square" lIns="0" tIns="0" rIns="0" bIns="0" rtlCol="0" anchor="t"/>
          <a:lstStyle/>
          <a:p>
            <a:pPr marL="0" indent="0">
              <a:buNone/>
            </a:pPr>
            <a:r>
              <a:rPr lang="en-US" sz="1200" dirty="0">
                <a:solidFill>
                  <a:srgbClr val="5A6B82"/>
                </a:solidFill>
                <a:latin typeface="Calibri" pitchFamily="34" charset="0"/>
                <a:ea typeface="Calibri" pitchFamily="34" charset="-122"/>
                <a:cs typeface="Calibri" pitchFamily="34" charset="-120"/>
              </a:rPr>
              <a:t>8 raw files, no conformed, trusted dataset to build on</a:t>
            </a:r>
            <a:endParaRPr lang="en-US" sz="1200" dirty="0"/>
          </a:p>
        </p:txBody>
      </p:sp>
      <p:sp>
        <p:nvSpPr>
          <p:cNvPr id="12" name="Shape 8"/>
          <p:cNvSpPr/>
          <p:nvPr/>
        </p:nvSpPr>
        <p:spPr>
          <a:xfrm>
            <a:off x="6263640" y="2286000"/>
            <a:ext cx="5486400" cy="1627632"/>
          </a:xfrm>
          <a:prstGeom prst="roundRect">
            <a:avLst>
              <a:gd name="adj" fmla="val 5056"/>
            </a:avLst>
          </a:prstGeom>
          <a:solidFill>
            <a:srgbClr val="F4F7FB"/>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3" name="Shape 9"/>
          <p:cNvSpPr/>
          <p:nvPr/>
        </p:nvSpPr>
        <p:spPr>
          <a:xfrm>
            <a:off x="6537960" y="2724912"/>
            <a:ext cx="749808" cy="749808"/>
          </a:xfrm>
          <a:prstGeom prst="ellipse">
            <a:avLst/>
          </a:prstGeom>
          <a:solidFill>
            <a:srgbClr val="FFFFFF"/>
          </a:solidFill>
          <a:ln w="12700">
            <a:solidFill>
              <a:srgbClr val="D9E1EC"/>
            </a:solidFill>
            <a:prstDash val="solid"/>
          </a:ln>
        </p:spPr>
        <p:txBody>
          <a:bodyPr/>
          <a:lstStyle/>
          <a:p>
            <a:endParaRPr lang="en-US"/>
          </a:p>
        </p:txBody>
      </p:sp>
      <p:pic>
        <p:nvPicPr>
          <p:cNvPr id="14" name="Image 2" descr="icons/slow.png"/>
          <p:cNvPicPr>
            <a:picLocks noChangeAspect="1"/>
          </p:cNvPicPr>
          <p:nvPr/>
        </p:nvPicPr>
        <p:blipFill>
          <a:blip r:embed="rId5"/>
          <a:stretch>
            <a:fillRect/>
          </a:stretch>
        </p:blipFill>
        <p:spPr>
          <a:xfrm>
            <a:off x="6748272" y="2935224"/>
            <a:ext cx="329184" cy="329184"/>
          </a:xfrm>
          <a:prstGeom prst="rect">
            <a:avLst/>
          </a:prstGeom>
        </p:spPr>
      </p:pic>
      <p:sp>
        <p:nvSpPr>
          <p:cNvPr id="15" name="Text 10"/>
          <p:cNvSpPr/>
          <p:nvPr/>
        </p:nvSpPr>
        <p:spPr>
          <a:xfrm>
            <a:off x="7498080" y="2578608"/>
            <a:ext cx="4023360" cy="411480"/>
          </a:xfrm>
          <a:prstGeom prst="rect">
            <a:avLst/>
          </a:prstGeom>
          <a:noFill/>
          <a:ln/>
        </p:spPr>
        <p:txBody>
          <a:bodyPr wrap="square" lIns="0" tIns="0" rIns="0" bIns="0" rtlCol="0" anchor="ctr"/>
          <a:lstStyle/>
          <a:p>
            <a:pPr marL="0" indent="0">
              <a:buNone/>
            </a:pPr>
            <a:r>
              <a:rPr lang="en-US" sz="1550" b="1" dirty="0">
                <a:solidFill>
                  <a:srgbClr val="16244D"/>
                </a:solidFill>
                <a:latin typeface="Cambria" pitchFamily="34" charset="0"/>
                <a:ea typeface="Cambria" pitchFamily="34" charset="-122"/>
                <a:cs typeface="Cambria" pitchFamily="34" charset="-120"/>
              </a:rPr>
              <a:t>Slow &amp; delayed insight</a:t>
            </a:r>
            <a:endParaRPr lang="en-US" sz="1550" dirty="0"/>
          </a:p>
        </p:txBody>
      </p:sp>
      <p:sp>
        <p:nvSpPr>
          <p:cNvPr id="16" name="Text 11"/>
          <p:cNvSpPr/>
          <p:nvPr/>
        </p:nvSpPr>
        <p:spPr>
          <a:xfrm>
            <a:off x="7498080" y="2999232"/>
            <a:ext cx="4023360" cy="731520"/>
          </a:xfrm>
          <a:prstGeom prst="rect">
            <a:avLst/>
          </a:prstGeom>
          <a:noFill/>
          <a:ln/>
        </p:spPr>
        <p:txBody>
          <a:bodyPr wrap="square" lIns="0" tIns="0" rIns="0" bIns="0" rtlCol="0" anchor="t"/>
          <a:lstStyle/>
          <a:p>
            <a:pPr marL="0" indent="0">
              <a:buNone/>
            </a:pPr>
            <a:r>
              <a:rPr lang="en-US" sz="1200" dirty="0">
                <a:solidFill>
                  <a:srgbClr val="5A6B82"/>
                </a:solidFill>
                <a:latin typeface="Calibri" pitchFamily="34" charset="0"/>
                <a:ea typeface="Calibri" pitchFamily="34" charset="-122"/>
                <a:cs typeface="Calibri" pitchFamily="34" charset="-120"/>
              </a:rPr>
              <a:t>Reporting on volume, FX and KPIs is reactive, not repeatable</a:t>
            </a:r>
            <a:endParaRPr lang="en-US" sz="1200" dirty="0"/>
          </a:p>
        </p:txBody>
      </p:sp>
      <p:sp>
        <p:nvSpPr>
          <p:cNvPr id="17" name="Shape 12"/>
          <p:cNvSpPr/>
          <p:nvPr/>
        </p:nvSpPr>
        <p:spPr>
          <a:xfrm>
            <a:off x="502920" y="4187952"/>
            <a:ext cx="5486400" cy="1627632"/>
          </a:xfrm>
          <a:prstGeom prst="roundRect">
            <a:avLst>
              <a:gd name="adj" fmla="val 5056"/>
            </a:avLst>
          </a:prstGeom>
          <a:solidFill>
            <a:srgbClr val="F4F7FB"/>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8" name="Shape 13"/>
          <p:cNvSpPr/>
          <p:nvPr/>
        </p:nvSpPr>
        <p:spPr>
          <a:xfrm>
            <a:off x="777240" y="4626864"/>
            <a:ext cx="749808" cy="749808"/>
          </a:xfrm>
          <a:prstGeom prst="ellipse">
            <a:avLst/>
          </a:prstGeom>
          <a:solidFill>
            <a:srgbClr val="FFFFFF"/>
          </a:solidFill>
          <a:ln w="12700">
            <a:solidFill>
              <a:srgbClr val="D9E1EC"/>
            </a:solidFill>
            <a:prstDash val="solid"/>
          </a:ln>
        </p:spPr>
        <p:txBody>
          <a:bodyPr/>
          <a:lstStyle/>
          <a:p>
            <a:endParaRPr lang="en-US"/>
          </a:p>
        </p:txBody>
      </p:sp>
      <p:pic>
        <p:nvPicPr>
          <p:cNvPr id="19" name="Image 3" descr="icons/manual.png"/>
          <p:cNvPicPr>
            <a:picLocks noChangeAspect="1"/>
          </p:cNvPicPr>
          <p:nvPr/>
        </p:nvPicPr>
        <p:blipFill>
          <a:blip r:embed="rId6"/>
          <a:stretch>
            <a:fillRect/>
          </a:stretch>
        </p:blipFill>
        <p:spPr>
          <a:xfrm>
            <a:off x="987552" y="4837176"/>
            <a:ext cx="329184" cy="329184"/>
          </a:xfrm>
          <a:prstGeom prst="rect">
            <a:avLst/>
          </a:prstGeom>
        </p:spPr>
      </p:pic>
      <p:sp>
        <p:nvSpPr>
          <p:cNvPr id="20" name="Text 14"/>
          <p:cNvSpPr/>
          <p:nvPr/>
        </p:nvSpPr>
        <p:spPr>
          <a:xfrm>
            <a:off x="1737360" y="4480560"/>
            <a:ext cx="4023360" cy="411480"/>
          </a:xfrm>
          <a:prstGeom prst="rect">
            <a:avLst/>
          </a:prstGeom>
          <a:noFill/>
          <a:ln/>
        </p:spPr>
        <p:txBody>
          <a:bodyPr wrap="square" lIns="0" tIns="0" rIns="0" bIns="0" rtlCol="0" anchor="ctr"/>
          <a:lstStyle/>
          <a:p>
            <a:pPr marL="0" indent="0">
              <a:buNone/>
            </a:pPr>
            <a:r>
              <a:rPr lang="en-US" sz="1550" b="1" dirty="0">
                <a:solidFill>
                  <a:srgbClr val="16244D"/>
                </a:solidFill>
                <a:latin typeface="Cambria" pitchFamily="34" charset="0"/>
                <a:ea typeface="Cambria" pitchFamily="34" charset="-122"/>
                <a:cs typeface="Cambria" pitchFamily="34" charset="-120"/>
              </a:rPr>
              <a:t>Manual &amp; error-prone</a:t>
            </a:r>
            <a:endParaRPr lang="en-US" sz="1550" dirty="0"/>
          </a:p>
        </p:txBody>
      </p:sp>
      <p:sp>
        <p:nvSpPr>
          <p:cNvPr id="21" name="Text 15"/>
          <p:cNvSpPr/>
          <p:nvPr/>
        </p:nvSpPr>
        <p:spPr>
          <a:xfrm>
            <a:off x="1737360" y="4901184"/>
            <a:ext cx="4023360" cy="731520"/>
          </a:xfrm>
          <a:prstGeom prst="rect">
            <a:avLst/>
          </a:prstGeom>
          <a:noFill/>
          <a:ln/>
        </p:spPr>
        <p:txBody>
          <a:bodyPr wrap="square" lIns="0" tIns="0" rIns="0" bIns="0" rtlCol="0" anchor="t"/>
          <a:lstStyle/>
          <a:p>
            <a:pPr marL="0" indent="0">
              <a:buNone/>
            </a:pPr>
            <a:r>
              <a:rPr lang="en-US" sz="1200" dirty="0">
                <a:solidFill>
                  <a:srgbClr val="5A6B82"/>
                </a:solidFill>
                <a:latin typeface="Calibri" pitchFamily="34" charset="0"/>
                <a:ea typeface="Calibri" pitchFamily="34" charset="-122"/>
                <a:cs typeface="Calibri" pitchFamily="34" charset="-120"/>
              </a:rPr>
              <a:t>Hand-joined spreadsheets with no referential integrity</a:t>
            </a:r>
            <a:endParaRPr lang="en-US" sz="1200" dirty="0"/>
          </a:p>
        </p:txBody>
      </p:sp>
      <p:sp>
        <p:nvSpPr>
          <p:cNvPr id="22" name="Shape 16"/>
          <p:cNvSpPr/>
          <p:nvPr/>
        </p:nvSpPr>
        <p:spPr>
          <a:xfrm>
            <a:off x="6263640" y="4187952"/>
            <a:ext cx="5486400" cy="1627632"/>
          </a:xfrm>
          <a:prstGeom prst="roundRect">
            <a:avLst>
              <a:gd name="adj" fmla="val 5056"/>
            </a:avLst>
          </a:prstGeom>
          <a:solidFill>
            <a:srgbClr val="F4F7FB"/>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23" name="Shape 17"/>
          <p:cNvSpPr/>
          <p:nvPr/>
        </p:nvSpPr>
        <p:spPr>
          <a:xfrm>
            <a:off x="6537960" y="4626864"/>
            <a:ext cx="749808" cy="749808"/>
          </a:xfrm>
          <a:prstGeom prst="ellipse">
            <a:avLst/>
          </a:prstGeom>
          <a:solidFill>
            <a:srgbClr val="FFFFFF"/>
          </a:solidFill>
          <a:ln w="12700">
            <a:solidFill>
              <a:srgbClr val="D9E1EC"/>
            </a:solidFill>
            <a:prstDash val="solid"/>
          </a:ln>
        </p:spPr>
        <p:txBody>
          <a:bodyPr/>
          <a:lstStyle/>
          <a:p>
            <a:endParaRPr lang="en-US"/>
          </a:p>
        </p:txBody>
      </p:sp>
      <p:pic>
        <p:nvPicPr>
          <p:cNvPr id="24" name="Image 4" descr="icons/error.png"/>
          <p:cNvPicPr>
            <a:picLocks noChangeAspect="1"/>
          </p:cNvPicPr>
          <p:nvPr/>
        </p:nvPicPr>
        <p:blipFill>
          <a:blip r:embed="rId7"/>
          <a:stretch>
            <a:fillRect/>
          </a:stretch>
        </p:blipFill>
        <p:spPr>
          <a:xfrm>
            <a:off x="6748272" y="4837176"/>
            <a:ext cx="329184" cy="329184"/>
          </a:xfrm>
          <a:prstGeom prst="rect">
            <a:avLst/>
          </a:prstGeom>
        </p:spPr>
      </p:pic>
      <p:sp>
        <p:nvSpPr>
          <p:cNvPr id="25" name="Text 18"/>
          <p:cNvSpPr/>
          <p:nvPr/>
        </p:nvSpPr>
        <p:spPr>
          <a:xfrm>
            <a:off x="7498080" y="4480560"/>
            <a:ext cx="4023360" cy="411480"/>
          </a:xfrm>
          <a:prstGeom prst="rect">
            <a:avLst/>
          </a:prstGeom>
          <a:noFill/>
          <a:ln/>
        </p:spPr>
        <p:txBody>
          <a:bodyPr wrap="square" lIns="0" tIns="0" rIns="0" bIns="0" rtlCol="0" anchor="ctr"/>
          <a:lstStyle/>
          <a:p>
            <a:pPr marL="0" indent="0">
              <a:buNone/>
            </a:pPr>
            <a:r>
              <a:rPr lang="en-US" sz="1550" b="1" dirty="0">
                <a:solidFill>
                  <a:srgbClr val="16244D"/>
                </a:solidFill>
                <a:latin typeface="Cambria" pitchFamily="34" charset="0"/>
                <a:ea typeface="Cambria" pitchFamily="34" charset="-122"/>
                <a:cs typeface="Cambria" pitchFamily="34" charset="-120"/>
              </a:rPr>
              <a:t>No way to absorb new data</a:t>
            </a:r>
            <a:endParaRPr lang="en-US" sz="1550" dirty="0"/>
          </a:p>
        </p:txBody>
      </p:sp>
      <p:sp>
        <p:nvSpPr>
          <p:cNvPr id="26" name="Text 19"/>
          <p:cNvSpPr/>
          <p:nvPr/>
        </p:nvSpPr>
        <p:spPr>
          <a:xfrm>
            <a:off x="7498080" y="4901184"/>
            <a:ext cx="4023360" cy="731520"/>
          </a:xfrm>
          <a:prstGeom prst="rect">
            <a:avLst/>
          </a:prstGeom>
          <a:noFill/>
          <a:ln/>
        </p:spPr>
        <p:txBody>
          <a:bodyPr wrap="square" lIns="0" tIns="0" rIns="0" bIns="0" rtlCol="0" anchor="t"/>
          <a:lstStyle/>
          <a:p>
            <a:pPr marL="0" indent="0">
              <a:buNone/>
            </a:pPr>
            <a:r>
              <a:rPr lang="en-US" sz="1200" dirty="0">
                <a:solidFill>
                  <a:srgbClr val="5A6B82"/>
                </a:solidFill>
                <a:latin typeface="Calibri" pitchFamily="34" charset="0"/>
                <a:ea typeface="Calibri" pitchFamily="34" charset="-122"/>
                <a:cs typeface="Calibri" pitchFamily="34" charset="-120"/>
              </a:rPr>
              <a:t>No repeatable path to ingest new transactions as they arrive</a:t>
            </a:r>
            <a:endParaRPr lang="en-US" sz="1200" dirty="0"/>
          </a:p>
        </p:txBody>
      </p:sp>
      <p:sp>
        <p:nvSpPr>
          <p:cNvPr id="27" name="Text 20"/>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C8A24A"/>
          </a:solidFill>
          <a:ln/>
          <a:effectLst>
            <a:outerShdw blurRad="88900" dist="25400" dir="5400000" algn="bl" rotWithShape="0">
              <a:srgbClr val="13233F">
                <a:alpha val="12000"/>
              </a:srgbClr>
            </a:outerShdw>
          </a:effectLst>
        </p:spPr>
        <p:txBody>
          <a:bodyPr/>
          <a:lstStyle/>
          <a:p>
            <a:endParaRPr lang="en-US"/>
          </a:p>
        </p:txBody>
      </p:sp>
      <p:pic>
        <p:nvPicPr>
          <p:cNvPr id="3" name="Image 0" descr="icons/solution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C8A24A"/>
                </a:solidFill>
                <a:latin typeface="Calibri" pitchFamily="34" charset="0"/>
                <a:ea typeface="Calibri" pitchFamily="34" charset="-122"/>
                <a:cs typeface="Calibri" pitchFamily="34" charset="-120"/>
              </a:rPr>
              <a:t>SECTION 01 — PROBLEM &amp; SOLUTION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My Solution: A FinTech Lakehouse</a:t>
            </a:r>
            <a:endParaRPr lang="en-US" sz="2600" dirty="0"/>
          </a:p>
        </p:txBody>
      </p:sp>
      <p:sp>
        <p:nvSpPr>
          <p:cNvPr id="6" name="Shape 3"/>
          <p:cNvSpPr/>
          <p:nvPr/>
        </p:nvSpPr>
        <p:spPr>
          <a:xfrm>
            <a:off x="502920" y="1417320"/>
            <a:ext cx="4617720" cy="4754880"/>
          </a:xfrm>
          <a:prstGeom prst="roundRect">
            <a:avLst>
              <a:gd name="adj" fmla="val 1782"/>
            </a:avLst>
          </a:prstGeom>
          <a:solidFill>
            <a:srgbClr val="F4F7FB"/>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7" name="Text 4"/>
          <p:cNvSpPr/>
          <p:nvPr/>
        </p:nvSpPr>
        <p:spPr>
          <a:xfrm>
            <a:off x="822960" y="1627632"/>
            <a:ext cx="4023360" cy="274320"/>
          </a:xfrm>
          <a:prstGeom prst="rect">
            <a:avLst/>
          </a:prstGeom>
          <a:noFill/>
          <a:ln/>
        </p:spPr>
        <p:txBody>
          <a:bodyPr wrap="square" lIns="0" tIns="0" rIns="0" bIns="0" rtlCol="0" anchor="ctr"/>
          <a:lstStyle/>
          <a:p>
            <a:pPr marL="0" indent="0">
              <a:buNone/>
            </a:pPr>
            <a:r>
              <a:rPr lang="en-US" sz="1100" b="1" kern="0" spc="100" dirty="0">
                <a:solidFill>
                  <a:srgbClr val="5A6B82"/>
                </a:solidFill>
                <a:latin typeface="Calibri" pitchFamily="34" charset="0"/>
                <a:ea typeface="Calibri" pitchFamily="34" charset="-122"/>
                <a:cs typeface="Calibri" pitchFamily="34" charset="-120"/>
              </a:rPr>
              <a:t>FROM  →  TO</a:t>
            </a:r>
            <a:endParaRPr lang="en-US" sz="1100" dirty="0"/>
          </a:p>
        </p:txBody>
      </p:sp>
      <p:sp>
        <p:nvSpPr>
          <p:cNvPr id="8" name="Shape 5"/>
          <p:cNvSpPr/>
          <p:nvPr/>
        </p:nvSpPr>
        <p:spPr>
          <a:xfrm>
            <a:off x="822960" y="1993392"/>
            <a:ext cx="3977640" cy="868680"/>
          </a:xfrm>
          <a:prstGeom prst="roundRect">
            <a:avLst>
              <a:gd name="adj" fmla="val 8421"/>
            </a:avLst>
          </a:prstGeom>
          <a:solidFill>
            <a:srgbClr val="FBEDE7"/>
          </a:solidFill>
          <a:ln w="12700">
            <a:solidFill>
              <a:srgbClr val="E8C4B5"/>
            </a:solidFill>
            <a:prstDash val="solid"/>
          </a:ln>
        </p:spPr>
        <p:txBody>
          <a:bodyPr/>
          <a:lstStyle/>
          <a:p>
            <a:endParaRPr lang="en-US"/>
          </a:p>
        </p:txBody>
      </p:sp>
      <p:pic>
        <p:nvPicPr>
          <p:cNvPr id="9" name="Image 1" descr="icons/csv.png"/>
          <p:cNvPicPr>
            <a:picLocks noChangeAspect="1"/>
          </p:cNvPicPr>
          <p:nvPr/>
        </p:nvPicPr>
        <p:blipFill>
          <a:blip r:embed="rId4"/>
          <a:stretch>
            <a:fillRect/>
          </a:stretch>
        </p:blipFill>
        <p:spPr>
          <a:xfrm>
            <a:off x="1033272" y="2240280"/>
            <a:ext cx="365760" cy="365760"/>
          </a:xfrm>
          <a:prstGeom prst="rect">
            <a:avLst/>
          </a:prstGeom>
        </p:spPr>
      </p:pic>
      <p:sp>
        <p:nvSpPr>
          <p:cNvPr id="10" name="Text 6"/>
          <p:cNvSpPr/>
          <p:nvPr/>
        </p:nvSpPr>
        <p:spPr>
          <a:xfrm>
            <a:off x="1554480" y="2029968"/>
            <a:ext cx="3108960" cy="822960"/>
          </a:xfrm>
          <a:prstGeom prst="rect">
            <a:avLst/>
          </a:prstGeom>
          <a:noFill/>
          <a:ln/>
        </p:spPr>
        <p:txBody>
          <a:bodyPr wrap="square" lIns="0" tIns="0" rIns="0" bIns="0" rtlCol="0" anchor="ctr"/>
          <a:lstStyle/>
          <a:p>
            <a:pPr marL="0" indent="0">
              <a:buNone/>
            </a:pPr>
            <a:r>
              <a:rPr lang="en-US" sz="1300" b="1" dirty="0">
                <a:solidFill>
                  <a:srgbClr val="9C4A2E"/>
                </a:solidFill>
                <a:latin typeface="Calibri" pitchFamily="34" charset="0"/>
                <a:ea typeface="Calibri" pitchFamily="34" charset="-122"/>
                <a:cs typeface="Calibri" pitchFamily="34" charset="-120"/>
              </a:rPr>
              <a:t>Scattered CSV exports
</a:t>
            </a:r>
            <a:r>
              <a:rPr lang="en-US" sz="1050" dirty="0">
                <a:solidFill>
                  <a:srgbClr val="B5715A"/>
                </a:solidFill>
                <a:latin typeface="Calibri" pitchFamily="34" charset="0"/>
                <a:ea typeface="Calibri" pitchFamily="34" charset="-122"/>
                <a:cs typeface="Calibri" pitchFamily="34" charset="-120"/>
              </a:rPr>
              <a:t>no trust · no integrity · no refresh</a:t>
            </a:r>
            <a:endParaRPr lang="en-US" sz="1300" dirty="0"/>
          </a:p>
        </p:txBody>
      </p:sp>
      <p:pic>
        <p:nvPicPr>
          <p:cNvPr id="11" name="Image 2" descr="icons/arrow.png"/>
          <p:cNvPicPr>
            <a:picLocks noChangeAspect="1"/>
          </p:cNvPicPr>
          <p:nvPr/>
        </p:nvPicPr>
        <p:blipFill>
          <a:blip r:embed="rId5"/>
          <a:stretch>
            <a:fillRect/>
          </a:stretch>
        </p:blipFill>
        <p:spPr>
          <a:xfrm rot="5400000">
            <a:off x="2514600" y="2971800"/>
            <a:ext cx="411480" cy="411480"/>
          </a:xfrm>
          <a:prstGeom prst="rect">
            <a:avLst/>
          </a:prstGeom>
        </p:spPr>
      </p:pic>
      <p:sp>
        <p:nvSpPr>
          <p:cNvPr id="12" name="Shape 7"/>
          <p:cNvSpPr/>
          <p:nvPr/>
        </p:nvSpPr>
        <p:spPr>
          <a:xfrm>
            <a:off x="822960" y="3520440"/>
            <a:ext cx="3977640" cy="2331720"/>
          </a:xfrm>
          <a:prstGeom prst="roundRect">
            <a:avLst>
              <a:gd name="adj" fmla="val 3137"/>
            </a:avLst>
          </a:prstGeom>
          <a:solidFill>
            <a:srgbClr val="EAF6EF"/>
          </a:solidFill>
          <a:ln w="12700">
            <a:solidFill>
              <a:srgbClr val="BFE3CC"/>
            </a:solidFill>
            <a:prstDash val="solid"/>
          </a:ln>
        </p:spPr>
        <p:txBody>
          <a:bodyPr/>
          <a:lstStyle/>
          <a:p>
            <a:endParaRPr lang="en-US"/>
          </a:p>
        </p:txBody>
      </p:sp>
      <p:pic>
        <p:nvPicPr>
          <p:cNvPr id="13" name="Image 3" descr="icons/check.png"/>
          <p:cNvPicPr>
            <a:picLocks noChangeAspect="1"/>
          </p:cNvPicPr>
          <p:nvPr/>
        </p:nvPicPr>
        <p:blipFill>
          <a:blip r:embed="rId6"/>
          <a:stretch>
            <a:fillRect/>
          </a:stretch>
        </p:blipFill>
        <p:spPr>
          <a:xfrm>
            <a:off x="1033272" y="3730752"/>
            <a:ext cx="365760" cy="365760"/>
          </a:xfrm>
          <a:prstGeom prst="rect">
            <a:avLst/>
          </a:prstGeom>
        </p:spPr>
      </p:pic>
      <p:sp>
        <p:nvSpPr>
          <p:cNvPr id="14" name="Text 8"/>
          <p:cNvSpPr/>
          <p:nvPr/>
        </p:nvSpPr>
        <p:spPr>
          <a:xfrm>
            <a:off x="1554480" y="3712464"/>
            <a:ext cx="3108960" cy="365760"/>
          </a:xfrm>
          <a:prstGeom prst="rect">
            <a:avLst/>
          </a:prstGeom>
          <a:noFill/>
          <a:ln/>
        </p:spPr>
        <p:txBody>
          <a:bodyPr wrap="square" lIns="0" tIns="0" rIns="0" bIns="0" rtlCol="0" anchor="ctr"/>
          <a:lstStyle/>
          <a:p>
            <a:pPr marL="0" indent="0">
              <a:buNone/>
            </a:pPr>
            <a:r>
              <a:rPr lang="en-US" sz="1450" b="1" dirty="0">
                <a:solidFill>
                  <a:srgbClr val="0E5B33"/>
                </a:solidFill>
                <a:latin typeface="Cambria" pitchFamily="34" charset="0"/>
                <a:ea typeface="Cambria" pitchFamily="34" charset="-122"/>
                <a:cs typeface="Cambria" pitchFamily="34" charset="-120"/>
              </a:rPr>
              <a:t>Trusted FinTech Lakehouse</a:t>
            </a:r>
            <a:endParaRPr lang="en-US" sz="1450" dirty="0"/>
          </a:p>
        </p:txBody>
      </p:sp>
      <p:sp>
        <p:nvSpPr>
          <p:cNvPr id="15" name="Text 9"/>
          <p:cNvSpPr/>
          <p:nvPr/>
        </p:nvSpPr>
        <p:spPr>
          <a:xfrm>
            <a:off x="1069848" y="4160520"/>
            <a:ext cx="3611880" cy="164592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1B5E3A"/>
                </a:solidFill>
                <a:latin typeface="Calibri" pitchFamily="34" charset="0"/>
                <a:ea typeface="Calibri" pitchFamily="34" charset="-122"/>
                <a:cs typeface="Calibri" pitchFamily="34" charset="-120"/>
              </a:rPr>
              <a:t>Conformed SQL Server star schema</a:t>
            </a:r>
            <a:endParaRPr lang="en-US" sz="1200" dirty="0"/>
          </a:p>
          <a:p>
            <a:pPr marL="342900" indent="-342900">
              <a:spcAft>
                <a:spcPts val="700"/>
              </a:spcAft>
              <a:buSzPct val="100000"/>
              <a:buChar char="•"/>
            </a:pPr>
            <a:r>
              <a:rPr lang="en-US" sz="1200" dirty="0">
                <a:solidFill>
                  <a:srgbClr val="1B5E3A"/>
                </a:solidFill>
                <a:latin typeface="Calibri" pitchFamily="34" charset="0"/>
                <a:ea typeface="Calibri" pitchFamily="34" charset="-122"/>
                <a:cs typeface="Calibri" pitchFamily="34" charset="-120"/>
              </a:rPr>
              <a:t>Validated by dbt · consumed by Power BI</a:t>
            </a:r>
            <a:endParaRPr lang="en-US" sz="1200" dirty="0"/>
          </a:p>
          <a:p>
            <a:pPr marL="342900" indent="-342900">
              <a:spcAft>
                <a:spcPts val="700"/>
              </a:spcAft>
              <a:buSzPct val="100000"/>
              <a:buChar char="•"/>
            </a:pPr>
            <a:r>
              <a:rPr lang="en-US" sz="1200" dirty="0">
                <a:solidFill>
                  <a:srgbClr val="1B5E3A"/>
                </a:solidFill>
                <a:latin typeface="Calibri" pitchFamily="34" charset="0"/>
                <a:ea typeface="Calibri" pitchFamily="34" charset="-122"/>
                <a:cs typeface="Calibri" pitchFamily="34" charset="-120"/>
              </a:rPr>
              <a:t>Refreshed by an event-driven stream</a:t>
            </a:r>
            <a:endParaRPr lang="en-US" sz="1200" dirty="0"/>
          </a:p>
        </p:txBody>
      </p:sp>
      <p:sp>
        <p:nvSpPr>
          <p:cNvPr id="16" name="Shape 10"/>
          <p:cNvSpPr/>
          <p:nvPr/>
        </p:nvSpPr>
        <p:spPr>
          <a:xfrm>
            <a:off x="5486400" y="1417320"/>
            <a:ext cx="6199632" cy="4754880"/>
          </a:xfrm>
          <a:prstGeom prst="roundRect">
            <a:avLst>
              <a:gd name="adj" fmla="val 1731"/>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7" name="Text 11"/>
          <p:cNvSpPr/>
          <p:nvPr/>
        </p:nvSpPr>
        <p:spPr>
          <a:xfrm>
            <a:off x="5806440" y="1627632"/>
            <a:ext cx="5577840" cy="365760"/>
          </a:xfrm>
          <a:prstGeom prst="rect">
            <a:avLst/>
          </a:prstGeom>
          <a:noFill/>
          <a:ln/>
        </p:spPr>
        <p:txBody>
          <a:bodyPr wrap="square" lIns="0" tIns="0" rIns="0" bIns="0" rtlCol="0" anchor="ctr"/>
          <a:lstStyle/>
          <a:p>
            <a:pPr marL="0" indent="0">
              <a:buNone/>
            </a:pPr>
            <a:r>
              <a:rPr lang="en-US" sz="1550" b="1" dirty="0">
                <a:solidFill>
                  <a:srgbClr val="16244D"/>
                </a:solidFill>
                <a:latin typeface="Cambria" pitchFamily="34" charset="0"/>
                <a:ea typeface="Cambria" pitchFamily="34" charset="-122"/>
                <a:cs typeface="Cambria" pitchFamily="34" charset="-120"/>
              </a:rPr>
              <a:t>What the platform supports</a:t>
            </a:r>
            <a:endParaRPr lang="en-US" sz="1550" dirty="0"/>
          </a:p>
        </p:txBody>
      </p:sp>
      <p:sp>
        <p:nvSpPr>
          <p:cNvPr id="18" name="Shape 12"/>
          <p:cNvSpPr/>
          <p:nvPr/>
        </p:nvSpPr>
        <p:spPr>
          <a:xfrm>
            <a:off x="5852160" y="2121408"/>
            <a:ext cx="457200" cy="457200"/>
          </a:xfrm>
          <a:prstGeom prst="ellipse">
            <a:avLst/>
          </a:prstGeom>
          <a:solidFill>
            <a:srgbClr val="16244D"/>
          </a:solidFill>
          <a:ln/>
        </p:spPr>
        <p:txBody>
          <a:bodyPr/>
          <a:lstStyle/>
          <a:p>
            <a:endParaRPr lang="en-US"/>
          </a:p>
        </p:txBody>
      </p:sp>
      <p:pic>
        <p:nvPicPr>
          <p:cNvPr id="19" name="Image 4" descr="icons/batch_w.png"/>
          <p:cNvPicPr>
            <a:picLocks noChangeAspect="1"/>
          </p:cNvPicPr>
          <p:nvPr/>
        </p:nvPicPr>
        <p:blipFill>
          <a:blip r:embed="rId7"/>
          <a:stretch>
            <a:fillRect/>
          </a:stretch>
        </p:blipFill>
        <p:spPr>
          <a:xfrm>
            <a:off x="5975604" y="2244852"/>
            <a:ext cx="210312" cy="210312"/>
          </a:xfrm>
          <a:prstGeom prst="rect">
            <a:avLst/>
          </a:prstGeom>
        </p:spPr>
      </p:pic>
      <p:sp>
        <p:nvSpPr>
          <p:cNvPr id="20" name="Text 13"/>
          <p:cNvSpPr/>
          <p:nvPr/>
        </p:nvSpPr>
        <p:spPr>
          <a:xfrm>
            <a:off x="6446520" y="2084832"/>
            <a:ext cx="5074920" cy="54864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Historical batch loading   </a:t>
            </a:r>
            <a:r>
              <a:rPr lang="en-US" sz="1100" dirty="0">
                <a:solidFill>
                  <a:srgbClr val="5A6B82"/>
                </a:solidFill>
                <a:latin typeface="Calibri" pitchFamily="34" charset="0"/>
                <a:ea typeface="Calibri" pitchFamily="34" charset="-122"/>
                <a:cs typeface="Calibri" pitchFamily="34" charset="-120"/>
              </a:rPr>
              <a:t>Full ~1.3M-row initial load of the warehouse</a:t>
            </a:r>
            <a:endParaRPr lang="en-US" sz="1250" dirty="0"/>
          </a:p>
        </p:txBody>
      </p:sp>
      <p:sp>
        <p:nvSpPr>
          <p:cNvPr id="21" name="Shape 14"/>
          <p:cNvSpPr/>
          <p:nvPr/>
        </p:nvSpPr>
        <p:spPr>
          <a:xfrm>
            <a:off x="5852160" y="2779776"/>
            <a:ext cx="457200" cy="457200"/>
          </a:xfrm>
          <a:prstGeom prst="ellipse">
            <a:avLst/>
          </a:prstGeom>
          <a:solidFill>
            <a:srgbClr val="1F9E54"/>
          </a:solidFill>
          <a:ln/>
        </p:spPr>
        <p:txBody>
          <a:bodyPr/>
          <a:lstStyle/>
          <a:p>
            <a:endParaRPr lang="en-US"/>
          </a:p>
        </p:txBody>
      </p:sp>
      <p:pic>
        <p:nvPicPr>
          <p:cNvPr id="22" name="Image 5" descr="icons/bolt_w.png"/>
          <p:cNvPicPr>
            <a:picLocks noChangeAspect="1"/>
          </p:cNvPicPr>
          <p:nvPr/>
        </p:nvPicPr>
        <p:blipFill>
          <a:blip r:embed="rId8"/>
          <a:stretch>
            <a:fillRect/>
          </a:stretch>
        </p:blipFill>
        <p:spPr>
          <a:xfrm>
            <a:off x="5975604" y="2903220"/>
            <a:ext cx="210312" cy="210312"/>
          </a:xfrm>
          <a:prstGeom prst="rect">
            <a:avLst/>
          </a:prstGeom>
        </p:spPr>
      </p:pic>
      <p:sp>
        <p:nvSpPr>
          <p:cNvPr id="23" name="Text 15"/>
          <p:cNvSpPr/>
          <p:nvPr/>
        </p:nvSpPr>
        <p:spPr>
          <a:xfrm>
            <a:off x="6446520" y="2743200"/>
            <a:ext cx="5074920" cy="54864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Incremental event ingestion   </a:t>
            </a:r>
            <a:r>
              <a:rPr lang="en-US" sz="1100" dirty="0">
                <a:solidFill>
                  <a:srgbClr val="5A6B82"/>
                </a:solidFill>
                <a:latin typeface="Calibri" pitchFamily="34" charset="0"/>
                <a:ea typeface="Calibri" pitchFamily="34" charset="-122"/>
                <a:cs typeface="Calibri" pitchFamily="34" charset="-120"/>
              </a:rPr>
              <a:t>New transactions stream in via Kafka</a:t>
            </a:r>
            <a:endParaRPr lang="en-US" sz="1250" dirty="0"/>
          </a:p>
        </p:txBody>
      </p:sp>
      <p:sp>
        <p:nvSpPr>
          <p:cNvPr id="24" name="Shape 16"/>
          <p:cNvSpPr/>
          <p:nvPr/>
        </p:nvSpPr>
        <p:spPr>
          <a:xfrm>
            <a:off x="5852160" y="3438144"/>
            <a:ext cx="457200" cy="457200"/>
          </a:xfrm>
          <a:prstGeom prst="ellipse">
            <a:avLst/>
          </a:prstGeom>
          <a:solidFill>
            <a:srgbClr val="0E7C86"/>
          </a:solidFill>
          <a:ln/>
        </p:spPr>
        <p:txBody>
          <a:bodyPr/>
          <a:lstStyle/>
          <a:p>
            <a:endParaRPr lang="en-US"/>
          </a:p>
        </p:txBody>
      </p:sp>
      <p:pic>
        <p:nvPicPr>
          <p:cNvPr id="25" name="Image 6" descr="icons/warehouse_w.png"/>
          <p:cNvPicPr>
            <a:picLocks noChangeAspect="1"/>
          </p:cNvPicPr>
          <p:nvPr/>
        </p:nvPicPr>
        <p:blipFill>
          <a:blip r:embed="rId9"/>
          <a:stretch>
            <a:fillRect/>
          </a:stretch>
        </p:blipFill>
        <p:spPr>
          <a:xfrm>
            <a:off x="5975604" y="3561588"/>
            <a:ext cx="210312" cy="210312"/>
          </a:xfrm>
          <a:prstGeom prst="rect">
            <a:avLst/>
          </a:prstGeom>
        </p:spPr>
      </p:pic>
      <p:sp>
        <p:nvSpPr>
          <p:cNvPr id="26" name="Text 17"/>
          <p:cNvSpPr/>
          <p:nvPr/>
        </p:nvSpPr>
        <p:spPr>
          <a:xfrm>
            <a:off x="6446520" y="3401568"/>
            <a:ext cx="5074920" cy="54864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Trusted SQL Server warehouse   </a:t>
            </a:r>
            <a:r>
              <a:rPr lang="en-US" sz="1100" dirty="0">
                <a:solidFill>
                  <a:srgbClr val="5A6B82"/>
                </a:solidFill>
                <a:latin typeface="Calibri" pitchFamily="34" charset="0"/>
                <a:ea typeface="Calibri" pitchFamily="34" charset="-122"/>
                <a:cs typeface="Calibri" pitchFamily="34" charset="-120"/>
              </a:rPr>
              <a:t>Kimball star, FK-enforced, idempotent</a:t>
            </a:r>
            <a:endParaRPr lang="en-US" sz="1250" dirty="0"/>
          </a:p>
        </p:txBody>
      </p:sp>
      <p:sp>
        <p:nvSpPr>
          <p:cNvPr id="27" name="Shape 18"/>
          <p:cNvSpPr/>
          <p:nvPr/>
        </p:nvSpPr>
        <p:spPr>
          <a:xfrm>
            <a:off x="5852160" y="4096512"/>
            <a:ext cx="457200" cy="457200"/>
          </a:xfrm>
          <a:prstGeom prst="ellipse">
            <a:avLst/>
          </a:prstGeom>
          <a:solidFill>
            <a:srgbClr val="0E7C86"/>
          </a:solidFill>
          <a:ln/>
        </p:spPr>
        <p:txBody>
          <a:bodyPr/>
          <a:lstStyle/>
          <a:p>
            <a:endParaRPr lang="en-US"/>
          </a:p>
        </p:txBody>
      </p:sp>
      <p:pic>
        <p:nvPicPr>
          <p:cNvPr id="28" name="Image 7" descr="icons/validate_w.png"/>
          <p:cNvPicPr>
            <a:picLocks noChangeAspect="1"/>
          </p:cNvPicPr>
          <p:nvPr/>
        </p:nvPicPr>
        <p:blipFill>
          <a:blip r:embed="rId10"/>
          <a:stretch>
            <a:fillRect/>
          </a:stretch>
        </p:blipFill>
        <p:spPr>
          <a:xfrm>
            <a:off x="5975604" y="4219956"/>
            <a:ext cx="210312" cy="210312"/>
          </a:xfrm>
          <a:prstGeom prst="rect">
            <a:avLst/>
          </a:prstGeom>
        </p:spPr>
      </p:pic>
      <p:sp>
        <p:nvSpPr>
          <p:cNvPr id="29" name="Text 19"/>
          <p:cNvSpPr/>
          <p:nvPr/>
        </p:nvSpPr>
        <p:spPr>
          <a:xfrm>
            <a:off x="6446520" y="4059936"/>
            <a:ext cx="5074920" cy="54864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dbt validation &amp; reporting   </a:t>
            </a:r>
            <a:r>
              <a:rPr lang="en-US" sz="1100" dirty="0">
                <a:solidFill>
                  <a:srgbClr val="5A6B82"/>
                </a:solidFill>
                <a:latin typeface="Calibri" pitchFamily="34" charset="0"/>
                <a:ea typeface="Calibri" pitchFamily="34" charset="-122"/>
                <a:cs typeface="Calibri" pitchFamily="34" charset="-120"/>
              </a:rPr>
              <a:t>47 checks gate every load; reporting views</a:t>
            </a:r>
            <a:endParaRPr lang="en-US" sz="1250" dirty="0"/>
          </a:p>
        </p:txBody>
      </p:sp>
      <p:sp>
        <p:nvSpPr>
          <p:cNvPr id="30" name="Shape 20"/>
          <p:cNvSpPr/>
          <p:nvPr/>
        </p:nvSpPr>
        <p:spPr>
          <a:xfrm>
            <a:off x="5852160" y="4754880"/>
            <a:ext cx="457200" cy="457200"/>
          </a:xfrm>
          <a:prstGeom prst="ellipse">
            <a:avLst/>
          </a:prstGeom>
          <a:solidFill>
            <a:srgbClr val="0E7C86"/>
          </a:solidFill>
          <a:ln/>
        </p:spPr>
        <p:txBody>
          <a:bodyPr/>
          <a:lstStyle/>
          <a:p>
            <a:endParaRPr lang="en-US"/>
          </a:p>
        </p:txBody>
      </p:sp>
      <p:pic>
        <p:nvPicPr>
          <p:cNvPr id="31" name="Image 8" descr="icons/powerbi_w.png"/>
          <p:cNvPicPr>
            <a:picLocks noChangeAspect="1"/>
          </p:cNvPicPr>
          <p:nvPr/>
        </p:nvPicPr>
        <p:blipFill>
          <a:blip r:embed="rId11"/>
          <a:stretch>
            <a:fillRect/>
          </a:stretch>
        </p:blipFill>
        <p:spPr>
          <a:xfrm>
            <a:off x="5975604" y="4878324"/>
            <a:ext cx="210312" cy="210312"/>
          </a:xfrm>
          <a:prstGeom prst="rect">
            <a:avLst/>
          </a:prstGeom>
        </p:spPr>
      </p:pic>
      <p:sp>
        <p:nvSpPr>
          <p:cNvPr id="32" name="Text 21"/>
          <p:cNvSpPr/>
          <p:nvPr/>
        </p:nvSpPr>
        <p:spPr>
          <a:xfrm>
            <a:off x="6446520" y="4718304"/>
            <a:ext cx="5074920" cy="54864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Power BI Desktop reporting   </a:t>
            </a:r>
            <a:r>
              <a:rPr lang="en-US" sz="1100" dirty="0">
                <a:solidFill>
                  <a:srgbClr val="5A6B82"/>
                </a:solidFill>
                <a:latin typeface="Calibri" pitchFamily="34" charset="0"/>
                <a:ea typeface="Calibri" pitchFamily="34" charset="-122"/>
                <a:cs typeface="Calibri" pitchFamily="34" charset="-120"/>
              </a:rPr>
              <a:t>KPI dashboards on the conformed model</a:t>
            </a:r>
            <a:endParaRPr lang="en-US" sz="1250" dirty="0"/>
          </a:p>
        </p:txBody>
      </p:sp>
      <p:sp>
        <p:nvSpPr>
          <p:cNvPr id="33" name="Shape 22"/>
          <p:cNvSpPr/>
          <p:nvPr/>
        </p:nvSpPr>
        <p:spPr>
          <a:xfrm>
            <a:off x="5852160" y="5413248"/>
            <a:ext cx="457200" cy="457200"/>
          </a:xfrm>
          <a:prstGeom prst="ellipse">
            <a:avLst/>
          </a:prstGeom>
          <a:solidFill>
            <a:srgbClr val="0E7C86"/>
          </a:solidFill>
          <a:ln/>
        </p:spPr>
        <p:txBody>
          <a:bodyPr/>
          <a:lstStyle/>
          <a:p>
            <a:endParaRPr lang="en-US"/>
          </a:p>
        </p:txBody>
      </p:sp>
      <p:pic>
        <p:nvPicPr>
          <p:cNvPr id="34" name="Image 9" descr="icons/cloud_w.png"/>
          <p:cNvPicPr>
            <a:picLocks noChangeAspect="1"/>
          </p:cNvPicPr>
          <p:nvPr/>
        </p:nvPicPr>
        <p:blipFill>
          <a:blip r:embed="rId12"/>
          <a:stretch>
            <a:fillRect/>
          </a:stretch>
        </p:blipFill>
        <p:spPr>
          <a:xfrm>
            <a:off x="5975604" y="5536692"/>
            <a:ext cx="210312" cy="210312"/>
          </a:xfrm>
          <a:prstGeom prst="rect">
            <a:avLst/>
          </a:prstGeom>
        </p:spPr>
      </p:pic>
      <p:sp>
        <p:nvSpPr>
          <p:cNvPr id="35" name="Text 23"/>
          <p:cNvSpPr/>
          <p:nvPr/>
        </p:nvSpPr>
        <p:spPr>
          <a:xfrm>
            <a:off x="6446520" y="5376672"/>
            <a:ext cx="5074920" cy="54864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Microsoft Fabric companion   </a:t>
            </a:r>
            <a:r>
              <a:rPr lang="en-US" sz="1100" dirty="0">
                <a:solidFill>
                  <a:srgbClr val="5A6B82"/>
                </a:solidFill>
                <a:latin typeface="Calibri" pitchFamily="34" charset="0"/>
                <a:ea typeface="Calibri" pitchFamily="34" charset="-122"/>
                <a:cs typeface="Calibri" pitchFamily="34" charset="-120"/>
              </a:rPr>
              <a:t>Same pattern re-expressed in the cloud</a:t>
            </a:r>
            <a:endParaRPr lang="en-US" sz="1250" dirty="0"/>
          </a:p>
        </p:txBody>
      </p:sp>
      <p:sp>
        <p:nvSpPr>
          <p:cNvPr id="36" name="Text 2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3" name="Image 0" descr="icons/architecture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SECTION 02 — SYSTEM ARCHITECTURE</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Hybrid Local Architecture</a:t>
            </a:r>
            <a:endParaRPr lang="en-US" sz="2600" dirty="0"/>
          </a:p>
        </p:txBody>
      </p:sp>
      <p:sp>
        <p:nvSpPr>
          <p:cNvPr id="6" name="Shape 3"/>
          <p:cNvSpPr/>
          <p:nvPr/>
        </p:nvSpPr>
        <p:spPr>
          <a:xfrm>
            <a:off x="502920" y="1078992"/>
            <a:ext cx="2194560" cy="292608"/>
          </a:xfrm>
          <a:prstGeom prst="roundRect">
            <a:avLst>
              <a:gd name="adj" fmla="val 50000"/>
            </a:avLst>
          </a:prstGeom>
          <a:solidFill>
            <a:srgbClr val="EAF6EF"/>
          </a:solidFill>
          <a:ln/>
        </p:spPr>
        <p:txBody>
          <a:bodyPr/>
          <a:lstStyle/>
          <a:p>
            <a:endParaRPr lang="en-US"/>
          </a:p>
        </p:txBody>
      </p:sp>
      <p:pic>
        <p:nvPicPr>
          <p:cNvPr id="7" name="Image 1" descr="icons/check.png"/>
          <p:cNvPicPr>
            <a:picLocks noChangeAspect="1"/>
          </p:cNvPicPr>
          <p:nvPr/>
        </p:nvPicPr>
        <p:blipFill>
          <a:blip r:embed="rId4"/>
          <a:stretch>
            <a:fillRect/>
          </a:stretch>
        </p:blipFill>
        <p:spPr>
          <a:xfrm>
            <a:off x="612648" y="1147572"/>
            <a:ext cx="155448" cy="155448"/>
          </a:xfrm>
          <a:prstGeom prst="rect">
            <a:avLst/>
          </a:prstGeom>
        </p:spPr>
      </p:pic>
      <p:sp>
        <p:nvSpPr>
          <p:cNvPr id="8" name="Text 4"/>
          <p:cNvSpPr/>
          <p:nvPr/>
        </p:nvSpPr>
        <p:spPr>
          <a:xfrm>
            <a:off x="804672" y="1078992"/>
            <a:ext cx="1865376" cy="292608"/>
          </a:xfrm>
          <a:prstGeom prst="rect">
            <a:avLst/>
          </a:prstGeom>
          <a:noFill/>
          <a:ln/>
        </p:spPr>
        <p:txBody>
          <a:bodyPr wrap="square" lIns="0" tIns="0" rIns="0" bIns="0" rtlCol="0" anchor="ctr"/>
          <a:lstStyle/>
          <a:p>
            <a:pPr marL="0" indent="0">
              <a:buNone/>
            </a:pPr>
            <a:r>
              <a:rPr lang="en-US" sz="950" b="1" dirty="0">
                <a:solidFill>
                  <a:srgbClr val="1F9E54"/>
                </a:solidFill>
                <a:latin typeface="Calibri" pitchFamily="34" charset="0"/>
                <a:ea typeface="Calibri" pitchFamily="34" charset="-122"/>
                <a:cs typeface="Calibri" pitchFamily="34" charset="-120"/>
              </a:rPr>
              <a:t>IMPLEMENTED · LOCAL</a:t>
            </a:r>
            <a:endParaRPr lang="en-US" sz="950" dirty="0"/>
          </a:p>
        </p:txBody>
      </p:sp>
      <p:sp>
        <p:nvSpPr>
          <p:cNvPr id="9" name="Text 5"/>
          <p:cNvSpPr/>
          <p:nvPr/>
        </p:nvSpPr>
        <p:spPr>
          <a:xfrm>
            <a:off x="2926080" y="1078992"/>
            <a:ext cx="7498080" cy="292608"/>
          </a:xfrm>
          <a:prstGeom prst="rect">
            <a:avLst/>
          </a:prstGeom>
          <a:noFill/>
          <a:ln/>
        </p:spPr>
        <p:txBody>
          <a:bodyPr wrap="square" lIns="0" tIns="0" rIns="0" bIns="0" rtlCol="0" anchor="ctr"/>
          <a:lstStyle/>
          <a:p>
            <a:pPr marL="0" indent="0">
              <a:buNone/>
            </a:pPr>
            <a:r>
              <a:rPr lang="en-US" sz="1150" i="1" dirty="0">
                <a:solidFill>
                  <a:srgbClr val="5A6B82"/>
                </a:solidFill>
                <a:latin typeface="Calibri" pitchFamily="34" charset="0"/>
                <a:ea typeface="Calibri" pitchFamily="34" charset="-122"/>
                <a:cs typeface="Calibri" pitchFamily="34" charset="-120"/>
              </a:rPr>
              <a:t>Dockerized processing  +  local SQL Server warehouse</a:t>
            </a:r>
            <a:endParaRPr lang="en-US" sz="1150" dirty="0"/>
          </a:p>
        </p:txBody>
      </p:sp>
      <p:sp>
        <p:nvSpPr>
          <p:cNvPr id="10" name="Shape 6"/>
          <p:cNvSpPr/>
          <p:nvPr/>
        </p:nvSpPr>
        <p:spPr>
          <a:xfrm>
            <a:off x="502920" y="1622146"/>
            <a:ext cx="8092440" cy="4610405"/>
          </a:xfrm>
          <a:prstGeom prst="roundRect">
            <a:avLst>
              <a:gd name="adj" fmla="val 119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11" name="Image 2" descr="img/FinTech_Lakehouse_-_Tools___Architecture__for_LOCAL_ONLY_.png"/>
          <p:cNvPicPr>
            <a:picLocks noChangeAspect="1"/>
          </p:cNvPicPr>
          <p:nvPr/>
        </p:nvPicPr>
        <p:blipFill>
          <a:blip r:embed="rId5"/>
          <a:stretch>
            <a:fillRect/>
          </a:stretch>
        </p:blipFill>
        <p:spPr>
          <a:xfrm>
            <a:off x="566928" y="1686154"/>
            <a:ext cx="7964424" cy="4482389"/>
          </a:xfrm>
          <a:prstGeom prst="rect">
            <a:avLst/>
          </a:prstGeom>
        </p:spPr>
      </p:pic>
      <p:sp>
        <p:nvSpPr>
          <p:cNvPr id="12" name="Shape 7"/>
          <p:cNvSpPr/>
          <p:nvPr/>
        </p:nvSpPr>
        <p:spPr>
          <a:xfrm>
            <a:off x="8796528" y="1481328"/>
            <a:ext cx="2889504" cy="2331720"/>
          </a:xfrm>
          <a:prstGeom prst="roundRect">
            <a:avLst>
              <a:gd name="adj" fmla="val 3529"/>
            </a:avLst>
          </a:prstGeom>
          <a:solidFill>
            <a:srgbClr val="16244D"/>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3" name="Text 8"/>
          <p:cNvSpPr/>
          <p:nvPr/>
        </p:nvSpPr>
        <p:spPr>
          <a:xfrm>
            <a:off x="9006840" y="1645920"/>
            <a:ext cx="256032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① Batch Pipeline</a:t>
            </a:r>
            <a:endParaRPr lang="en-US" sz="1400" dirty="0"/>
          </a:p>
        </p:txBody>
      </p:sp>
      <p:sp>
        <p:nvSpPr>
          <p:cNvPr id="14" name="Text 9"/>
          <p:cNvSpPr/>
          <p:nvPr/>
        </p:nvSpPr>
        <p:spPr>
          <a:xfrm>
            <a:off x="9006840" y="2011680"/>
            <a:ext cx="2514600" cy="914400"/>
          </a:xfrm>
          <a:prstGeom prst="rect">
            <a:avLst/>
          </a:prstGeom>
          <a:noFill/>
          <a:ln/>
        </p:spPr>
        <p:txBody>
          <a:bodyPr wrap="square" lIns="0" tIns="0" rIns="0" bIns="0" rtlCol="0" anchor="ctr"/>
          <a:lstStyle/>
          <a:p>
            <a:pPr marL="0" indent="0">
              <a:lnSpc>
                <a:spcPct val="108000"/>
              </a:lnSpc>
              <a:buNone/>
            </a:pPr>
            <a:r>
              <a:rPr lang="en-US" sz="1150" dirty="0">
                <a:solidFill>
                  <a:srgbClr val="CBD9F2"/>
                </a:solidFill>
                <a:latin typeface="Calibri" pitchFamily="34" charset="0"/>
                <a:ea typeface="Calibri" pitchFamily="34" charset="-122"/>
                <a:cs typeface="Calibri" pitchFamily="34" charset="-120"/>
              </a:rPr>
              <a:t>CSV → Bronze → Silver → SQL Server → dbt → Power BI</a:t>
            </a:r>
            <a:endParaRPr lang="en-US" sz="1150" dirty="0"/>
          </a:p>
        </p:txBody>
      </p:sp>
      <p:sp>
        <p:nvSpPr>
          <p:cNvPr id="15" name="Text 10"/>
          <p:cNvSpPr/>
          <p:nvPr/>
        </p:nvSpPr>
        <p:spPr>
          <a:xfrm>
            <a:off x="9006840" y="3246120"/>
            <a:ext cx="2514600" cy="457200"/>
          </a:xfrm>
          <a:prstGeom prst="rect">
            <a:avLst/>
          </a:prstGeom>
          <a:noFill/>
          <a:ln/>
        </p:spPr>
        <p:txBody>
          <a:bodyPr wrap="square" lIns="0" tIns="0" rIns="0" bIns="0" rtlCol="0" anchor="ctr"/>
          <a:lstStyle/>
          <a:p>
            <a:pPr marL="0" indent="0">
              <a:buNone/>
            </a:pPr>
            <a:r>
              <a:rPr lang="en-US" sz="1050" i="1" dirty="0">
                <a:solidFill>
                  <a:srgbClr val="9DB2D9"/>
                </a:solidFill>
                <a:latin typeface="Calibri" pitchFamily="34" charset="0"/>
                <a:ea typeface="Calibri" pitchFamily="34" charset="-122"/>
                <a:cs typeface="Calibri" pitchFamily="34" charset="-120"/>
              </a:rPr>
              <a:t>Initializes the full star (7 dims + fact).</a:t>
            </a:r>
            <a:endParaRPr lang="en-US" sz="1050" dirty="0"/>
          </a:p>
        </p:txBody>
      </p:sp>
      <p:sp>
        <p:nvSpPr>
          <p:cNvPr id="16" name="Shape 11"/>
          <p:cNvSpPr/>
          <p:nvPr/>
        </p:nvSpPr>
        <p:spPr>
          <a:xfrm>
            <a:off x="8796528" y="4041648"/>
            <a:ext cx="2889504" cy="2331720"/>
          </a:xfrm>
          <a:prstGeom prst="roundRect">
            <a:avLst>
              <a:gd name="adj" fmla="val 3529"/>
            </a:avLst>
          </a:prstGeom>
          <a:solidFill>
            <a:srgbClr val="1F9E54"/>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7" name="Text 12"/>
          <p:cNvSpPr/>
          <p:nvPr/>
        </p:nvSpPr>
        <p:spPr>
          <a:xfrm>
            <a:off x="9006840" y="4206240"/>
            <a:ext cx="2606040" cy="32004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② Incremental Pipeline</a:t>
            </a:r>
            <a:endParaRPr lang="en-US" sz="1400" dirty="0"/>
          </a:p>
        </p:txBody>
      </p:sp>
      <p:sp>
        <p:nvSpPr>
          <p:cNvPr id="18" name="Text 13"/>
          <p:cNvSpPr/>
          <p:nvPr/>
        </p:nvSpPr>
        <p:spPr>
          <a:xfrm>
            <a:off x="9006840" y="4572000"/>
            <a:ext cx="2542032" cy="1143000"/>
          </a:xfrm>
          <a:prstGeom prst="rect">
            <a:avLst/>
          </a:prstGeom>
          <a:noFill/>
          <a:ln/>
        </p:spPr>
        <p:txBody>
          <a:bodyPr wrap="square" lIns="0" tIns="0" rIns="0" bIns="0" rtlCol="0" anchor="ctr"/>
          <a:lstStyle/>
          <a:p>
            <a:pPr marL="0" indent="0">
              <a:lnSpc>
                <a:spcPct val="108000"/>
              </a:lnSpc>
              <a:buNone/>
            </a:pPr>
            <a:r>
              <a:rPr lang="en-US" sz="1150" dirty="0">
                <a:solidFill>
                  <a:srgbClr val="E4F6EA"/>
                </a:solidFill>
                <a:latin typeface="Calibri" pitchFamily="34" charset="0"/>
                <a:ea typeface="Calibri" pitchFamily="34" charset="-122"/>
                <a:cs typeface="Calibri" pitchFamily="34" charset="-120"/>
              </a:rPr>
              <a:t>FastAPI → Kafka → Bronze JSONL → Silver → SQL staging → MERGE → dbt</a:t>
            </a:r>
            <a:endParaRPr lang="en-US" sz="1150" dirty="0"/>
          </a:p>
        </p:txBody>
      </p:sp>
      <p:sp>
        <p:nvSpPr>
          <p:cNvPr id="19" name="Text 14"/>
          <p:cNvSpPr/>
          <p:nvPr/>
        </p:nvSpPr>
        <p:spPr>
          <a:xfrm>
            <a:off x="9006840" y="5806440"/>
            <a:ext cx="2514600" cy="365760"/>
          </a:xfrm>
          <a:prstGeom prst="rect">
            <a:avLst/>
          </a:prstGeom>
          <a:noFill/>
          <a:ln/>
        </p:spPr>
        <p:txBody>
          <a:bodyPr wrap="square" lIns="0" tIns="0" rIns="0" bIns="0" rtlCol="0" anchor="ctr"/>
          <a:lstStyle/>
          <a:p>
            <a:pPr marL="0" indent="0">
              <a:buNone/>
            </a:pPr>
            <a:r>
              <a:rPr lang="en-US" sz="1050" i="1" dirty="0">
                <a:solidFill>
                  <a:srgbClr val="D2F0DC"/>
                </a:solidFill>
                <a:latin typeface="Calibri" pitchFamily="34" charset="0"/>
                <a:ea typeface="Calibri" pitchFamily="34" charset="-122"/>
                <a:cs typeface="Calibri" pitchFamily="34" charset="-120"/>
              </a:rPr>
              <a:t>Upserts only new transactions.</a:t>
            </a:r>
            <a:endParaRPr lang="en-US" sz="1050" dirty="0"/>
          </a:p>
        </p:txBody>
      </p:sp>
      <p:sp>
        <p:nvSpPr>
          <p:cNvPr id="20" name="Text 15"/>
          <p:cNvSpPr/>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5A6B82"/>
                </a:solidFill>
                <a:latin typeface="Calibri" pitchFamily="34" charset="0"/>
                <a:ea typeface="Calibri" pitchFamily="34" charset="-122"/>
                <a:cs typeface="Calibri" pitchFamily="34" charset="-120"/>
              </a:rPr>
              <a:t>Both pipelines converge on one SQL Server Express Gold warehouse (fintech_db · dbo.*).</a:t>
            </a:r>
            <a:endParaRPr lang="en-US" sz="950" dirty="0"/>
          </a:p>
        </p:txBody>
      </p:sp>
      <p:sp>
        <p:nvSpPr>
          <p:cNvPr id="21" name="Text 1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3" name="Image 0" descr="icons/datamodel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SECTION 03 — DATA MODEL</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Kimball Star Schema</a:t>
            </a:r>
            <a:endParaRPr lang="en-US" sz="2600" dirty="0"/>
          </a:p>
        </p:txBody>
      </p:sp>
      <p:sp>
        <p:nvSpPr>
          <p:cNvPr id="6" name="Shape 3"/>
          <p:cNvSpPr/>
          <p:nvPr/>
        </p:nvSpPr>
        <p:spPr>
          <a:xfrm>
            <a:off x="502920" y="1792224"/>
            <a:ext cx="7818120" cy="4187952"/>
          </a:xfrm>
          <a:prstGeom prst="roundRect">
            <a:avLst>
              <a:gd name="adj" fmla="val 131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7" name="Image 1" descr="img/07_Kimbal_Schema.png"/>
          <p:cNvPicPr>
            <a:picLocks noChangeAspect="1"/>
          </p:cNvPicPr>
          <p:nvPr/>
        </p:nvPicPr>
        <p:blipFill>
          <a:blip r:embed="rId4"/>
          <a:stretch>
            <a:fillRect/>
          </a:stretch>
        </p:blipFill>
        <p:spPr>
          <a:xfrm>
            <a:off x="566928" y="1856232"/>
            <a:ext cx="7690104" cy="4059936"/>
          </a:xfrm>
          <a:prstGeom prst="rect">
            <a:avLst/>
          </a:prstGeom>
        </p:spPr>
      </p:pic>
      <p:sp>
        <p:nvSpPr>
          <p:cNvPr id="8" name="Shape 4"/>
          <p:cNvSpPr/>
          <p:nvPr/>
        </p:nvSpPr>
        <p:spPr>
          <a:xfrm>
            <a:off x="8549640" y="1371600"/>
            <a:ext cx="3154680" cy="1078992"/>
          </a:xfrm>
          <a:prstGeom prst="roundRect">
            <a:avLst>
              <a:gd name="adj" fmla="val 7627"/>
            </a:avLst>
          </a:prstGeom>
          <a:solidFill>
            <a:srgbClr val="16244D"/>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9" name="Text 5"/>
          <p:cNvSpPr/>
          <p:nvPr/>
        </p:nvSpPr>
        <p:spPr>
          <a:xfrm>
            <a:off x="8778240" y="1481328"/>
            <a:ext cx="2697480" cy="4572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1</a:t>
            </a:r>
            <a:r>
              <a:rPr lang="en-US" sz="1300" dirty="0">
                <a:solidFill>
                  <a:srgbClr val="CBD9F2"/>
                </a:solidFill>
                <a:latin typeface="Cambria" pitchFamily="34" charset="0"/>
                <a:ea typeface="Cambria" pitchFamily="34" charset="-122"/>
                <a:cs typeface="Cambria" pitchFamily="34" charset="-120"/>
              </a:rPr>
              <a:t>  fact   </a:t>
            </a:r>
            <a:r>
              <a:rPr lang="en-US" sz="3000" b="1" dirty="0">
                <a:solidFill>
                  <a:srgbClr val="7FE3A6"/>
                </a:solidFill>
                <a:latin typeface="Cambria" pitchFamily="34" charset="0"/>
                <a:ea typeface="Cambria" pitchFamily="34" charset="-122"/>
                <a:cs typeface="Cambria" pitchFamily="34" charset="-120"/>
              </a:rPr>
              <a:t>7</a:t>
            </a:r>
            <a:r>
              <a:rPr lang="en-US" sz="1300" dirty="0">
                <a:solidFill>
                  <a:srgbClr val="CBD9F2"/>
                </a:solidFill>
                <a:latin typeface="Cambria" pitchFamily="34" charset="0"/>
                <a:ea typeface="Cambria" pitchFamily="34" charset="-122"/>
                <a:cs typeface="Cambria" pitchFamily="34" charset="-120"/>
              </a:rPr>
              <a:t>  dimensions</a:t>
            </a:r>
            <a:endParaRPr lang="en-US" sz="3000" dirty="0"/>
          </a:p>
        </p:txBody>
      </p:sp>
      <p:sp>
        <p:nvSpPr>
          <p:cNvPr id="10" name="Text 6"/>
          <p:cNvSpPr/>
          <p:nvPr/>
        </p:nvSpPr>
        <p:spPr>
          <a:xfrm>
            <a:off x="8778240" y="1938528"/>
            <a:ext cx="2697480" cy="457200"/>
          </a:xfrm>
          <a:prstGeom prst="rect">
            <a:avLst/>
          </a:prstGeom>
          <a:noFill/>
          <a:ln/>
        </p:spPr>
        <p:txBody>
          <a:bodyPr wrap="square" lIns="0" tIns="0" rIns="0" bIns="0" rtlCol="0" anchor="ctr"/>
          <a:lstStyle/>
          <a:p>
            <a:pPr marL="0" indent="0">
              <a:buNone/>
            </a:pPr>
            <a:r>
              <a:rPr lang="en-US" sz="900" dirty="0">
                <a:solidFill>
                  <a:srgbClr val="9DB2D9"/>
                </a:solidFill>
                <a:latin typeface="Calibri" pitchFamily="34" charset="0"/>
                <a:ea typeface="Calibri" pitchFamily="34" charset="-122"/>
                <a:cs typeface="Calibri" pitchFamily="34" charset="-120"/>
              </a:rPr>
              <a:t>fact_transactions + dim_date, dim_time, dim_location, dim_account, dim_merchant, dim_transaction_type, dim_decline_reason</a:t>
            </a:r>
            <a:endParaRPr lang="en-US" sz="900" dirty="0"/>
          </a:p>
        </p:txBody>
      </p:sp>
      <p:sp>
        <p:nvSpPr>
          <p:cNvPr id="11" name="Shape 7"/>
          <p:cNvSpPr/>
          <p:nvPr/>
        </p:nvSpPr>
        <p:spPr>
          <a:xfrm>
            <a:off x="8549640" y="2596896"/>
            <a:ext cx="3154680" cy="1417320"/>
          </a:xfrm>
          <a:prstGeom prst="roundRect">
            <a:avLst>
              <a:gd name="adj" fmla="val 5806"/>
            </a:avLst>
          </a:prstGeom>
          <a:solidFill>
            <a:srgbClr val="F4F7FB"/>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2" name="Text 8"/>
          <p:cNvSpPr/>
          <p:nvPr/>
        </p:nvSpPr>
        <p:spPr>
          <a:xfrm>
            <a:off x="8778240" y="2706624"/>
            <a:ext cx="2697480" cy="274320"/>
          </a:xfrm>
          <a:prstGeom prst="rect">
            <a:avLst/>
          </a:prstGeom>
          <a:noFill/>
          <a:ln/>
        </p:spPr>
        <p:txBody>
          <a:bodyPr wrap="square" lIns="0" tIns="0" rIns="0" bIns="0" rtlCol="0" anchor="ctr"/>
          <a:lstStyle/>
          <a:p>
            <a:pPr marL="0" indent="0">
              <a:buNone/>
            </a:pPr>
            <a:r>
              <a:rPr lang="en-US" sz="1300" b="1" dirty="0">
                <a:solidFill>
                  <a:srgbClr val="16244D"/>
                </a:solidFill>
                <a:latin typeface="Cambria" pitchFamily="34" charset="0"/>
                <a:ea typeface="Cambria" pitchFamily="34" charset="-122"/>
                <a:cs typeface="Cambria" pitchFamily="34" charset="-120"/>
              </a:rPr>
              <a:t>Keys</a:t>
            </a:r>
            <a:endParaRPr lang="en-US" sz="1300" dirty="0"/>
          </a:p>
        </p:txBody>
      </p:sp>
      <p:sp>
        <p:nvSpPr>
          <p:cNvPr id="13" name="Text 9"/>
          <p:cNvSpPr/>
          <p:nvPr/>
        </p:nvSpPr>
        <p:spPr>
          <a:xfrm>
            <a:off x="8778240" y="2999232"/>
            <a:ext cx="2697480" cy="960120"/>
          </a:xfrm>
          <a:prstGeom prst="rect">
            <a:avLst/>
          </a:prstGeom>
          <a:noFill/>
          <a:ln/>
        </p:spPr>
        <p:txBody>
          <a:bodyPr wrap="square" lIns="0" tIns="0" rIns="0" bIns="0" rtlCol="0" anchor="ctr"/>
          <a:lstStyle/>
          <a:p>
            <a:pPr marL="0" indent="0">
              <a:lnSpc>
                <a:spcPct val="118000"/>
              </a:lnSpc>
              <a:buNone/>
            </a:pPr>
            <a:r>
              <a:rPr lang="en-US" sz="1100" b="1" dirty="0">
                <a:solidFill>
                  <a:srgbClr val="0E7C86"/>
                </a:solidFill>
                <a:latin typeface="Calibri" pitchFamily="34" charset="0"/>
                <a:ea typeface="Calibri" pitchFamily="34" charset="-122"/>
                <a:cs typeface="Calibri" pitchFamily="34" charset="-120"/>
              </a:rPr>
              <a:t>transaction_id</a:t>
            </a:r>
            <a:r>
              <a:rPr lang="en-US" sz="1100" dirty="0">
                <a:solidFill>
                  <a:srgbClr val="5A6B82"/>
                </a:solidFill>
                <a:latin typeface="Calibri" pitchFamily="34" charset="0"/>
                <a:ea typeface="Calibri" pitchFamily="34" charset="-122"/>
                <a:cs typeface="Calibri" pitchFamily="34" charset="-120"/>
              </a:rPr>
              <a:t>  business key (UNIQUE)
</a:t>
            </a:r>
            <a:r>
              <a:rPr lang="en-US" sz="1100" b="1" dirty="0">
                <a:solidFill>
                  <a:srgbClr val="0E7C86"/>
                </a:solidFill>
                <a:latin typeface="Calibri" pitchFamily="34" charset="0"/>
                <a:ea typeface="Calibri" pitchFamily="34" charset="-122"/>
                <a:cs typeface="Calibri" pitchFamily="34" charset="-120"/>
              </a:rPr>
              <a:t>transaction_sk</a:t>
            </a:r>
            <a:r>
              <a:rPr lang="en-US" sz="1100" dirty="0">
                <a:solidFill>
                  <a:srgbClr val="5A6B82"/>
                </a:solidFill>
                <a:latin typeface="Calibri" pitchFamily="34" charset="0"/>
                <a:ea typeface="Calibri" pitchFamily="34" charset="-122"/>
                <a:cs typeface="Calibri" pitchFamily="34" charset="-120"/>
              </a:rPr>
              <a:t>  IDENTITY surrogate
</a:t>
            </a:r>
            <a:r>
              <a:rPr lang="en-US" sz="1100" b="1" dirty="0">
                <a:solidFill>
                  <a:srgbClr val="16244D"/>
                </a:solidFill>
                <a:latin typeface="Calibri" pitchFamily="34" charset="0"/>
                <a:ea typeface="Calibri" pitchFamily="34" charset="-122"/>
                <a:cs typeface="Calibri" pitchFamily="34" charset="-120"/>
              </a:rPr>
              <a:t>7 FKs</a:t>
            </a:r>
            <a:r>
              <a:rPr lang="en-US" sz="1100" dirty="0">
                <a:solidFill>
                  <a:srgbClr val="5A6B82"/>
                </a:solidFill>
                <a:latin typeface="Calibri" pitchFamily="34" charset="0"/>
                <a:ea typeface="Calibri" pitchFamily="34" charset="-122"/>
                <a:cs typeface="Calibri" pitchFamily="34" charset="-120"/>
              </a:rPr>
              <a:t>  fact → each dimension</a:t>
            </a:r>
            <a:endParaRPr lang="en-US" sz="1100" dirty="0"/>
          </a:p>
        </p:txBody>
      </p:sp>
      <p:sp>
        <p:nvSpPr>
          <p:cNvPr id="14" name="Shape 10"/>
          <p:cNvSpPr/>
          <p:nvPr/>
        </p:nvSpPr>
        <p:spPr>
          <a:xfrm>
            <a:off x="8549640" y="4160520"/>
            <a:ext cx="3154680" cy="2231136"/>
          </a:xfrm>
          <a:prstGeom prst="roundRect">
            <a:avLst>
              <a:gd name="adj" fmla="val 3689"/>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5" name="Text 11"/>
          <p:cNvSpPr/>
          <p:nvPr/>
        </p:nvSpPr>
        <p:spPr>
          <a:xfrm>
            <a:off x="8778240" y="4261104"/>
            <a:ext cx="2697480" cy="274320"/>
          </a:xfrm>
          <a:prstGeom prst="rect">
            <a:avLst/>
          </a:prstGeom>
          <a:noFill/>
          <a:ln/>
        </p:spPr>
        <p:txBody>
          <a:bodyPr wrap="square" lIns="0" tIns="0" rIns="0" bIns="0" rtlCol="0" anchor="ctr"/>
          <a:lstStyle/>
          <a:p>
            <a:pPr marL="0" indent="0">
              <a:buNone/>
            </a:pPr>
            <a:r>
              <a:rPr lang="en-US" sz="1300" b="1" dirty="0">
                <a:solidFill>
                  <a:srgbClr val="16244D"/>
                </a:solidFill>
                <a:latin typeface="Cambria" pitchFamily="34" charset="0"/>
                <a:ea typeface="Cambria" pitchFamily="34" charset="-122"/>
                <a:cs typeface="Cambria" pitchFamily="34" charset="-120"/>
              </a:rPr>
              <a:t>Verified row counts</a:t>
            </a:r>
            <a:endParaRPr lang="en-US" sz="1300" dirty="0"/>
          </a:p>
        </p:txBody>
      </p:sp>
      <p:sp>
        <p:nvSpPr>
          <p:cNvPr id="16" name="Text 12"/>
          <p:cNvSpPr/>
          <p:nvPr/>
        </p:nvSpPr>
        <p:spPr>
          <a:xfrm>
            <a:off x="8778240" y="4590288"/>
            <a:ext cx="21488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fact_transactions</a:t>
            </a:r>
            <a:endParaRPr lang="en-US" sz="1050" dirty="0"/>
          </a:p>
        </p:txBody>
      </p:sp>
      <p:sp>
        <p:nvSpPr>
          <p:cNvPr id="17" name="Text 13"/>
          <p:cNvSpPr/>
          <p:nvPr/>
        </p:nvSpPr>
        <p:spPr>
          <a:xfrm>
            <a:off x="10835640" y="4590288"/>
            <a:ext cx="841248" cy="274320"/>
          </a:xfrm>
          <a:prstGeom prst="rect">
            <a:avLst/>
          </a:prstGeom>
          <a:noFill/>
          <a:ln/>
        </p:spPr>
        <p:txBody>
          <a:bodyPr wrap="square" lIns="0" tIns="0" rIns="0" bIns="0" rtlCol="0" anchor="ctr"/>
          <a:lstStyle/>
          <a:p>
            <a:pPr marL="0" indent="0" algn="r">
              <a:buNone/>
            </a:pPr>
            <a:r>
              <a:rPr lang="en-US" sz="1100" b="1" dirty="0">
                <a:solidFill>
                  <a:srgbClr val="1F9E54"/>
                </a:solidFill>
                <a:latin typeface="Calibri" pitchFamily="34" charset="0"/>
                <a:ea typeface="Calibri" pitchFamily="34" charset="-122"/>
                <a:cs typeface="Calibri" pitchFamily="34" charset="-120"/>
              </a:rPr>
              <a:t>1,000,000</a:t>
            </a:r>
            <a:endParaRPr lang="en-US" sz="1100" dirty="0"/>
          </a:p>
        </p:txBody>
      </p:sp>
      <p:sp>
        <p:nvSpPr>
          <p:cNvPr id="18" name="Text 14"/>
          <p:cNvSpPr/>
          <p:nvPr/>
        </p:nvSpPr>
        <p:spPr>
          <a:xfrm>
            <a:off x="8778240" y="4882896"/>
            <a:ext cx="21488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dim_account</a:t>
            </a:r>
            <a:endParaRPr lang="en-US" sz="1050" dirty="0"/>
          </a:p>
        </p:txBody>
      </p:sp>
      <p:sp>
        <p:nvSpPr>
          <p:cNvPr id="19" name="Text 15"/>
          <p:cNvSpPr/>
          <p:nvPr/>
        </p:nvSpPr>
        <p:spPr>
          <a:xfrm>
            <a:off x="10835640" y="4882896"/>
            <a:ext cx="841248" cy="274320"/>
          </a:xfrm>
          <a:prstGeom prst="rect">
            <a:avLst/>
          </a:prstGeom>
          <a:noFill/>
          <a:ln/>
        </p:spPr>
        <p:txBody>
          <a:bodyPr wrap="square" lIns="0" tIns="0" rIns="0" bIns="0" rtlCol="0" anchor="ctr"/>
          <a:lstStyle/>
          <a:p>
            <a:pPr marL="0" indent="0" algn="r">
              <a:buNone/>
            </a:pPr>
            <a:r>
              <a:rPr lang="en-US" sz="1100" b="1" dirty="0">
                <a:solidFill>
                  <a:srgbClr val="1C2A3A"/>
                </a:solidFill>
                <a:latin typeface="Calibri" pitchFamily="34" charset="0"/>
                <a:ea typeface="Calibri" pitchFamily="34" charset="-122"/>
                <a:cs typeface="Calibri" pitchFamily="34" charset="-120"/>
              </a:rPr>
              <a:t>40,000</a:t>
            </a:r>
            <a:endParaRPr lang="en-US" sz="1100" dirty="0"/>
          </a:p>
        </p:txBody>
      </p:sp>
      <p:sp>
        <p:nvSpPr>
          <p:cNvPr id="20" name="Text 16"/>
          <p:cNvSpPr/>
          <p:nvPr/>
        </p:nvSpPr>
        <p:spPr>
          <a:xfrm>
            <a:off x="8778240" y="5175504"/>
            <a:ext cx="21488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dim_merchant</a:t>
            </a:r>
            <a:endParaRPr lang="en-US" sz="1050" dirty="0"/>
          </a:p>
        </p:txBody>
      </p:sp>
      <p:sp>
        <p:nvSpPr>
          <p:cNvPr id="21" name="Text 17"/>
          <p:cNvSpPr/>
          <p:nvPr/>
        </p:nvSpPr>
        <p:spPr>
          <a:xfrm>
            <a:off x="10835640" y="5175504"/>
            <a:ext cx="841248" cy="274320"/>
          </a:xfrm>
          <a:prstGeom prst="rect">
            <a:avLst/>
          </a:prstGeom>
          <a:noFill/>
          <a:ln/>
        </p:spPr>
        <p:txBody>
          <a:bodyPr wrap="square" lIns="0" tIns="0" rIns="0" bIns="0" rtlCol="0" anchor="ctr"/>
          <a:lstStyle/>
          <a:p>
            <a:pPr marL="0" indent="0" algn="r">
              <a:buNone/>
            </a:pPr>
            <a:r>
              <a:rPr lang="en-US" sz="1100" b="1" dirty="0">
                <a:solidFill>
                  <a:srgbClr val="1C2A3A"/>
                </a:solidFill>
                <a:latin typeface="Calibri" pitchFamily="34" charset="0"/>
                <a:ea typeface="Calibri" pitchFamily="34" charset="-122"/>
                <a:cs typeface="Calibri" pitchFamily="34" charset="-120"/>
              </a:rPr>
              <a:t>1,200</a:t>
            </a:r>
            <a:endParaRPr lang="en-US" sz="1100" dirty="0"/>
          </a:p>
        </p:txBody>
      </p:sp>
      <p:sp>
        <p:nvSpPr>
          <p:cNvPr id="22" name="Text 18"/>
          <p:cNvSpPr/>
          <p:nvPr/>
        </p:nvSpPr>
        <p:spPr>
          <a:xfrm>
            <a:off x="8778240" y="5468112"/>
            <a:ext cx="21488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dim_time</a:t>
            </a:r>
            <a:endParaRPr lang="en-US" sz="1050" dirty="0"/>
          </a:p>
        </p:txBody>
      </p:sp>
      <p:sp>
        <p:nvSpPr>
          <p:cNvPr id="23" name="Text 19"/>
          <p:cNvSpPr/>
          <p:nvPr/>
        </p:nvSpPr>
        <p:spPr>
          <a:xfrm>
            <a:off x="10835640" y="5468112"/>
            <a:ext cx="841248" cy="274320"/>
          </a:xfrm>
          <a:prstGeom prst="rect">
            <a:avLst/>
          </a:prstGeom>
          <a:noFill/>
          <a:ln/>
        </p:spPr>
        <p:txBody>
          <a:bodyPr wrap="square" lIns="0" tIns="0" rIns="0" bIns="0" rtlCol="0" anchor="ctr"/>
          <a:lstStyle/>
          <a:p>
            <a:pPr marL="0" indent="0" algn="r">
              <a:buNone/>
            </a:pPr>
            <a:r>
              <a:rPr lang="en-US" sz="1100" b="1" dirty="0">
                <a:solidFill>
                  <a:srgbClr val="1C2A3A"/>
                </a:solidFill>
                <a:latin typeface="Calibri" pitchFamily="34" charset="0"/>
                <a:ea typeface="Calibri" pitchFamily="34" charset="-122"/>
                <a:cs typeface="Calibri" pitchFamily="34" charset="-120"/>
              </a:rPr>
              <a:t>1,440</a:t>
            </a:r>
            <a:endParaRPr lang="en-US" sz="1100" dirty="0"/>
          </a:p>
        </p:txBody>
      </p:sp>
      <p:sp>
        <p:nvSpPr>
          <p:cNvPr id="24" name="Text 20"/>
          <p:cNvSpPr/>
          <p:nvPr/>
        </p:nvSpPr>
        <p:spPr>
          <a:xfrm>
            <a:off x="8778240" y="5760720"/>
            <a:ext cx="21488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dim_date</a:t>
            </a:r>
            <a:endParaRPr lang="en-US" sz="1050" dirty="0"/>
          </a:p>
        </p:txBody>
      </p:sp>
      <p:sp>
        <p:nvSpPr>
          <p:cNvPr id="25" name="Text 21"/>
          <p:cNvSpPr/>
          <p:nvPr/>
        </p:nvSpPr>
        <p:spPr>
          <a:xfrm>
            <a:off x="10835640" y="5760720"/>
            <a:ext cx="841248" cy="274320"/>
          </a:xfrm>
          <a:prstGeom prst="rect">
            <a:avLst/>
          </a:prstGeom>
          <a:noFill/>
          <a:ln/>
        </p:spPr>
        <p:txBody>
          <a:bodyPr wrap="square" lIns="0" tIns="0" rIns="0" bIns="0" rtlCol="0" anchor="ctr"/>
          <a:lstStyle/>
          <a:p>
            <a:pPr marL="0" indent="0" algn="r">
              <a:buNone/>
            </a:pPr>
            <a:r>
              <a:rPr lang="en-US" sz="1100" b="1" dirty="0">
                <a:solidFill>
                  <a:srgbClr val="1C2A3A"/>
                </a:solidFill>
                <a:latin typeface="Calibri" pitchFamily="34" charset="0"/>
                <a:ea typeface="Calibri" pitchFamily="34" charset="-122"/>
                <a:cs typeface="Calibri" pitchFamily="34" charset="-120"/>
              </a:rPr>
              <a:t>731</a:t>
            </a:r>
            <a:endParaRPr lang="en-US" sz="1100" dirty="0"/>
          </a:p>
        </p:txBody>
      </p:sp>
      <p:sp>
        <p:nvSpPr>
          <p:cNvPr id="26" name="Text 22"/>
          <p:cNvSpPr/>
          <p:nvPr/>
        </p:nvSpPr>
        <p:spPr>
          <a:xfrm>
            <a:off x="8778240" y="6053328"/>
            <a:ext cx="21488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dim_location · type · decline</a:t>
            </a:r>
            <a:endParaRPr lang="en-US" sz="1050" dirty="0"/>
          </a:p>
        </p:txBody>
      </p:sp>
      <p:sp>
        <p:nvSpPr>
          <p:cNvPr id="27" name="Text 23"/>
          <p:cNvSpPr/>
          <p:nvPr/>
        </p:nvSpPr>
        <p:spPr>
          <a:xfrm>
            <a:off x="10835640" y="6053328"/>
            <a:ext cx="841248" cy="274320"/>
          </a:xfrm>
          <a:prstGeom prst="rect">
            <a:avLst/>
          </a:prstGeom>
          <a:noFill/>
          <a:ln/>
        </p:spPr>
        <p:txBody>
          <a:bodyPr wrap="square" lIns="0" tIns="0" rIns="0" bIns="0" rtlCol="0" anchor="ctr"/>
          <a:lstStyle/>
          <a:p>
            <a:pPr marL="0" indent="0" algn="r">
              <a:buNone/>
            </a:pPr>
            <a:r>
              <a:rPr lang="en-US" sz="1100" b="1" dirty="0">
                <a:solidFill>
                  <a:srgbClr val="1C2A3A"/>
                </a:solidFill>
                <a:latin typeface="Calibri" pitchFamily="34" charset="0"/>
                <a:ea typeface="Calibri" pitchFamily="34" charset="-122"/>
                <a:cs typeface="Calibri" pitchFamily="34" charset="-120"/>
              </a:rPr>
              <a:t>19 · 13 · 8</a:t>
            </a:r>
            <a:endParaRPr lang="en-US" sz="1100" dirty="0"/>
          </a:p>
        </p:txBody>
      </p:sp>
      <p:sp>
        <p:nvSpPr>
          <p:cNvPr id="28" name="Text 2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16244D"/>
          </a:solidFill>
          <a:ln/>
          <a:effectLst>
            <a:outerShdw blurRad="88900" dist="25400" dir="5400000" algn="bl" rotWithShape="0">
              <a:srgbClr val="13233F">
                <a:alpha val="12000"/>
              </a:srgbClr>
            </a:outerShdw>
          </a:effectLst>
        </p:spPr>
        <p:txBody>
          <a:bodyPr/>
          <a:lstStyle/>
          <a:p>
            <a:endParaRPr lang="en-US"/>
          </a:p>
        </p:txBody>
      </p:sp>
      <p:pic>
        <p:nvPicPr>
          <p:cNvPr id="3" name="Image 0" descr="icons/warehouse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16244D"/>
                </a:solidFill>
                <a:latin typeface="Calibri" pitchFamily="34" charset="0"/>
                <a:ea typeface="Calibri" pitchFamily="34" charset="-122"/>
                <a:cs typeface="Calibri" pitchFamily="34" charset="-120"/>
              </a:rPr>
              <a:t>SECTION 04 — LOCAL SOLUTION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Initial Batch Pipeline</a:t>
            </a:r>
            <a:endParaRPr lang="en-US" sz="2600" dirty="0"/>
          </a:p>
        </p:txBody>
      </p:sp>
      <p:sp>
        <p:nvSpPr>
          <p:cNvPr id="6" name="Shape 3"/>
          <p:cNvSpPr/>
          <p:nvPr/>
        </p:nvSpPr>
        <p:spPr>
          <a:xfrm>
            <a:off x="502920" y="1078992"/>
            <a:ext cx="2194560" cy="292608"/>
          </a:xfrm>
          <a:prstGeom prst="roundRect">
            <a:avLst>
              <a:gd name="adj" fmla="val 50000"/>
            </a:avLst>
          </a:prstGeom>
          <a:solidFill>
            <a:srgbClr val="EAF6EF"/>
          </a:solidFill>
          <a:ln/>
        </p:spPr>
        <p:txBody>
          <a:bodyPr/>
          <a:lstStyle/>
          <a:p>
            <a:endParaRPr lang="en-US"/>
          </a:p>
        </p:txBody>
      </p:sp>
      <p:pic>
        <p:nvPicPr>
          <p:cNvPr id="7" name="Image 1" descr="icons/check.png"/>
          <p:cNvPicPr>
            <a:picLocks noChangeAspect="1"/>
          </p:cNvPicPr>
          <p:nvPr/>
        </p:nvPicPr>
        <p:blipFill>
          <a:blip r:embed="rId4"/>
          <a:stretch>
            <a:fillRect/>
          </a:stretch>
        </p:blipFill>
        <p:spPr>
          <a:xfrm>
            <a:off x="612648" y="1147572"/>
            <a:ext cx="155448" cy="155448"/>
          </a:xfrm>
          <a:prstGeom prst="rect">
            <a:avLst/>
          </a:prstGeom>
        </p:spPr>
      </p:pic>
      <p:sp>
        <p:nvSpPr>
          <p:cNvPr id="8" name="Text 4"/>
          <p:cNvSpPr/>
          <p:nvPr/>
        </p:nvSpPr>
        <p:spPr>
          <a:xfrm>
            <a:off x="804672" y="1078992"/>
            <a:ext cx="1865376" cy="292608"/>
          </a:xfrm>
          <a:prstGeom prst="rect">
            <a:avLst/>
          </a:prstGeom>
          <a:noFill/>
          <a:ln/>
        </p:spPr>
        <p:txBody>
          <a:bodyPr wrap="square" lIns="0" tIns="0" rIns="0" bIns="0" rtlCol="0" anchor="ctr"/>
          <a:lstStyle/>
          <a:p>
            <a:pPr marL="0" indent="0">
              <a:buNone/>
            </a:pPr>
            <a:r>
              <a:rPr lang="en-US" sz="950" b="1" dirty="0">
                <a:solidFill>
                  <a:srgbClr val="1F9E54"/>
                </a:solidFill>
                <a:latin typeface="Calibri" pitchFamily="34" charset="0"/>
                <a:ea typeface="Calibri" pitchFamily="34" charset="-122"/>
                <a:cs typeface="Calibri" pitchFamily="34" charset="-120"/>
              </a:rPr>
              <a:t>IMPLEMENTED · LOCAL</a:t>
            </a:r>
            <a:endParaRPr lang="en-US" sz="950" dirty="0"/>
          </a:p>
        </p:txBody>
      </p:sp>
      <p:sp>
        <p:nvSpPr>
          <p:cNvPr id="9" name="Text 5"/>
          <p:cNvSpPr/>
          <p:nvPr/>
        </p:nvSpPr>
        <p:spPr>
          <a:xfrm>
            <a:off x="3246120" y="1078992"/>
            <a:ext cx="6400800" cy="292608"/>
          </a:xfrm>
          <a:prstGeom prst="rect">
            <a:avLst/>
          </a:prstGeom>
          <a:noFill/>
          <a:ln/>
        </p:spPr>
        <p:txBody>
          <a:bodyPr wrap="square" lIns="0" tIns="0" rIns="0" bIns="0" rtlCol="0" anchor="ctr"/>
          <a:lstStyle/>
          <a:p>
            <a:pPr marL="0" indent="0">
              <a:buNone/>
            </a:pPr>
            <a:r>
              <a:rPr lang="en-US" sz="1150" i="1" dirty="0">
                <a:solidFill>
                  <a:srgbClr val="5A6B82"/>
                </a:solidFill>
                <a:latin typeface="Calibri" pitchFamily="34" charset="0"/>
                <a:ea typeface="Calibri" pitchFamily="34" charset="-122"/>
                <a:cs typeface="Calibri" pitchFamily="34" charset="-120"/>
              </a:rPr>
              <a:t>Medallion ETL — initializes the warehouse</a:t>
            </a:r>
            <a:endParaRPr lang="en-US" sz="1150" dirty="0"/>
          </a:p>
        </p:txBody>
      </p:sp>
      <p:sp>
        <p:nvSpPr>
          <p:cNvPr id="10" name="Shape 6"/>
          <p:cNvSpPr/>
          <p:nvPr/>
        </p:nvSpPr>
        <p:spPr>
          <a:xfrm>
            <a:off x="502920" y="1481328"/>
            <a:ext cx="1755648" cy="548640"/>
          </a:xfrm>
          <a:prstGeom prst="roundRect">
            <a:avLst>
              <a:gd name="adj" fmla="val 50000"/>
            </a:avLst>
          </a:prstGeom>
          <a:solidFill>
            <a:srgbClr val="F4F7FB"/>
          </a:solidFill>
          <a:ln/>
        </p:spPr>
        <p:txBody>
          <a:bodyPr/>
          <a:lstStyle/>
          <a:p>
            <a:endParaRPr lang="en-US"/>
          </a:p>
        </p:txBody>
      </p:sp>
      <p:sp>
        <p:nvSpPr>
          <p:cNvPr id="11" name="Text 7"/>
          <p:cNvSpPr/>
          <p:nvPr/>
        </p:nvSpPr>
        <p:spPr>
          <a:xfrm>
            <a:off x="502920" y="1481328"/>
            <a:ext cx="1755648" cy="548640"/>
          </a:xfrm>
          <a:prstGeom prst="rect">
            <a:avLst/>
          </a:prstGeom>
          <a:noFill/>
          <a:ln/>
        </p:spPr>
        <p:txBody>
          <a:bodyPr wrap="square" lIns="0" tIns="0" rIns="0" bIns="0" rtlCol="0" anchor="ctr"/>
          <a:lstStyle/>
          <a:p>
            <a:pPr marL="0" indent="0" algn="ctr">
              <a:buNone/>
            </a:pPr>
            <a:r>
              <a:rPr lang="en-US" sz="1050" b="1" dirty="0">
                <a:solidFill>
                  <a:srgbClr val="1C2A3A"/>
                </a:solidFill>
                <a:latin typeface="Calibri" pitchFamily="34" charset="0"/>
                <a:ea typeface="Calibri" pitchFamily="34" charset="-122"/>
                <a:cs typeface="Calibri" pitchFamily="34" charset="-120"/>
              </a:rPr>
              <a:t>8 CSV files</a:t>
            </a:r>
            <a:endParaRPr lang="en-US" sz="1050" dirty="0"/>
          </a:p>
        </p:txBody>
      </p:sp>
      <p:pic>
        <p:nvPicPr>
          <p:cNvPr id="12" name="Image 2" descr="icons/arrow.png"/>
          <p:cNvPicPr>
            <a:picLocks noChangeAspect="1"/>
          </p:cNvPicPr>
          <p:nvPr/>
        </p:nvPicPr>
        <p:blipFill>
          <a:blip r:embed="rId5"/>
          <a:stretch>
            <a:fillRect/>
          </a:stretch>
        </p:blipFill>
        <p:spPr>
          <a:xfrm>
            <a:off x="2263140" y="1664208"/>
            <a:ext cx="164592" cy="164592"/>
          </a:xfrm>
          <a:prstGeom prst="rect">
            <a:avLst/>
          </a:prstGeom>
        </p:spPr>
      </p:pic>
      <p:sp>
        <p:nvSpPr>
          <p:cNvPr id="13" name="Shape 8"/>
          <p:cNvSpPr/>
          <p:nvPr/>
        </p:nvSpPr>
        <p:spPr>
          <a:xfrm>
            <a:off x="2404872" y="1481328"/>
            <a:ext cx="1755648" cy="548640"/>
          </a:xfrm>
          <a:prstGeom prst="roundRect">
            <a:avLst>
              <a:gd name="adj" fmla="val 50000"/>
            </a:avLst>
          </a:prstGeom>
          <a:solidFill>
            <a:srgbClr val="F4F7FB"/>
          </a:solidFill>
          <a:ln/>
        </p:spPr>
        <p:txBody>
          <a:bodyPr/>
          <a:lstStyle/>
          <a:p>
            <a:endParaRPr lang="en-US"/>
          </a:p>
        </p:txBody>
      </p:sp>
      <p:sp>
        <p:nvSpPr>
          <p:cNvPr id="14" name="Text 9"/>
          <p:cNvSpPr/>
          <p:nvPr/>
        </p:nvSpPr>
        <p:spPr>
          <a:xfrm>
            <a:off x="2404872" y="1481328"/>
            <a:ext cx="1755648" cy="548640"/>
          </a:xfrm>
          <a:prstGeom prst="rect">
            <a:avLst/>
          </a:prstGeom>
          <a:noFill/>
          <a:ln/>
        </p:spPr>
        <p:txBody>
          <a:bodyPr wrap="square" lIns="0" tIns="0" rIns="0" bIns="0" rtlCol="0" anchor="ctr"/>
          <a:lstStyle/>
          <a:p>
            <a:pPr marL="0" indent="0" algn="ctr">
              <a:buNone/>
            </a:pPr>
            <a:r>
              <a:rPr lang="en-US" sz="1050" b="1" dirty="0">
                <a:solidFill>
                  <a:srgbClr val="16244D"/>
                </a:solidFill>
                <a:latin typeface="Calibri" pitchFamily="34" charset="0"/>
                <a:ea typeface="Calibri" pitchFamily="34" charset="-122"/>
                <a:cs typeface="Calibri" pitchFamily="34" charset="-120"/>
              </a:rPr>
              <a:t>Pandas → Bronze</a:t>
            </a:r>
            <a:endParaRPr lang="en-US" sz="1050" dirty="0"/>
          </a:p>
        </p:txBody>
      </p:sp>
      <p:pic>
        <p:nvPicPr>
          <p:cNvPr id="15" name="Image 3" descr="icons/arrow.png"/>
          <p:cNvPicPr>
            <a:picLocks noChangeAspect="1"/>
          </p:cNvPicPr>
          <p:nvPr/>
        </p:nvPicPr>
        <p:blipFill>
          <a:blip r:embed="rId5"/>
          <a:stretch>
            <a:fillRect/>
          </a:stretch>
        </p:blipFill>
        <p:spPr>
          <a:xfrm>
            <a:off x="4165092" y="1664208"/>
            <a:ext cx="164592" cy="164592"/>
          </a:xfrm>
          <a:prstGeom prst="rect">
            <a:avLst/>
          </a:prstGeom>
        </p:spPr>
      </p:pic>
      <p:sp>
        <p:nvSpPr>
          <p:cNvPr id="16" name="Shape 10"/>
          <p:cNvSpPr/>
          <p:nvPr/>
        </p:nvSpPr>
        <p:spPr>
          <a:xfrm>
            <a:off x="4306824" y="1481328"/>
            <a:ext cx="1755648" cy="548640"/>
          </a:xfrm>
          <a:prstGeom prst="roundRect">
            <a:avLst>
              <a:gd name="adj" fmla="val 50000"/>
            </a:avLst>
          </a:prstGeom>
          <a:solidFill>
            <a:srgbClr val="F4F7FB"/>
          </a:solidFill>
          <a:ln/>
        </p:spPr>
        <p:txBody>
          <a:bodyPr/>
          <a:lstStyle/>
          <a:p>
            <a:endParaRPr lang="en-US"/>
          </a:p>
        </p:txBody>
      </p:sp>
      <p:sp>
        <p:nvSpPr>
          <p:cNvPr id="17" name="Text 11"/>
          <p:cNvSpPr/>
          <p:nvPr/>
        </p:nvSpPr>
        <p:spPr>
          <a:xfrm>
            <a:off x="4306824" y="1481328"/>
            <a:ext cx="1755648" cy="548640"/>
          </a:xfrm>
          <a:prstGeom prst="rect">
            <a:avLst/>
          </a:prstGeom>
          <a:noFill/>
          <a:ln/>
        </p:spPr>
        <p:txBody>
          <a:bodyPr wrap="square" lIns="0" tIns="0" rIns="0" bIns="0" rtlCol="0" anchor="ctr"/>
          <a:lstStyle/>
          <a:p>
            <a:pPr marL="0" indent="0" algn="ctr">
              <a:buNone/>
            </a:pPr>
            <a:r>
              <a:rPr lang="en-US" sz="1050" b="1" dirty="0">
                <a:solidFill>
                  <a:srgbClr val="16244D"/>
                </a:solidFill>
                <a:latin typeface="Calibri" pitchFamily="34" charset="0"/>
                <a:ea typeface="Calibri" pitchFamily="34" charset="-122"/>
                <a:cs typeface="Calibri" pitchFamily="34" charset="-120"/>
              </a:rPr>
              <a:t>PySpark → Silver</a:t>
            </a:r>
            <a:endParaRPr lang="en-US" sz="1050" dirty="0"/>
          </a:p>
        </p:txBody>
      </p:sp>
      <p:pic>
        <p:nvPicPr>
          <p:cNvPr id="18" name="Image 4" descr="icons/arrow.png"/>
          <p:cNvPicPr>
            <a:picLocks noChangeAspect="1"/>
          </p:cNvPicPr>
          <p:nvPr/>
        </p:nvPicPr>
        <p:blipFill>
          <a:blip r:embed="rId5"/>
          <a:stretch>
            <a:fillRect/>
          </a:stretch>
        </p:blipFill>
        <p:spPr>
          <a:xfrm>
            <a:off x="6067044" y="1664208"/>
            <a:ext cx="164592" cy="164592"/>
          </a:xfrm>
          <a:prstGeom prst="rect">
            <a:avLst/>
          </a:prstGeom>
        </p:spPr>
      </p:pic>
      <p:sp>
        <p:nvSpPr>
          <p:cNvPr id="19" name="Shape 12"/>
          <p:cNvSpPr/>
          <p:nvPr/>
        </p:nvSpPr>
        <p:spPr>
          <a:xfrm>
            <a:off x="6208776" y="1481328"/>
            <a:ext cx="1755648" cy="548640"/>
          </a:xfrm>
          <a:prstGeom prst="roundRect">
            <a:avLst>
              <a:gd name="adj" fmla="val 50000"/>
            </a:avLst>
          </a:prstGeom>
          <a:solidFill>
            <a:srgbClr val="F4F7FB"/>
          </a:solidFill>
          <a:ln/>
        </p:spPr>
        <p:txBody>
          <a:bodyPr/>
          <a:lstStyle/>
          <a:p>
            <a:endParaRPr lang="en-US"/>
          </a:p>
        </p:txBody>
      </p:sp>
      <p:sp>
        <p:nvSpPr>
          <p:cNvPr id="20" name="Text 13"/>
          <p:cNvSpPr/>
          <p:nvPr/>
        </p:nvSpPr>
        <p:spPr>
          <a:xfrm>
            <a:off x="6208776" y="1481328"/>
            <a:ext cx="1755648" cy="548640"/>
          </a:xfrm>
          <a:prstGeom prst="rect">
            <a:avLst/>
          </a:prstGeom>
          <a:noFill/>
          <a:ln/>
        </p:spPr>
        <p:txBody>
          <a:bodyPr wrap="square" lIns="0" tIns="0" rIns="0" bIns="0" rtlCol="0" anchor="ctr"/>
          <a:lstStyle/>
          <a:p>
            <a:pPr marL="0" indent="0" algn="ctr">
              <a:buNone/>
            </a:pPr>
            <a:r>
              <a:rPr lang="en-US" sz="1050" b="1" dirty="0">
                <a:solidFill>
                  <a:srgbClr val="16244D"/>
                </a:solidFill>
                <a:latin typeface="Calibri" pitchFamily="34" charset="0"/>
                <a:ea typeface="Calibri" pitchFamily="34" charset="-122"/>
                <a:cs typeface="Calibri" pitchFamily="34" charset="-120"/>
              </a:rPr>
              <a:t>SQL Server Gold</a:t>
            </a:r>
            <a:endParaRPr lang="en-US" sz="1050" dirty="0"/>
          </a:p>
        </p:txBody>
      </p:sp>
      <p:pic>
        <p:nvPicPr>
          <p:cNvPr id="21" name="Image 5" descr="icons/arrow.png"/>
          <p:cNvPicPr>
            <a:picLocks noChangeAspect="1"/>
          </p:cNvPicPr>
          <p:nvPr/>
        </p:nvPicPr>
        <p:blipFill>
          <a:blip r:embed="rId5"/>
          <a:stretch>
            <a:fillRect/>
          </a:stretch>
        </p:blipFill>
        <p:spPr>
          <a:xfrm>
            <a:off x="7968996" y="1664208"/>
            <a:ext cx="164592" cy="164592"/>
          </a:xfrm>
          <a:prstGeom prst="rect">
            <a:avLst/>
          </a:prstGeom>
        </p:spPr>
      </p:pic>
      <p:sp>
        <p:nvSpPr>
          <p:cNvPr id="22" name="Shape 14"/>
          <p:cNvSpPr/>
          <p:nvPr/>
        </p:nvSpPr>
        <p:spPr>
          <a:xfrm>
            <a:off x="8110728" y="1481328"/>
            <a:ext cx="1755648" cy="548640"/>
          </a:xfrm>
          <a:prstGeom prst="roundRect">
            <a:avLst>
              <a:gd name="adj" fmla="val 50000"/>
            </a:avLst>
          </a:prstGeom>
          <a:solidFill>
            <a:srgbClr val="E9F2F3"/>
          </a:solidFill>
          <a:ln/>
        </p:spPr>
        <p:txBody>
          <a:bodyPr/>
          <a:lstStyle/>
          <a:p>
            <a:endParaRPr lang="en-US"/>
          </a:p>
        </p:txBody>
      </p:sp>
      <p:sp>
        <p:nvSpPr>
          <p:cNvPr id="23" name="Text 15"/>
          <p:cNvSpPr/>
          <p:nvPr/>
        </p:nvSpPr>
        <p:spPr>
          <a:xfrm>
            <a:off x="8110728" y="1481328"/>
            <a:ext cx="1755648" cy="548640"/>
          </a:xfrm>
          <a:prstGeom prst="rect">
            <a:avLst/>
          </a:prstGeom>
          <a:noFill/>
          <a:ln/>
        </p:spPr>
        <p:txBody>
          <a:bodyPr wrap="square" lIns="0" tIns="0" rIns="0" bIns="0" rtlCol="0" anchor="ctr"/>
          <a:lstStyle/>
          <a:p>
            <a:pPr marL="0" indent="0" algn="ctr">
              <a:buNone/>
            </a:pPr>
            <a:r>
              <a:rPr lang="en-US" sz="1050" b="1" dirty="0">
                <a:solidFill>
                  <a:srgbClr val="0E7C86"/>
                </a:solidFill>
                <a:latin typeface="Calibri" pitchFamily="34" charset="0"/>
                <a:ea typeface="Calibri" pitchFamily="34" charset="-122"/>
                <a:cs typeface="Calibri" pitchFamily="34" charset="-120"/>
              </a:rPr>
              <a:t>dbt validate</a:t>
            </a:r>
            <a:endParaRPr lang="en-US" sz="1050" dirty="0"/>
          </a:p>
        </p:txBody>
      </p:sp>
      <p:pic>
        <p:nvPicPr>
          <p:cNvPr id="24" name="Image 6" descr="icons/arrow.png"/>
          <p:cNvPicPr>
            <a:picLocks noChangeAspect="1"/>
          </p:cNvPicPr>
          <p:nvPr/>
        </p:nvPicPr>
        <p:blipFill>
          <a:blip r:embed="rId5"/>
          <a:stretch>
            <a:fillRect/>
          </a:stretch>
        </p:blipFill>
        <p:spPr>
          <a:xfrm>
            <a:off x="9870948" y="1664208"/>
            <a:ext cx="164592" cy="164592"/>
          </a:xfrm>
          <a:prstGeom prst="rect">
            <a:avLst/>
          </a:prstGeom>
        </p:spPr>
      </p:pic>
      <p:sp>
        <p:nvSpPr>
          <p:cNvPr id="25" name="Shape 16"/>
          <p:cNvSpPr/>
          <p:nvPr/>
        </p:nvSpPr>
        <p:spPr>
          <a:xfrm>
            <a:off x="10012680" y="1481328"/>
            <a:ext cx="1755648" cy="548640"/>
          </a:xfrm>
          <a:prstGeom prst="roundRect">
            <a:avLst>
              <a:gd name="adj" fmla="val 50000"/>
            </a:avLst>
          </a:prstGeom>
          <a:solidFill>
            <a:srgbClr val="E9F2F3"/>
          </a:solidFill>
          <a:ln/>
        </p:spPr>
        <p:txBody>
          <a:bodyPr/>
          <a:lstStyle/>
          <a:p>
            <a:endParaRPr lang="en-US"/>
          </a:p>
        </p:txBody>
      </p:sp>
      <p:sp>
        <p:nvSpPr>
          <p:cNvPr id="26" name="Text 17"/>
          <p:cNvSpPr/>
          <p:nvPr/>
        </p:nvSpPr>
        <p:spPr>
          <a:xfrm>
            <a:off x="10012680" y="1481328"/>
            <a:ext cx="1755648" cy="548640"/>
          </a:xfrm>
          <a:prstGeom prst="rect">
            <a:avLst/>
          </a:prstGeom>
          <a:noFill/>
          <a:ln/>
        </p:spPr>
        <p:txBody>
          <a:bodyPr wrap="square" lIns="0" tIns="0" rIns="0" bIns="0" rtlCol="0" anchor="ctr"/>
          <a:lstStyle/>
          <a:p>
            <a:pPr marL="0" indent="0" algn="ctr">
              <a:buNone/>
            </a:pPr>
            <a:r>
              <a:rPr lang="en-US" sz="1050" b="1" dirty="0">
                <a:solidFill>
                  <a:srgbClr val="0E7C86"/>
                </a:solidFill>
                <a:latin typeface="Calibri" pitchFamily="34" charset="0"/>
                <a:ea typeface="Calibri" pitchFamily="34" charset="-122"/>
                <a:cs typeface="Calibri" pitchFamily="34" charset="-120"/>
              </a:rPr>
              <a:t>Power BI</a:t>
            </a:r>
            <a:endParaRPr lang="en-US" sz="1050" dirty="0"/>
          </a:p>
        </p:txBody>
      </p:sp>
      <p:sp>
        <p:nvSpPr>
          <p:cNvPr id="27" name="Shape 18"/>
          <p:cNvSpPr/>
          <p:nvPr/>
        </p:nvSpPr>
        <p:spPr>
          <a:xfrm>
            <a:off x="728320" y="2286000"/>
            <a:ext cx="5081321" cy="2743200"/>
          </a:xfrm>
          <a:prstGeom prst="roundRect">
            <a:avLst>
              <a:gd name="adj" fmla="val 200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28" name="Image 7" descr="img/02_airflow_dag_graph.png"/>
          <p:cNvPicPr>
            <a:picLocks noChangeAspect="1"/>
          </p:cNvPicPr>
          <p:nvPr/>
        </p:nvPicPr>
        <p:blipFill>
          <a:blip r:embed="rId6"/>
          <a:stretch>
            <a:fillRect/>
          </a:stretch>
        </p:blipFill>
        <p:spPr>
          <a:xfrm>
            <a:off x="792328" y="2350008"/>
            <a:ext cx="4953305" cy="2615184"/>
          </a:xfrm>
          <a:prstGeom prst="rect">
            <a:avLst/>
          </a:prstGeom>
        </p:spPr>
      </p:pic>
      <p:sp>
        <p:nvSpPr>
          <p:cNvPr id="29" name="Text 19"/>
          <p:cNvSpPr/>
          <p:nvPr/>
        </p:nvSpPr>
        <p:spPr>
          <a:xfrm>
            <a:off x="502920" y="5029200"/>
            <a:ext cx="553212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Airflow DAG  fintech_lakehouse  —  extract → spark → gold_handoff (all success)</a:t>
            </a:r>
            <a:endParaRPr lang="en-US" sz="1050" dirty="0"/>
          </a:p>
        </p:txBody>
      </p:sp>
      <p:sp>
        <p:nvSpPr>
          <p:cNvPr id="30" name="Shape 20"/>
          <p:cNvSpPr/>
          <p:nvPr/>
        </p:nvSpPr>
        <p:spPr>
          <a:xfrm>
            <a:off x="6402172" y="2286000"/>
            <a:ext cx="5081321" cy="2743200"/>
          </a:xfrm>
          <a:prstGeom prst="roundRect">
            <a:avLst>
              <a:gd name="adj" fmla="val 200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31" name="Image 8" descr="img/05_dbt_build_success.png"/>
          <p:cNvPicPr>
            <a:picLocks noChangeAspect="1"/>
          </p:cNvPicPr>
          <p:nvPr/>
        </p:nvPicPr>
        <p:blipFill>
          <a:blip r:embed="rId7"/>
          <a:stretch>
            <a:fillRect/>
          </a:stretch>
        </p:blipFill>
        <p:spPr>
          <a:xfrm>
            <a:off x="6466180" y="2350008"/>
            <a:ext cx="4953305" cy="2615184"/>
          </a:xfrm>
          <a:prstGeom prst="rect">
            <a:avLst/>
          </a:prstGeom>
        </p:spPr>
      </p:pic>
      <p:sp>
        <p:nvSpPr>
          <p:cNvPr id="32" name="Text 21"/>
          <p:cNvSpPr/>
          <p:nvPr/>
        </p:nvSpPr>
        <p:spPr>
          <a:xfrm>
            <a:off x="6199632" y="5029200"/>
            <a:ext cx="548640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dbt build  —  PASS=47  (45 data tests + 2 reporting views), 0 errors</a:t>
            </a:r>
            <a:endParaRPr lang="en-US" sz="1050" dirty="0"/>
          </a:p>
        </p:txBody>
      </p:sp>
      <p:sp>
        <p:nvSpPr>
          <p:cNvPr id="33" name="Shape 22"/>
          <p:cNvSpPr/>
          <p:nvPr/>
        </p:nvSpPr>
        <p:spPr>
          <a:xfrm>
            <a:off x="502920" y="5440680"/>
            <a:ext cx="3611880" cy="777240"/>
          </a:xfrm>
          <a:prstGeom prst="roundRect">
            <a:avLst>
              <a:gd name="adj" fmla="val 9412"/>
            </a:avLst>
          </a:prstGeom>
          <a:solidFill>
            <a:srgbClr val="F4F7FB"/>
          </a:solidFill>
          <a:ln w="12700">
            <a:solidFill>
              <a:srgbClr val="D9E1EC"/>
            </a:solidFill>
            <a:prstDash val="solid"/>
          </a:ln>
        </p:spPr>
        <p:txBody>
          <a:bodyPr/>
          <a:lstStyle/>
          <a:p>
            <a:endParaRPr lang="en-US"/>
          </a:p>
        </p:txBody>
      </p:sp>
      <p:sp>
        <p:nvSpPr>
          <p:cNvPr id="34" name="Shape 23"/>
          <p:cNvSpPr/>
          <p:nvPr/>
        </p:nvSpPr>
        <p:spPr>
          <a:xfrm>
            <a:off x="685800" y="5605272"/>
            <a:ext cx="438912" cy="438912"/>
          </a:xfrm>
          <a:prstGeom prst="ellipse">
            <a:avLst/>
          </a:prstGeom>
          <a:solidFill>
            <a:srgbClr val="B07A3C"/>
          </a:solidFill>
          <a:ln/>
        </p:spPr>
        <p:txBody>
          <a:bodyPr/>
          <a:lstStyle/>
          <a:p>
            <a:endParaRPr lang="en-US"/>
          </a:p>
        </p:txBody>
      </p:sp>
      <p:sp>
        <p:nvSpPr>
          <p:cNvPr id="35" name="Text 24"/>
          <p:cNvSpPr/>
          <p:nvPr/>
        </p:nvSpPr>
        <p:spPr>
          <a:xfrm>
            <a:off x="1252728" y="5468112"/>
            <a:ext cx="2697480" cy="73152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Bronze
</a:t>
            </a:r>
            <a:r>
              <a:rPr lang="en-US" sz="1050" dirty="0">
                <a:solidFill>
                  <a:srgbClr val="5A6B82"/>
                </a:solidFill>
                <a:latin typeface="Calibri" pitchFamily="34" charset="0"/>
                <a:ea typeface="Calibri" pitchFamily="34" charset="-122"/>
                <a:cs typeface="Calibri" pitchFamily="34" charset="-120"/>
              </a:rPr>
              <a:t>preserves raw data</a:t>
            </a:r>
            <a:endParaRPr lang="en-US" sz="1250" dirty="0"/>
          </a:p>
        </p:txBody>
      </p:sp>
      <p:sp>
        <p:nvSpPr>
          <p:cNvPr id="36" name="Shape 25"/>
          <p:cNvSpPr/>
          <p:nvPr/>
        </p:nvSpPr>
        <p:spPr>
          <a:xfrm>
            <a:off x="4334256" y="5440680"/>
            <a:ext cx="3611880" cy="777240"/>
          </a:xfrm>
          <a:prstGeom prst="roundRect">
            <a:avLst>
              <a:gd name="adj" fmla="val 9412"/>
            </a:avLst>
          </a:prstGeom>
          <a:solidFill>
            <a:srgbClr val="F4F7FB"/>
          </a:solidFill>
          <a:ln w="12700">
            <a:solidFill>
              <a:srgbClr val="D9E1EC"/>
            </a:solidFill>
            <a:prstDash val="solid"/>
          </a:ln>
        </p:spPr>
        <p:txBody>
          <a:bodyPr/>
          <a:lstStyle/>
          <a:p>
            <a:endParaRPr lang="en-US"/>
          </a:p>
        </p:txBody>
      </p:sp>
      <p:sp>
        <p:nvSpPr>
          <p:cNvPr id="37" name="Shape 26"/>
          <p:cNvSpPr/>
          <p:nvPr/>
        </p:nvSpPr>
        <p:spPr>
          <a:xfrm>
            <a:off x="4517136" y="5605272"/>
            <a:ext cx="438912" cy="438912"/>
          </a:xfrm>
          <a:prstGeom prst="ellipse">
            <a:avLst/>
          </a:prstGeom>
          <a:solidFill>
            <a:srgbClr val="6E7A8A"/>
          </a:solidFill>
          <a:ln/>
        </p:spPr>
        <p:txBody>
          <a:bodyPr/>
          <a:lstStyle/>
          <a:p>
            <a:endParaRPr lang="en-US"/>
          </a:p>
        </p:txBody>
      </p:sp>
      <p:sp>
        <p:nvSpPr>
          <p:cNvPr id="38" name="Text 27"/>
          <p:cNvSpPr/>
          <p:nvPr/>
        </p:nvSpPr>
        <p:spPr>
          <a:xfrm>
            <a:off x="5084064" y="5468112"/>
            <a:ext cx="2697480" cy="73152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Silver
</a:t>
            </a:r>
            <a:r>
              <a:rPr lang="en-US" sz="1050" dirty="0">
                <a:solidFill>
                  <a:srgbClr val="5A6B82"/>
                </a:solidFill>
                <a:latin typeface="Calibri" pitchFamily="34" charset="0"/>
                <a:ea typeface="Calibri" pitchFamily="34" charset="-122"/>
                <a:cs typeface="Calibri" pitchFamily="34" charset="-120"/>
              </a:rPr>
              <a:t>cleans &amp; conforms</a:t>
            </a:r>
            <a:endParaRPr lang="en-US" sz="1250" dirty="0"/>
          </a:p>
        </p:txBody>
      </p:sp>
      <p:sp>
        <p:nvSpPr>
          <p:cNvPr id="39" name="Shape 28"/>
          <p:cNvSpPr/>
          <p:nvPr/>
        </p:nvSpPr>
        <p:spPr>
          <a:xfrm>
            <a:off x="8165592" y="5440680"/>
            <a:ext cx="3611880" cy="777240"/>
          </a:xfrm>
          <a:prstGeom prst="roundRect">
            <a:avLst>
              <a:gd name="adj" fmla="val 9412"/>
            </a:avLst>
          </a:prstGeom>
          <a:solidFill>
            <a:srgbClr val="F4F7FB"/>
          </a:solidFill>
          <a:ln w="12700">
            <a:solidFill>
              <a:srgbClr val="D9E1EC"/>
            </a:solidFill>
            <a:prstDash val="solid"/>
          </a:ln>
        </p:spPr>
        <p:txBody>
          <a:bodyPr/>
          <a:lstStyle/>
          <a:p>
            <a:endParaRPr lang="en-US"/>
          </a:p>
        </p:txBody>
      </p:sp>
      <p:sp>
        <p:nvSpPr>
          <p:cNvPr id="40" name="Shape 29"/>
          <p:cNvSpPr/>
          <p:nvPr/>
        </p:nvSpPr>
        <p:spPr>
          <a:xfrm>
            <a:off x="8348472" y="5605272"/>
            <a:ext cx="438912" cy="438912"/>
          </a:xfrm>
          <a:prstGeom prst="ellipse">
            <a:avLst/>
          </a:prstGeom>
          <a:solidFill>
            <a:srgbClr val="C8A24A"/>
          </a:solidFill>
          <a:ln/>
        </p:spPr>
        <p:txBody>
          <a:bodyPr/>
          <a:lstStyle/>
          <a:p>
            <a:endParaRPr lang="en-US"/>
          </a:p>
        </p:txBody>
      </p:sp>
      <p:sp>
        <p:nvSpPr>
          <p:cNvPr id="41" name="Text 30"/>
          <p:cNvSpPr/>
          <p:nvPr/>
        </p:nvSpPr>
        <p:spPr>
          <a:xfrm>
            <a:off x="8915400" y="5468112"/>
            <a:ext cx="2697480" cy="731520"/>
          </a:xfrm>
          <a:prstGeom prst="rect">
            <a:avLst/>
          </a:prstGeom>
          <a:noFill/>
          <a:ln/>
        </p:spPr>
        <p:txBody>
          <a:bodyPr wrap="square" lIns="0" tIns="0" rIns="0" bIns="0" rtlCol="0" anchor="ctr"/>
          <a:lstStyle/>
          <a:p>
            <a:pPr marL="0" indent="0">
              <a:buNone/>
            </a:pPr>
            <a:r>
              <a:rPr lang="en-US" sz="1250" b="1" dirty="0">
                <a:solidFill>
                  <a:srgbClr val="16244D"/>
                </a:solidFill>
                <a:latin typeface="Calibri" pitchFamily="34" charset="0"/>
                <a:ea typeface="Calibri" pitchFamily="34" charset="-122"/>
                <a:cs typeface="Calibri" pitchFamily="34" charset="-120"/>
              </a:rPr>
              <a:t>Gold
</a:t>
            </a:r>
            <a:r>
              <a:rPr lang="en-US" sz="1050" dirty="0">
                <a:solidFill>
                  <a:srgbClr val="5A6B82"/>
                </a:solidFill>
                <a:latin typeface="Calibri" pitchFamily="34" charset="0"/>
                <a:ea typeface="Calibri" pitchFamily="34" charset="-122"/>
                <a:cs typeface="Calibri" pitchFamily="34" charset="-120"/>
              </a:rPr>
              <a:t>Kimball star schema</a:t>
            </a:r>
            <a:endParaRPr lang="en-US" sz="1250" dirty="0"/>
          </a:p>
        </p:txBody>
      </p:sp>
      <p:sp>
        <p:nvSpPr>
          <p:cNvPr id="42" name="Text 31"/>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1F9E54"/>
          </a:solidFill>
          <a:ln/>
          <a:effectLst>
            <a:outerShdw blurRad="88900" dist="25400" dir="5400000" algn="bl" rotWithShape="0">
              <a:srgbClr val="13233F">
                <a:alpha val="12000"/>
              </a:srgbClr>
            </a:outerShdw>
          </a:effectLst>
        </p:spPr>
        <p:txBody>
          <a:bodyPr/>
          <a:lstStyle/>
          <a:p>
            <a:endParaRPr lang="en-US"/>
          </a:p>
        </p:txBody>
      </p:sp>
      <p:pic>
        <p:nvPicPr>
          <p:cNvPr id="3" name="Image 0" descr="icons/stream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1F9E54"/>
                </a:solidFill>
                <a:latin typeface="Calibri" pitchFamily="34" charset="0"/>
                <a:ea typeface="Calibri" pitchFamily="34" charset="-122"/>
                <a:cs typeface="Calibri" pitchFamily="34" charset="-120"/>
              </a:rPr>
              <a:t>SECTION 04 — LOCAL SOLUTION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Incremental Kafka Pipeline</a:t>
            </a:r>
            <a:endParaRPr lang="en-US" sz="2600" dirty="0"/>
          </a:p>
        </p:txBody>
      </p:sp>
      <p:sp>
        <p:nvSpPr>
          <p:cNvPr id="6" name="Shape 3"/>
          <p:cNvSpPr/>
          <p:nvPr/>
        </p:nvSpPr>
        <p:spPr>
          <a:xfrm>
            <a:off x="502920" y="1078992"/>
            <a:ext cx="2194560" cy="292608"/>
          </a:xfrm>
          <a:prstGeom prst="roundRect">
            <a:avLst>
              <a:gd name="adj" fmla="val 50000"/>
            </a:avLst>
          </a:prstGeom>
          <a:solidFill>
            <a:srgbClr val="EAF6EF"/>
          </a:solidFill>
          <a:ln/>
        </p:spPr>
        <p:txBody>
          <a:bodyPr/>
          <a:lstStyle/>
          <a:p>
            <a:endParaRPr lang="en-US"/>
          </a:p>
        </p:txBody>
      </p:sp>
      <p:pic>
        <p:nvPicPr>
          <p:cNvPr id="7" name="Image 1" descr="icons/check.png"/>
          <p:cNvPicPr>
            <a:picLocks noChangeAspect="1"/>
          </p:cNvPicPr>
          <p:nvPr/>
        </p:nvPicPr>
        <p:blipFill>
          <a:blip r:embed="rId4"/>
          <a:stretch>
            <a:fillRect/>
          </a:stretch>
        </p:blipFill>
        <p:spPr>
          <a:xfrm>
            <a:off x="612648" y="1147572"/>
            <a:ext cx="155448" cy="155448"/>
          </a:xfrm>
          <a:prstGeom prst="rect">
            <a:avLst/>
          </a:prstGeom>
        </p:spPr>
      </p:pic>
      <p:sp>
        <p:nvSpPr>
          <p:cNvPr id="8" name="Text 4"/>
          <p:cNvSpPr/>
          <p:nvPr/>
        </p:nvSpPr>
        <p:spPr>
          <a:xfrm>
            <a:off x="804672" y="1078992"/>
            <a:ext cx="1865376" cy="292608"/>
          </a:xfrm>
          <a:prstGeom prst="rect">
            <a:avLst/>
          </a:prstGeom>
          <a:noFill/>
          <a:ln/>
        </p:spPr>
        <p:txBody>
          <a:bodyPr wrap="square" lIns="0" tIns="0" rIns="0" bIns="0" rtlCol="0" anchor="ctr"/>
          <a:lstStyle/>
          <a:p>
            <a:pPr marL="0" indent="0">
              <a:buNone/>
            </a:pPr>
            <a:r>
              <a:rPr lang="en-US" sz="950" b="1" dirty="0">
                <a:solidFill>
                  <a:srgbClr val="1F9E54"/>
                </a:solidFill>
                <a:latin typeface="Calibri" pitchFamily="34" charset="0"/>
                <a:ea typeface="Calibri" pitchFamily="34" charset="-122"/>
                <a:cs typeface="Calibri" pitchFamily="34" charset="-120"/>
              </a:rPr>
              <a:t>IMPLEMENTED · LOCAL</a:t>
            </a:r>
            <a:endParaRPr lang="en-US" sz="950" dirty="0"/>
          </a:p>
        </p:txBody>
      </p:sp>
      <p:sp>
        <p:nvSpPr>
          <p:cNvPr id="9" name="Text 5"/>
          <p:cNvSpPr/>
          <p:nvPr/>
        </p:nvSpPr>
        <p:spPr>
          <a:xfrm>
            <a:off x="3246120" y="1078992"/>
            <a:ext cx="7315200" cy="292608"/>
          </a:xfrm>
          <a:prstGeom prst="rect">
            <a:avLst/>
          </a:prstGeom>
          <a:noFill/>
          <a:ln/>
        </p:spPr>
        <p:txBody>
          <a:bodyPr wrap="square" lIns="0" tIns="0" rIns="0" bIns="0" rtlCol="0" anchor="ctr"/>
          <a:lstStyle/>
          <a:p>
            <a:pPr marL="0" indent="0">
              <a:buNone/>
            </a:pPr>
            <a:r>
              <a:rPr lang="en-US" sz="1150" i="1" dirty="0">
                <a:solidFill>
                  <a:srgbClr val="5A6B82"/>
                </a:solidFill>
                <a:latin typeface="Calibri" pitchFamily="34" charset="0"/>
                <a:ea typeface="Calibri" pitchFamily="34" charset="-122"/>
                <a:cs typeface="Calibri" pitchFamily="34" charset="-120"/>
              </a:rPr>
              <a:t>Event-driven — only new transactions; dimensions stay batch-loaded</a:t>
            </a:r>
            <a:endParaRPr lang="en-US" sz="1150" dirty="0"/>
          </a:p>
        </p:txBody>
      </p:sp>
      <p:sp>
        <p:nvSpPr>
          <p:cNvPr id="10" name="Shape 6"/>
          <p:cNvSpPr/>
          <p:nvPr/>
        </p:nvSpPr>
        <p:spPr>
          <a:xfrm>
            <a:off x="502920" y="1463040"/>
            <a:ext cx="1207008" cy="512064"/>
          </a:xfrm>
          <a:prstGeom prst="roundRect">
            <a:avLst>
              <a:gd name="adj" fmla="val 50000"/>
            </a:avLst>
          </a:prstGeom>
          <a:solidFill>
            <a:srgbClr val="EAF6EF"/>
          </a:solidFill>
          <a:ln/>
        </p:spPr>
        <p:txBody>
          <a:bodyPr/>
          <a:lstStyle/>
          <a:p>
            <a:endParaRPr lang="en-US"/>
          </a:p>
        </p:txBody>
      </p:sp>
      <p:sp>
        <p:nvSpPr>
          <p:cNvPr id="11" name="Text 7"/>
          <p:cNvSpPr/>
          <p:nvPr/>
        </p:nvSpPr>
        <p:spPr>
          <a:xfrm>
            <a:off x="502920"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fact CSV</a:t>
            </a:r>
            <a:endParaRPr lang="en-US" sz="1050" dirty="0"/>
          </a:p>
        </p:txBody>
      </p:sp>
      <p:pic>
        <p:nvPicPr>
          <p:cNvPr id="12" name="Image 2" descr="icons/arrow_g.png"/>
          <p:cNvPicPr>
            <a:picLocks noChangeAspect="1"/>
          </p:cNvPicPr>
          <p:nvPr/>
        </p:nvPicPr>
        <p:blipFill>
          <a:blip r:embed="rId5"/>
          <a:stretch>
            <a:fillRect/>
          </a:stretch>
        </p:blipFill>
        <p:spPr>
          <a:xfrm>
            <a:off x="1705356" y="1645920"/>
            <a:ext cx="137160" cy="137160"/>
          </a:xfrm>
          <a:prstGeom prst="rect">
            <a:avLst/>
          </a:prstGeom>
        </p:spPr>
      </p:pic>
      <p:sp>
        <p:nvSpPr>
          <p:cNvPr id="13" name="Shape 8"/>
          <p:cNvSpPr/>
          <p:nvPr/>
        </p:nvSpPr>
        <p:spPr>
          <a:xfrm>
            <a:off x="1751076" y="1463040"/>
            <a:ext cx="1207008" cy="512064"/>
          </a:xfrm>
          <a:prstGeom prst="roundRect">
            <a:avLst>
              <a:gd name="adj" fmla="val 50000"/>
            </a:avLst>
          </a:prstGeom>
          <a:solidFill>
            <a:srgbClr val="EAF6EF"/>
          </a:solidFill>
          <a:ln/>
        </p:spPr>
        <p:txBody>
          <a:bodyPr/>
          <a:lstStyle/>
          <a:p>
            <a:endParaRPr lang="en-US"/>
          </a:p>
        </p:txBody>
      </p:sp>
      <p:sp>
        <p:nvSpPr>
          <p:cNvPr id="14" name="Text 9"/>
          <p:cNvSpPr/>
          <p:nvPr/>
        </p:nvSpPr>
        <p:spPr>
          <a:xfrm>
            <a:off x="1751076"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FastAPI</a:t>
            </a:r>
            <a:endParaRPr lang="en-US" sz="1050" dirty="0"/>
          </a:p>
        </p:txBody>
      </p:sp>
      <p:pic>
        <p:nvPicPr>
          <p:cNvPr id="15" name="Image 3" descr="icons/arrow_g.png"/>
          <p:cNvPicPr>
            <a:picLocks noChangeAspect="1"/>
          </p:cNvPicPr>
          <p:nvPr/>
        </p:nvPicPr>
        <p:blipFill>
          <a:blip r:embed="rId5"/>
          <a:stretch>
            <a:fillRect/>
          </a:stretch>
        </p:blipFill>
        <p:spPr>
          <a:xfrm>
            <a:off x="2953512" y="1645920"/>
            <a:ext cx="137160" cy="137160"/>
          </a:xfrm>
          <a:prstGeom prst="rect">
            <a:avLst/>
          </a:prstGeom>
        </p:spPr>
      </p:pic>
      <p:sp>
        <p:nvSpPr>
          <p:cNvPr id="16" name="Shape 10"/>
          <p:cNvSpPr/>
          <p:nvPr/>
        </p:nvSpPr>
        <p:spPr>
          <a:xfrm>
            <a:off x="2999232" y="1463040"/>
            <a:ext cx="1207008" cy="512064"/>
          </a:xfrm>
          <a:prstGeom prst="roundRect">
            <a:avLst>
              <a:gd name="adj" fmla="val 50000"/>
            </a:avLst>
          </a:prstGeom>
          <a:solidFill>
            <a:srgbClr val="EAF6EF"/>
          </a:solidFill>
          <a:ln/>
        </p:spPr>
        <p:txBody>
          <a:bodyPr/>
          <a:lstStyle/>
          <a:p>
            <a:endParaRPr lang="en-US"/>
          </a:p>
        </p:txBody>
      </p:sp>
      <p:sp>
        <p:nvSpPr>
          <p:cNvPr id="17" name="Text 11"/>
          <p:cNvSpPr/>
          <p:nvPr/>
        </p:nvSpPr>
        <p:spPr>
          <a:xfrm>
            <a:off x="2999232"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Kafka Producer</a:t>
            </a:r>
            <a:endParaRPr lang="en-US" sz="1050" dirty="0"/>
          </a:p>
        </p:txBody>
      </p:sp>
      <p:pic>
        <p:nvPicPr>
          <p:cNvPr id="18" name="Image 4" descr="icons/arrow_g.png"/>
          <p:cNvPicPr>
            <a:picLocks noChangeAspect="1"/>
          </p:cNvPicPr>
          <p:nvPr/>
        </p:nvPicPr>
        <p:blipFill>
          <a:blip r:embed="rId5"/>
          <a:stretch>
            <a:fillRect/>
          </a:stretch>
        </p:blipFill>
        <p:spPr>
          <a:xfrm>
            <a:off x="4201668" y="1645920"/>
            <a:ext cx="137160" cy="137160"/>
          </a:xfrm>
          <a:prstGeom prst="rect">
            <a:avLst/>
          </a:prstGeom>
        </p:spPr>
      </p:pic>
      <p:sp>
        <p:nvSpPr>
          <p:cNvPr id="19" name="Shape 12"/>
          <p:cNvSpPr/>
          <p:nvPr/>
        </p:nvSpPr>
        <p:spPr>
          <a:xfrm>
            <a:off x="4247388" y="1463040"/>
            <a:ext cx="1207008" cy="512064"/>
          </a:xfrm>
          <a:prstGeom prst="roundRect">
            <a:avLst>
              <a:gd name="adj" fmla="val 50000"/>
            </a:avLst>
          </a:prstGeom>
          <a:solidFill>
            <a:srgbClr val="EAF6EF"/>
          </a:solidFill>
          <a:ln/>
        </p:spPr>
        <p:txBody>
          <a:bodyPr/>
          <a:lstStyle/>
          <a:p>
            <a:endParaRPr lang="en-US"/>
          </a:p>
        </p:txBody>
      </p:sp>
      <p:sp>
        <p:nvSpPr>
          <p:cNvPr id="20" name="Text 13"/>
          <p:cNvSpPr/>
          <p:nvPr/>
        </p:nvSpPr>
        <p:spPr>
          <a:xfrm>
            <a:off x="4247388"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topic transactions_raw</a:t>
            </a:r>
            <a:endParaRPr lang="en-US" sz="1050" dirty="0"/>
          </a:p>
        </p:txBody>
      </p:sp>
      <p:pic>
        <p:nvPicPr>
          <p:cNvPr id="21" name="Image 5" descr="icons/arrow_g.png"/>
          <p:cNvPicPr>
            <a:picLocks noChangeAspect="1"/>
          </p:cNvPicPr>
          <p:nvPr/>
        </p:nvPicPr>
        <p:blipFill>
          <a:blip r:embed="rId5"/>
          <a:stretch>
            <a:fillRect/>
          </a:stretch>
        </p:blipFill>
        <p:spPr>
          <a:xfrm>
            <a:off x="5449824" y="1645920"/>
            <a:ext cx="137160" cy="137160"/>
          </a:xfrm>
          <a:prstGeom prst="rect">
            <a:avLst/>
          </a:prstGeom>
        </p:spPr>
      </p:pic>
      <p:sp>
        <p:nvSpPr>
          <p:cNvPr id="22" name="Shape 14"/>
          <p:cNvSpPr/>
          <p:nvPr/>
        </p:nvSpPr>
        <p:spPr>
          <a:xfrm>
            <a:off x="5495544" y="1463040"/>
            <a:ext cx="1207008" cy="512064"/>
          </a:xfrm>
          <a:prstGeom prst="roundRect">
            <a:avLst>
              <a:gd name="adj" fmla="val 50000"/>
            </a:avLst>
          </a:prstGeom>
          <a:solidFill>
            <a:srgbClr val="EAF6EF"/>
          </a:solidFill>
          <a:ln/>
        </p:spPr>
        <p:txBody>
          <a:bodyPr/>
          <a:lstStyle/>
          <a:p>
            <a:endParaRPr lang="en-US"/>
          </a:p>
        </p:txBody>
      </p:sp>
      <p:sp>
        <p:nvSpPr>
          <p:cNvPr id="23" name="Text 15"/>
          <p:cNvSpPr/>
          <p:nvPr/>
        </p:nvSpPr>
        <p:spPr>
          <a:xfrm>
            <a:off x="5495544"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Consumer</a:t>
            </a:r>
            <a:endParaRPr lang="en-US" sz="1050" dirty="0"/>
          </a:p>
        </p:txBody>
      </p:sp>
      <p:pic>
        <p:nvPicPr>
          <p:cNvPr id="24" name="Image 6" descr="icons/arrow_g.png"/>
          <p:cNvPicPr>
            <a:picLocks noChangeAspect="1"/>
          </p:cNvPicPr>
          <p:nvPr/>
        </p:nvPicPr>
        <p:blipFill>
          <a:blip r:embed="rId5"/>
          <a:stretch>
            <a:fillRect/>
          </a:stretch>
        </p:blipFill>
        <p:spPr>
          <a:xfrm>
            <a:off x="6697980" y="1645920"/>
            <a:ext cx="137160" cy="137160"/>
          </a:xfrm>
          <a:prstGeom prst="rect">
            <a:avLst/>
          </a:prstGeom>
        </p:spPr>
      </p:pic>
      <p:sp>
        <p:nvSpPr>
          <p:cNvPr id="25" name="Shape 16"/>
          <p:cNvSpPr/>
          <p:nvPr/>
        </p:nvSpPr>
        <p:spPr>
          <a:xfrm>
            <a:off x="6743700" y="1463040"/>
            <a:ext cx="1207008" cy="512064"/>
          </a:xfrm>
          <a:prstGeom prst="roundRect">
            <a:avLst>
              <a:gd name="adj" fmla="val 50000"/>
            </a:avLst>
          </a:prstGeom>
          <a:solidFill>
            <a:srgbClr val="EAF6EF"/>
          </a:solidFill>
          <a:ln/>
        </p:spPr>
        <p:txBody>
          <a:bodyPr/>
          <a:lstStyle/>
          <a:p>
            <a:endParaRPr lang="en-US"/>
          </a:p>
        </p:txBody>
      </p:sp>
      <p:sp>
        <p:nvSpPr>
          <p:cNvPr id="26" name="Text 17"/>
          <p:cNvSpPr/>
          <p:nvPr/>
        </p:nvSpPr>
        <p:spPr>
          <a:xfrm>
            <a:off x="6743700"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Bronze JSONL</a:t>
            </a:r>
            <a:endParaRPr lang="en-US" sz="1050" dirty="0"/>
          </a:p>
        </p:txBody>
      </p:sp>
      <p:pic>
        <p:nvPicPr>
          <p:cNvPr id="27" name="Image 7" descr="icons/arrow_g.png"/>
          <p:cNvPicPr>
            <a:picLocks noChangeAspect="1"/>
          </p:cNvPicPr>
          <p:nvPr/>
        </p:nvPicPr>
        <p:blipFill>
          <a:blip r:embed="rId5"/>
          <a:stretch>
            <a:fillRect/>
          </a:stretch>
        </p:blipFill>
        <p:spPr>
          <a:xfrm>
            <a:off x="7946136" y="1645920"/>
            <a:ext cx="137160" cy="137160"/>
          </a:xfrm>
          <a:prstGeom prst="rect">
            <a:avLst/>
          </a:prstGeom>
        </p:spPr>
      </p:pic>
      <p:sp>
        <p:nvSpPr>
          <p:cNvPr id="28" name="Shape 18"/>
          <p:cNvSpPr/>
          <p:nvPr/>
        </p:nvSpPr>
        <p:spPr>
          <a:xfrm>
            <a:off x="7991856" y="1463040"/>
            <a:ext cx="1207008" cy="512064"/>
          </a:xfrm>
          <a:prstGeom prst="roundRect">
            <a:avLst>
              <a:gd name="adj" fmla="val 50000"/>
            </a:avLst>
          </a:prstGeom>
          <a:solidFill>
            <a:srgbClr val="EAF6EF"/>
          </a:solidFill>
          <a:ln/>
        </p:spPr>
        <p:txBody>
          <a:bodyPr/>
          <a:lstStyle/>
          <a:p>
            <a:endParaRPr lang="en-US"/>
          </a:p>
        </p:txBody>
      </p:sp>
      <p:sp>
        <p:nvSpPr>
          <p:cNvPr id="29" name="Text 19"/>
          <p:cNvSpPr/>
          <p:nvPr/>
        </p:nvSpPr>
        <p:spPr>
          <a:xfrm>
            <a:off x="7991856"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Silver Parquet</a:t>
            </a:r>
            <a:endParaRPr lang="en-US" sz="1050" dirty="0"/>
          </a:p>
        </p:txBody>
      </p:sp>
      <p:pic>
        <p:nvPicPr>
          <p:cNvPr id="30" name="Image 8" descr="icons/arrow_g.png"/>
          <p:cNvPicPr>
            <a:picLocks noChangeAspect="1"/>
          </p:cNvPicPr>
          <p:nvPr/>
        </p:nvPicPr>
        <p:blipFill>
          <a:blip r:embed="rId5"/>
          <a:stretch>
            <a:fillRect/>
          </a:stretch>
        </p:blipFill>
        <p:spPr>
          <a:xfrm>
            <a:off x="9194292" y="1645920"/>
            <a:ext cx="137160" cy="137160"/>
          </a:xfrm>
          <a:prstGeom prst="rect">
            <a:avLst/>
          </a:prstGeom>
        </p:spPr>
      </p:pic>
      <p:sp>
        <p:nvSpPr>
          <p:cNvPr id="31" name="Shape 20"/>
          <p:cNvSpPr/>
          <p:nvPr/>
        </p:nvSpPr>
        <p:spPr>
          <a:xfrm>
            <a:off x="9240012" y="1463040"/>
            <a:ext cx="1207008" cy="512064"/>
          </a:xfrm>
          <a:prstGeom prst="roundRect">
            <a:avLst>
              <a:gd name="adj" fmla="val 50000"/>
            </a:avLst>
          </a:prstGeom>
          <a:solidFill>
            <a:srgbClr val="EAF6EF"/>
          </a:solidFill>
          <a:ln/>
        </p:spPr>
        <p:txBody>
          <a:bodyPr/>
          <a:lstStyle/>
          <a:p>
            <a:endParaRPr lang="en-US"/>
          </a:p>
        </p:txBody>
      </p:sp>
      <p:sp>
        <p:nvSpPr>
          <p:cNvPr id="32" name="Text 21"/>
          <p:cNvSpPr/>
          <p:nvPr/>
        </p:nvSpPr>
        <p:spPr>
          <a:xfrm>
            <a:off x="9240012"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SQL staging</a:t>
            </a:r>
            <a:endParaRPr lang="en-US" sz="1050" dirty="0"/>
          </a:p>
        </p:txBody>
      </p:sp>
      <p:pic>
        <p:nvPicPr>
          <p:cNvPr id="33" name="Image 9" descr="icons/arrow_g.png"/>
          <p:cNvPicPr>
            <a:picLocks noChangeAspect="1"/>
          </p:cNvPicPr>
          <p:nvPr/>
        </p:nvPicPr>
        <p:blipFill>
          <a:blip r:embed="rId5"/>
          <a:stretch>
            <a:fillRect/>
          </a:stretch>
        </p:blipFill>
        <p:spPr>
          <a:xfrm>
            <a:off x="10442448" y="1645920"/>
            <a:ext cx="137160" cy="137160"/>
          </a:xfrm>
          <a:prstGeom prst="rect">
            <a:avLst/>
          </a:prstGeom>
        </p:spPr>
      </p:pic>
      <p:sp>
        <p:nvSpPr>
          <p:cNvPr id="34" name="Shape 22"/>
          <p:cNvSpPr/>
          <p:nvPr/>
        </p:nvSpPr>
        <p:spPr>
          <a:xfrm>
            <a:off x="10488168" y="1463040"/>
            <a:ext cx="1207008" cy="512064"/>
          </a:xfrm>
          <a:prstGeom prst="roundRect">
            <a:avLst>
              <a:gd name="adj" fmla="val 50000"/>
            </a:avLst>
          </a:prstGeom>
          <a:solidFill>
            <a:srgbClr val="EAF6EF"/>
          </a:solidFill>
          <a:ln/>
        </p:spPr>
        <p:txBody>
          <a:bodyPr/>
          <a:lstStyle/>
          <a:p>
            <a:endParaRPr lang="en-US"/>
          </a:p>
        </p:txBody>
      </p:sp>
      <p:sp>
        <p:nvSpPr>
          <p:cNvPr id="35" name="Text 23"/>
          <p:cNvSpPr/>
          <p:nvPr/>
        </p:nvSpPr>
        <p:spPr>
          <a:xfrm>
            <a:off x="10488168" y="1463040"/>
            <a:ext cx="1207008" cy="512064"/>
          </a:xfrm>
          <a:prstGeom prst="rect">
            <a:avLst/>
          </a:prstGeom>
          <a:noFill/>
          <a:ln/>
        </p:spPr>
        <p:txBody>
          <a:bodyPr wrap="square" lIns="0" tIns="0" rIns="0" bIns="0" rtlCol="0" anchor="ctr"/>
          <a:lstStyle/>
          <a:p>
            <a:pPr marL="0" indent="0" algn="ctr">
              <a:buNone/>
            </a:pPr>
            <a:r>
              <a:rPr lang="en-US" sz="1050" b="1" dirty="0">
                <a:solidFill>
                  <a:srgbClr val="0E5B33"/>
                </a:solidFill>
                <a:latin typeface="Calibri" pitchFamily="34" charset="0"/>
                <a:ea typeface="Calibri" pitchFamily="34" charset="-122"/>
                <a:cs typeface="Calibri" pitchFamily="34" charset="-120"/>
              </a:rPr>
              <a:t>SQL MERGE</a:t>
            </a:r>
            <a:endParaRPr lang="en-US" sz="1050" dirty="0"/>
          </a:p>
        </p:txBody>
      </p:sp>
      <p:sp>
        <p:nvSpPr>
          <p:cNvPr id="36" name="Shape 24"/>
          <p:cNvSpPr/>
          <p:nvPr/>
        </p:nvSpPr>
        <p:spPr>
          <a:xfrm>
            <a:off x="502920" y="2292401"/>
            <a:ext cx="3310128" cy="3452774"/>
          </a:xfrm>
          <a:prstGeom prst="roundRect">
            <a:avLst>
              <a:gd name="adj" fmla="val 1657"/>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37" name="Image 10" descr="img/03_producer_Incremental_publishing.png"/>
          <p:cNvPicPr>
            <a:picLocks noChangeAspect="1"/>
          </p:cNvPicPr>
          <p:nvPr/>
        </p:nvPicPr>
        <p:blipFill>
          <a:blip r:embed="rId6"/>
          <a:stretch>
            <a:fillRect/>
          </a:stretch>
        </p:blipFill>
        <p:spPr>
          <a:xfrm>
            <a:off x="566928" y="2356409"/>
            <a:ext cx="3182112" cy="3324758"/>
          </a:xfrm>
          <a:prstGeom prst="rect">
            <a:avLst/>
          </a:prstGeom>
        </p:spPr>
      </p:pic>
      <p:sp>
        <p:nvSpPr>
          <p:cNvPr id="38" name="Text 25"/>
          <p:cNvSpPr/>
          <p:nvPr/>
        </p:nvSpPr>
        <p:spPr>
          <a:xfrm>
            <a:off x="502920" y="5852160"/>
            <a:ext cx="3310128"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Producer → Consumer → Bronze JSONL (offset-tracked)</a:t>
            </a:r>
            <a:endParaRPr lang="en-US" sz="1050" dirty="0"/>
          </a:p>
        </p:txBody>
      </p:sp>
      <p:sp>
        <p:nvSpPr>
          <p:cNvPr id="39" name="Shape 26"/>
          <p:cNvSpPr/>
          <p:nvPr/>
        </p:nvSpPr>
        <p:spPr>
          <a:xfrm>
            <a:off x="4521251" y="2212848"/>
            <a:ext cx="2689250" cy="1463040"/>
          </a:xfrm>
          <a:prstGeom prst="roundRect">
            <a:avLst>
              <a:gd name="adj" fmla="val 375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40" name="Image 11" descr="img/01_fastapi_endpoint.png"/>
          <p:cNvPicPr>
            <a:picLocks noChangeAspect="1"/>
          </p:cNvPicPr>
          <p:nvPr/>
        </p:nvPicPr>
        <p:blipFill>
          <a:blip r:embed="rId7"/>
          <a:stretch>
            <a:fillRect/>
          </a:stretch>
        </p:blipFill>
        <p:spPr>
          <a:xfrm>
            <a:off x="4566971" y="2258568"/>
            <a:ext cx="2597810" cy="1371600"/>
          </a:xfrm>
          <a:prstGeom prst="rect">
            <a:avLst/>
          </a:prstGeom>
        </p:spPr>
      </p:pic>
      <p:sp>
        <p:nvSpPr>
          <p:cNvPr id="41" name="Text 27"/>
          <p:cNvSpPr/>
          <p:nvPr/>
        </p:nvSpPr>
        <p:spPr>
          <a:xfrm>
            <a:off x="3977640" y="3675888"/>
            <a:ext cx="3776472"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FastAPI  /transactions/next</a:t>
            </a:r>
            <a:endParaRPr lang="en-US" sz="1050" dirty="0"/>
          </a:p>
        </p:txBody>
      </p:sp>
      <p:sp>
        <p:nvSpPr>
          <p:cNvPr id="42" name="Shape 28"/>
          <p:cNvSpPr/>
          <p:nvPr/>
        </p:nvSpPr>
        <p:spPr>
          <a:xfrm>
            <a:off x="7955280" y="2471166"/>
            <a:ext cx="3776472" cy="946404"/>
          </a:xfrm>
          <a:prstGeom prst="roundRect">
            <a:avLst>
              <a:gd name="adj" fmla="val 5797"/>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43" name="Image 12" descr="img/02_kafka_running.png"/>
          <p:cNvPicPr>
            <a:picLocks noChangeAspect="1"/>
          </p:cNvPicPr>
          <p:nvPr/>
        </p:nvPicPr>
        <p:blipFill>
          <a:blip r:embed="rId8"/>
          <a:stretch>
            <a:fillRect/>
          </a:stretch>
        </p:blipFill>
        <p:spPr>
          <a:xfrm>
            <a:off x="8001000" y="2516886"/>
            <a:ext cx="3685032" cy="854964"/>
          </a:xfrm>
          <a:prstGeom prst="rect">
            <a:avLst/>
          </a:prstGeom>
        </p:spPr>
      </p:pic>
      <p:sp>
        <p:nvSpPr>
          <p:cNvPr id="44" name="Text 29"/>
          <p:cNvSpPr/>
          <p:nvPr/>
        </p:nvSpPr>
        <p:spPr>
          <a:xfrm>
            <a:off x="7955280" y="3675888"/>
            <a:ext cx="3776472"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Kafka KRaft broker running (docker)</a:t>
            </a:r>
            <a:endParaRPr lang="en-US" sz="1050" dirty="0"/>
          </a:p>
        </p:txBody>
      </p:sp>
      <p:sp>
        <p:nvSpPr>
          <p:cNvPr id="45" name="Shape 30"/>
          <p:cNvSpPr/>
          <p:nvPr/>
        </p:nvSpPr>
        <p:spPr>
          <a:xfrm>
            <a:off x="4523080" y="4041648"/>
            <a:ext cx="2685593" cy="1463040"/>
          </a:xfrm>
          <a:prstGeom prst="roundRect">
            <a:avLst>
              <a:gd name="adj" fmla="val 375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46" name="Image 13" descr="img/06_silver_parquet.png"/>
          <p:cNvPicPr>
            <a:picLocks noChangeAspect="1"/>
          </p:cNvPicPr>
          <p:nvPr/>
        </p:nvPicPr>
        <p:blipFill>
          <a:blip r:embed="rId9"/>
          <a:stretch>
            <a:fillRect/>
          </a:stretch>
        </p:blipFill>
        <p:spPr>
          <a:xfrm>
            <a:off x="4568800" y="4087368"/>
            <a:ext cx="2594153" cy="1371600"/>
          </a:xfrm>
          <a:prstGeom prst="rect">
            <a:avLst/>
          </a:prstGeom>
        </p:spPr>
      </p:pic>
      <p:sp>
        <p:nvSpPr>
          <p:cNvPr id="47" name="Text 31"/>
          <p:cNvSpPr/>
          <p:nvPr/>
        </p:nvSpPr>
        <p:spPr>
          <a:xfrm>
            <a:off x="3977640" y="5504688"/>
            <a:ext cx="3776472"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Silver micro-batch: new=99 · quarantined=0</a:t>
            </a:r>
            <a:endParaRPr lang="en-US" sz="1050" dirty="0"/>
          </a:p>
        </p:txBody>
      </p:sp>
      <p:sp>
        <p:nvSpPr>
          <p:cNvPr id="48" name="Shape 32"/>
          <p:cNvSpPr/>
          <p:nvPr/>
        </p:nvSpPr>
        <p:spPr>
          <a:xfrm>
            <a:off x="8543239" y="4041648"/>
            <a:ext cx="2600554" cy="1463040"/>
          </a:xfrm>
          <a:prstGeom prst="roundRect">
            <a:avLst>
              <a:gd name="adj" fmla="val 375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49" name="Image 14" descr="img/05_bronze_jsonl.png"/>
          <p:cNvPicPr>
            <a:picLocks noChangeAspect="1"/>
          </p:cNvPicPr>
          <p:nvPr/>
        </p:nvPicPr>
        <p:blipFill>
          <a:blip r:embed="rId10"/>
          <a:stretch>
            <a:fillRect/>
          </a:stretch>
        </p:blipFill>
        <p:spPr>
          <a:xfrm>
            <a:off x="8588959" y="4087368"/>
            <a:ext cx="2509114" cy="1371600"/>
          </a:xfrm>
          <a:prstGeom prst="rect">
            <a:avLst/>
          </a:prstGeom>
        </p:spPr>
      </p:pic>
      <p:sp>
        <p:nvSpPr>
          <p:cNvPr id="50" name="Text 33"/>
          <p:cNvSpPr/>
          <p:nvPr/>
        </p:nvSpPr>
        <p:spPr>
          <a:xfrm>
            <a:off x="7955280" y="5504688"/>
            <a:ext cx="3776472"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Bronze JSONL — raw event + Kafka lineage</a:t>
            </a:r>
            <a:endParaRPr lang="en-US" sz="1050" dirty="0"/>
          </a:p>
        </p:txBody>
      </p:sp>
      <p:sp>
        <p:nvSpPr>
          <p:cNvPr id="51" name="Shape 34"/>
          <p:cNvSpPr/>
          <p:nvPr/>
        </p:nvSpPr>
        <p:spPr>
          <a:xfrm>
            <a:off x="502920" y="6272784"/>
            <a:ext cx="11183112" cy="457200"/>
          </a:xfrm>
          <a:prstGeom prst="roundRect">
            <a:avLst>
              <a:gd name="adj" fmla="val 18000"/>
            </a:avLst>
          </a:prstGeom>
          <a:solidFill>
            <a:srgbClr val="EAF6EF"/>
          </a:solidFill>
          <a:ln w="12700">
            <a:solidFill>
              <a:srgbClr val="BFE3CC"/>
            </a:solidFill>
            <a:prstDash val="solid"/>
          </a:ln>
        </p:spPr>
        <p:txBody>
          <a:bodyPr/>
          <a:lstStyle/>
          <a:p>
            <a:endParaRPr lang="en-US"/>
          </a:p>
        </p:txBody>
      </p:sp>
      <p:pic>
        <p:nvPicPr>
          <p:cNvPr id="52" name="Image 15" descr="icons/bolt.png"/>
          <p:cNvPicPr>
            <a:picLocks noChangeAspect="1"/>
          </p:cNvPicPr>
          <p:nvPr/>
        </p:nvPicPr>
        <p:blipFill>
          <a:blip r:embed="rId11"/>
          <a:stretch>
            <a:fillRect/>
          </a:stretch>
        </p:blipFill>
        <p:spPr>
          <a:xfrm>
            <a:off x="685800" y="6364224"/>
            <a:ext cx="274320" cy="274320"/>
          </a:xfrm>
          <a:prstGeom prst="rect">
            <a:avLst/>
          </a:prstGeom>
        </p:spPr>
      </p:pic>
      <p:sp>
        <p:nvSpPr>
          <p:cNvPr id="53" name="Text 35"/>
          <p:cNvSpPr/>
          <p:nvPr/>
        </p:nvSpPr>
        <p:spPr>
          <a:xfrm>
            <a:off x="1069848" y="6272784"/>
            <a:ext cx="10515600" cy="457200"/>
          </a:xfrm>
          <a:prstGeom prst="rect">
            <a:avLst/>
          </a:prstGeom>
          <a:noFill/>
          <a:ln/>
        </p:spPr>
        <p:txBody>
          <a:bodyPr wrap="square" lIns="0" tIns="0" rIns="0" bIns="0" rtlCol="0" anchor="ctr"/>
          <a:lstStyle/>
          <a:p>
            <a:pPr marL="0" indent="0">
              <a:buNone/>
            </a:pPr>
            <a:r>
              <a:rPr lang="en-US" sz="1100" b="1" dirty="0">
                <a:solidFill>
                  <a:srgbClr val="0E5B33"/>
                </a:solidFill>
                <a:latin typeface="Calibri" pitchFamily="34" charset="0"/>
                <a:ea typeface="Calibri" pitchFamily="34" charset="-122"/>
                <a:cs typeface="Calibri" pitchFamily="34" charset="-120"/>
              </a:rPr>
              <a:t>Only fact_transactions is streamed</a:t>
            </a:r>
            <a:r>
              <a:rPr lang="en-US" sz="1100" dirty="0">
                <a:solidFill>
                  <a:srgbClr val="1B5E3A"/>
                </a:solidFill>
                <a:latin typeface="Calibri" pitchFamily="34" charset="0"/>
                <a:ea typeface="Calibri" pitchFamily="34" charset="-122"/>
                <a:cs typeface="Calibri" pitchFamily="34" charset="-120"/>
              </a:rPr>
              <a:t> — dimensions stay batch-loaded; the idempotent SQL MERGE on </a:t>
            </a:r>
            <a:r>
              <a:rPr lang="en-US" sz="1100" b="1" dirty="0">
                <a:solidFill>
                  <a:srgbClr val="0E5B33"/>
                </a:solidFill>
                <a:latin typeface="Calibri" pitchFamily="34" charset="0"/>
                <a:ea typeface="Calibri" pitchFamily="34" charset="-122"/>
                <a:cs typeface="Calibri" pitchFamily="34" charset="-120"/>
              </a:rPr>
              <a:t>transaction_id</a:t>
            </a:r>
            <a:r>
              <a:rPr lang="en-US" sz="1100" dirty="0">
                <a:solidFill>
                  <a:srgbClr val="1B5E3A"/>
                </a:solidFill>
                <a:latin typeface="Calibri" pitchFamily="34" charset="0"/>
                <a:ea typeface="Calibri" pitchFamily="34" charset="-122"/>
                <a:cs typeface="Calibri" pitchFamily="34" charset="-120"/>
              </a:rPr>
              <a:t> upserts only new or changed rows, never reloading history.</a:t>
            </a:r>
            <a:endParaRPr lang="en-US" sz="1100" dirty="0"/>
          </a:p>
        </p:txBody>
      </p:sp>
      <p:sp>
        <p:nvSpPr>
          <p:cNvPr id="54" name="Text 3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1F9E54"/>
          </a:solidFill>
          <a:ln/>
          <a:effectLst>
            <a:outerShdw blurRad="88900" dist="25400" dir="5400000" algn="bl" rotWithShape="0">
              <a:srgbClr val="13233F">
                <a:alpha val="12000"/>
              </a:srgbClr>
            </a:outerShdw>
          </a:effectLst>
        </p:spPr>
        <p:txBody>
          <a:bodyPr/>
          <a:lstStyle/>
          <a:p>
            <a:endParaRPr lang="en-US"/>
          </a:p>
        </p:txBody>
      </p:sp>
      <p:pic>
        <p:nvPicPr>
          <p:cNvPr id="3" name="Image 0" descr="icons/reliability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1F9E54"/>
                </a:solidFill>
                <a:latin typeface="Calibri" pitchFamily="34" charset="0"/>
                <a:ea typeface="Calibri" pitchFamily="34" charset="-122"/>
                <a:cs typeface="Calibri" pitchFamily="34" charset="-120"/>
              </a:rPr>
              <a:t>INCREMENTAL PIPELINE</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Reliability &amp; Data Quality</a:t>
            </a:r>
            <a:endParaRPr lang="en-US" sz="2600" dirty="0"/>
          </a:p>
        </p:txBody>
      </p:sp>
      <p:sp>
        <p:nvSpPr>
          <p:cNvPr id="6" name="Shape 3"/>
          <p:cNvSpPr/>
          <p:nvPr/>
        </p:nvSpPr>
        <p:spPr>
          <a:xfrm>
            <a:off x="502920" y="1417320"/>
            <a:ext cx="5440680" cy="566928"/>
          </a:xfrm>
          <a:prstGeom prst="roundRect">
            <a:avLst>
              <a:gd name="adj" fmla="val 11290"/>
            </a:avLst>
          </a:prstGeom>
          <a:solidFill>
            <a:srgbClr val="F4F7FB"/>
          </a:solidFill>
          <a:ln w="12700">
            <a:solidFill>
              <a:srgbClr val="D9E1EC"/>
            </a:solidFill>
            <a:prstDash val="solid"/>
          </a:ln>
        </p:spPr>
        <p:txBody>
          <a:bodyPr/>
          <a:lstStyle/>
          <a:p>
            <a:endParaRPr lang="en-US"/>
          </a:p>
        </p:txBody>
      </p:sp>
      <p:pic>
        <p:nvPicPr>
          <p:cNvPr id="7" name="Image 1" descr="icons/check.png"/>
          <p:cNvPicPr>
            <a:picLocks noChangeAspect="1"/>
          </p:cNvPicPr>
          <p:nvPr/>
        </p:nvPicPr>
        <p:blipFill>
          <a:blip r:embed="rId4"/>
          <a:stretch>
            <a:fillRect/>
          </a:stretch>
        </p:blipFill>
        <p:spPr>
          <a:xfrm>
            <a:off x="667512" y="1572768"/>
            <a:ext cx="256032" cy="256032"/>
          </a:xfrm>
          <a:prstGeom prst="rect">
            <a:avLst/>
          </a:prstGeom>
        </p:spPr>
      </p:pic>
      <p:sp>
        <p:nvSpPr>
          <p:cNvPr id="8" name="Text 4"/>
          <p:cNvSpPr/>
          <p:nvPr/>
        </p:nvSpPr>
        <p:spPr>
          <a:xfrm>
            <a:off x="1033272" y="1417320"/>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Kafka KRaft (no ZooKeeper)   </a:t>
            </a:r>
            <a:r>
              <a:rPr lang="en-US" sz="1000" dirty="0">
                <a:solidFill>
                  <a:srgbClr val="5A6B82"/>
                </a:solidFill>
                <a:latin typeface="Calibri" pitchFamily="34" charset="0"/>
                <a:ea typeface="Calibri" pitchFamily="34" charset="-122"/>
                <a:cs typeface="Calibri" pitchFamily="34" charset="-120"/>
              </a:rPr>
              <a:t>fewer moving parts, single-node quorum</a:t>
            </a:r>
            <a:endParaRPr lang="en-US" sz="1150" dirty="0"/>
          </a:p>
        </p:txBody>
      </p:sp>
      <p:sp>
        <p:nvSpPr>
          <p:cNvPr id="9" name="Shape 5"/>
          <p:cNvSpPr/>
          <p:nvPr/>
        </p:nvSpPr>
        <p:spPr>
          <a:xfrm>
            <a:off x="6217920" y="1417320"/>
            <a:ext cx="5440680" cy="566928"/>
          </a:xfrm>
          <a:prstGeom prst="roundRect">
            <a:avLst>
              <a:gd name="adj" fmla="val 11290"/>
            </a:avLst>
          </a:prstGeom>
          <a:solidFill>
            <a:srgbClr val="F7FAFC"/>
          </a:solidFill>
          <a:ln w="12700">
            <a:solidFill>
              <a:srgbClr val="D9E1EC"/>
            </a:solidFill>
            <a:prstDash val="solid"/>
          </a:ln>
        </p:spPr>
        <p:txBody>
          <a:bodyPr/>
          <a:lstStyle/>
          <a:p>
            <a:endParaRPr lang="en-US"/>
          </a:p>
        </p:txBody>
      </p:sp>
      <p:pic>
        <p:nvPicPr>
          <p:cNvPr id="10" name="Image 2" descr="icons/check.png"/>
          <p:cNvPicPr>
            <a:picLocks noChangeAspect="1"/>
          </p:cNvPicPr>
          <p:nvPr/>
        </p:nvPicPr>
        <p:blipFill>
          <a:blip r:embed="rId4"/>
          <a:stretch>
            <a:fillRect/>
          </a:stretch>
        </p:blipFill>
        <p:spPr>
          <a:xfrm>
            <a:off x="6382512" y="1572768"/>
            <a:ext cx="256032" cy="256032"/>
          </a:xfrm>
          <a:prstGeom prst="rect">
            <a:avLst/>
          </a:prstGeom>
        </p:spPr>
      </p:pic>
      <p:sp>
        <p:nvSpPr>
          <p:cNvPr id="11" name="Text 6"/>
          <p:cNvSpPr/>
          <p:nvPr/>
        </p:nvSpPr>
        <p:spPr>
          <a:xfrm>
            <a:off x="6748272" y="1417320"/>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At-least-once consumer   </a:t>
            </a:r>
            <a:r>
              <a:rPr lang="en-US" sz="1000" dirty="0">
                <a:solidFill>
                  <a:srgbClr val="5A6B82"/>
                </a:solidFill>
                <a:latin typeface="Calibri" pitchFamily="34" charset="0"/>
                <a:ea typeface="Calibri" pitchFamily="34" charset="-122"/>
                <a:cs typeface="Calibri" pitchFamily="34" charset="-120"/>
              </a:rPr>
              <a:t>write Bronze, then commit offset — crash replays</a:t>
            </a:r>
            <a:endParaRPr lang="en-US" sz="1150" dirty="0"/>
          </a:p>
        </p:txBody>
      </p:sp>
      <p:sp>
        <p:nvSpPr>
          <p:cNvPr id="12" name="Shape 7"/>
          <p:cNvSpPr/>
          <p:nvPr/>
        </p:nvSpPr>
        <p:spPr>
          <a:xfrm>
            <a:off x="502920" y="2093976"/>
            <a:ext cx="5440680" cy="566928"/>
          </a:xfrm>
          <a:prstGeom prst="roundRect">
            <a:avLst>
              <a:gd name="adj" fmla="val 11290"/>
            </a:avLst>
          </a:prstGeom>
          <a:solidFill>
            <a:srgbClr val="F4F7FB"/>
          </a:solidFill>
          <a:ln w="12700">
            <a:solidFill>
              <a:srgbClr val="D9E1EC"/>
            </a:solidFill>
            <a:prstDash val="solid"/>
          </a:ln>
        </p:spPr>
        <p:txBody>
          <a:bodyPr/>
          <a:lstStyle/>
          <a:p>
            <a:endParaRPr lang="en-US"/>
          </a:p>
        </p:txBody>
      </p:sp>
      <p:pic>
        <p:nvPicPr>
          <p:cNvPr id="13" name="Image 3" descr="icons/check.png"/>
          <p:cNvPicPr>
            <a:picLocks noChangeAspect="1"/>
          </p:cNvPicPr>
          <p:nvPr/>
        </p:nvPicPr>
        <p:blipFill>
          <a:blip r:embed="rId4"/>
          <a:stretch>
            <a:fillRect/>
          </a:stretch>
        </p:blipFill>
        <p:spPr>
          <a:xfrm>
            <a:off x="667512" y="2249424"/>
            <a:ext cx="256032" cy="256032"/>
          </a:xfrm>
          <a:prstGeom prst="rect">
            <a:avLst/>
          </a:prstGeom>
        </p:spPr>
      </p:pic>
      <p:sp>
        <p:nvSpPr>
          <p:cNvPr id="14" name="Text 8"/>
          <p:cNvSpPr/>
          <p:nvPr/>
        </p:nvSpPr>
        <p:spPr>
          <a:xfrm>
            <a:off x="1033272" y="2093976"/>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DLQ for poison messages   </a:t>
            </a:r>
            <a:r>
              <a:rPr lang="en-US" sz="1000" dirty="0">
                <a:solidFill>
                  <a:srgbClr val="5A6B82"/>
                </a:solidFill>
                <a:latin typeface="Calibri" pitchFamily="34" charset="0"/>
                <a:ea typeface="Calibri" pitchFamily="34" charset="-122"/>
                <a:cs typeface="Calibri" pitchFamily="34" charset="-120"/>
              </a:rPr>
              <a:t>unparseable events isolated, pipeline keeps flowing</a:t>
            </a:r>
            <a:endParaRPr lang="en-US" sz="1150" dirty="0"/>
          </a:p>
        </p:txBody>
      </p:sp>
      <p:sp>
        <p:nvSpPr>
          <p:cNvPr id="15" name="Shape 9"/>
          <p:cNvSpPr/>
          <p:nvPr/>
        </p:nvSpPr>
        <p:spPr>
          <a:xfrm>
            <a:off x="6217920" y="2093976"/>
            <a:ext cx="5440680" cy="566928"/>
          </a:xfrm>
          <a:prstGeom prst="roundRect">
            <a:avLst>
              <a:gd name="adj" fmla="val 11290"/>
            </a:avLst>
          </a:prstGeom>
          <a:solidFill>
            <a:srgbClr val="F7FAFC"/>
          </a:solidFill>
          <a:ln w="12700">
            <a:solidFill>
              <a:srgbClr val="D9E1EC"/>
            </a:solidFill>
            <a:prstDash val="solid"/>
          </a:ln>
        </p:spPr>
        <p:txBody>
          <a:bodyPr/>
          <a:lstStyle/>
          <a:p>
            <a:endParaRPr lang="en-US"/>
          </a:p>
        </p:txBody>
      </p:sp>
      <p:pic>
        <p:nvPicPr>
          <p:cNvPr id="16" name="Image 4" descr="icons/check.png"/>
          <p:cNvPicPr>
            <a:picLocks noChangeAspect="1"/>
          </p:cNvPicPr>
          <p:nvPr/>
        </p:nvPicPr>
        <p:blipFill>
          <a:blip r:embed="rId4"/>
          <a:stretch>
            <a:fillRect/>
          </a:stretch>
        </p:blipFill>
        <p:spPr>
          <a:xfrm>
            <a:off x="6382512" y="2249424"/>
            <a:ext cx="256032" cy="256032"/>
          </a:xfrm>
          <a:prstGeom prst="rect">
            <a:avLst/>
          </a:prstGeom>
        </p:spPr>
      </p:pic>
      <p:sp>
        <p:nvSpPr>
          <p:cNvPr id="17" name="Text 10"/>
          <p:cNvSpPr/>
          <p:nvPr/>
        </p:nvSpPr>
        <p:spPr>
          <a:xfrm>
            <a:off x="6748272" y="2093976"/>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Append-only Bronze JSONL   </a:t>
            </a:r>
            <a:r>
              <a:rPr lang="en-US" sz="1000" dirty="0">
                <a:solidFill>
                  <a:srgbClr val="5A6B82"/>
                </a:solidFill>
                <a:latin typeface="Calibri" pitchFamily="34" charset="0"/>
                <a:ea typeface="Calibri" pitchFamily="34" charset="-122"/>
                <a:cs typeface="Calibri" pitchFamily="34" charset="-120"/>
              </a:rPr>
              <a:t>immutable raw history, never mutated</a:t>
            </a:r>
            <a:endParaRPr lang="en-US" sz="1150" dirty="0"/>
          </a:p>
        </p:txBody>
      </p:sp>
      <p:sp>
        <p:nvSpPr>
          <p:cNvPr id="18" name="Shape 11"/>
          <p:cNvSpPr/>
          <p:nvPr/>
        </p:nvSpPr>
        <p:spPr>
          <a:xfrm>
            <a:off x="502920" y="2770632"/>
            <a:ext cx="5440680" cy="566928"/>
          </a:xfrm>
          <a:prstGeom prst="roundRect">
            <a:avLst>
              <a:gd name="adj" fmla="val 11290"/>
            </a:avLst>
          </a:prstGeom>
          <a:solidFill>
            <a:srgbClr val="F4F7FB"/>
          </a:solidFill>
          <a:ln w="12700">
            <a:solidFill>
              <a:srgbClr val="D9E1EC"/>
            </a:solidFill>
            <a:prstDash val="solid"/>
          </a:ln>
        </p:spPr>
        <p:txBody>
          <a:bodyPr/>
          <a:lstStyle/>
          <a:p>
            <a:endParaRPr lang="en-US"/>
          </a:p>
        </p:txBody>
      </p:sp>
      <p:pic>
        <p:nvPicPr>
          <p:cNvPr id="19" name="Image 5" descr="icons/check.png"/>
          <p:cNvPicPr>
            <a:picLocks noChangeAspect="1"/>
          </p:cNvPicPr>
          <p:nvPr/>
        </p:nvPicPr>
        <p:blipFill>
          <a:blip r:embed="rId4"/>
          <a:stretch>
            <a:fillRect/>
          </a:stretch>
        </p:blipFill>
        <p:spPr>
          <a:xfrm>
            <a:off x="667512" y="2926080"/>
            <a:ext cx="256032" cy="256032"/>
          </a:xfrm>
          <a:prstGeom prst="rect">
            <a:avLst/>
          </a:prstGeom>
        </p:spPr>
      </p:pic>
      <p:sp>
        <p:nvSpPr>
          <p:cNvPr id="20" name="Text 12"/>
          <p:cNvSpPr/>
          <p:nvPr/>
        </p:nvSpPr>
        <p:spPr>
          <a:xfrm>
            <a:off x="1033272" y="2770632"/>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Silver offset checkpoint   </a:t>
            </a:r>
            <a:r>
              <a:rPr lang="en-US" sz="1000" dirty="0">
                <a:solidFill>
                  <a:srgbClr val="5A6B82"/>
                </a:solidFill>
                <a:latin typeface="Calibri" pitchFamily="34" charset="0"/>
                <a:ea typeface="Calibri" pitchFamily="34" charset="-122"/>
                <a:cs typeface="Calibri" pitchFamily="34" charset="-120"/>
              </a:rPr>
              <a:t>Kafka offset = replay-safe watermark</a:t>
            </a:r>
            <a:endParaRPr lang="en-US" sz="1150" dirty="0"/>
          </a:p>
        </p:txBody>
      </p:sp>
      <p:sp>
        <p:nvSpPr>
          <p:cNvPr id="21" name="Shape 13"/>
          <p:cNvSpPr/>
          <p:nvPr/>
        </p:nvSpPr>
        <p:spPr>
          <a:xfrm>
            <a:off x="6217920" y="2770632"/>
            <a:ext cx="5440680" cy="566928"/>
          </a:xfrm>
          <a:prstGeom prst="roundRect">
            <a:avLst>
              <a:gd name="adj" fmla="val 11290"/>
            </a:avLst>
          </a:prstGeom>
          <a:solidFill>
            <a:srgbClr val="F7FAFC"/>
          </a:solidFill>
          <a:ln w="12700">
            <a:solidFill>
              <a:srgbClr val="D9E1EC"/>
            </a:solidFill>
            <a:prstDash val="solid"/>
          </a:ln>
        </p:spPr>
        <p:txBody>
          <a:bodyPr/>
          <a:lstStyle/>
          <a:p>
            <a:endParaRPr lang="en-US"/>
          </a:p>
        </p:txBody>
      </p:sp>
      <p:pic>
        <p:nvPicPr>
          <p:cNvPr id="22" name="Image 6" descr="icons/check.png"/>
          <p:cNvPicPr>
            <a:picLocks noChangeAspect="1"/>
          </p:cNvPicPr>
          <p:nvPr/>
        </p:nvPicPr>
        <p:blipFill>
          <a:blip r:embed="rId4"/>
          <a:stretch>
            <a:fillRect/>
          </a:stretch>
        </p:blipFill>
        <p:spPr>
          <a:xfrm>
            <a:off x="6382512" y="2926080"/>
            <a:ext cx="256032" cy="256032"/>
          </a:xfrm>
          <a:prstGeom prst="rect">
            <a:avLst/>
          </a:prstGeom>
        </p:spPr>
      </p:pic>
      <p:sp>
        <p:nvSpPr>
          <p:cNvPr id="23" name="Text 14"/>
          <p:cNvSpPr/>
          <p:nvPr/>
        </p:nvSpPr>
        <p:spPr>
          <a:xfrm>
            <a:off x="6748272" y="2770632"/>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Quarantine with _dq_reason   </a:t>
            </a:r>
            <a:r>
              <a:rPr lang="en-US" sz="1000" dirty="0">
                <a:solidFill>
                  <a:srgbClr val="5A6B82"/>
                </a:solidFill>
                <a:latin typeface="Calibri" pitchFamily="34" charset="0"/>
                <a:ea typeface="Calibri" pitchFamily="34" charset="-122"/>
                <a:cs typeface="Calibri" pitchFamily="34" charset="-120"/>
              </a:rPr>
              <a:t>invalid rows isolated, not dropped</a:t>
            </a:r>
            <a:endParaRPr lang="en-US" sz="1150" dirty="0"/>
          </a:p>
        </p:txBody>
      </p:sp>
      <p:sp>
        <p:nvSpPr>
          <p:cNvPr id="24" name="Shape 15"/>
          <p:cNvSpPr/>
          <p:nvPr/>
        </p:nvSpPr>
        <p:spPr>
          <a:xfrm>
            <a:off x="502920" y="3447288"/>
            <a:ext cx="5440680" cy="566928"/>
          </a:xfrm>
          <a:prstGeom prst="roundRect">
            <a:avLst>
              <a:gd name="adj" fmla="val 11290"/>
            </a:avLst>
          </a:prstGeom>
          <a:solidFill>
            <a:srgbClr val="F4F7FB"/>
          </a:solidFill>
          <a:ln w="12700">
            <a:solidFill>
              <a:srgbClr val="D9E1EC"/>
            </a:solidFill>
            <a:prstDash val="solid"/>
          </a:ln>
        </p:spPr>
        <p:txBody>
          <a:bodyPr/>
          <a:lstStyle/>
          <a:p>
            <a:endParaRPr lang="en-US"/>
          </a:p>
        </p:txBody>
      </p:sp>
      <p:pic>
        <p:nvPicPr>
          <p:cNvPr id="25" name="Image 7" descr="icons/check.png"/>
          <p:cNvPicPr>
            <a:picLocks noChangeAspect="1"/>
          </p:cNvPicPr>
          <p:nvPr/>
        </p:nvPicPr>
        <p:blipFill>
          <a:blip r:embed="rId4"/>
          <a:stretch>
            <a:fillRect/>
          </a:stretch>
        </p:blipFill>
        <p:spPr>
          <a:xfrm>
            <a:off x="667512" y="3602736"/>
            <a:ext cx="256032" cy="256032"/>
          </a:xfrm>
          <a:prstGeom prst="rect">
            <a:avLst/>
          </a:prstGeom>
        </p:spPr>
      </p:pic>
      <p:sp>
        <p:nvSpPr>
          <p:cNvPr id="26" name="Text 16"/>
          <p:cNvSpPr/>
          <p:nvPr/>
        </p:nvSpPr>
        <p:spPr>
          <a:xfrm>
            <a:off x="1033272" y="3447288"/>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SQL staging before MERGE   </a:t>
            </a:r>
            <a:r>
              <a:rPr lang="en-US" sz="1000" dirty="0">
                <a:solidFill>
                  <a:srgbClr val="5A6B82"/>
                </a:solidFill>
                <a:latin typeface="Calibri" pitchFamily="34" charset="0"/>
                <a:ea typeface="Calibri" pitchFamily="34" charset="-122"/>
                <a:cs typeface="Calibri" pitchFamily="34" charset="-120"/>
              </a:rPr>
              <a:t>validate &amp; reject before touching the warehouse</a:t>
            </a:r>
            <a:endParaRPr lang="en-US" sz="1150" dirty="0"/>
          </a:p>
        </p:txBody>
      </p:sp>
      <p:sp>
        <p:nvSpPr>
          <p:cNvPr id="27" name="Shape 17"/>
          <p:cNvSpPr/>
          <p:nvPr/>
        </p:nvSpPr>
        <p:spPr>
          <a:xfrm>
            <a:off x="6217920" y="3447288"/>
            <a:ext cx="5440680" cy="566928"/>
          </a:xfrm>
          <a:prstGeom prst="roundRect">
            <a:avLst>
              <a:gd name="adj" fmla="val 11290"/>
            </a:avLst>
          </a:prstGeom>
          <a:solidFill>
            <a:srgbClr val="F7FAFC"/>
          </a:solidFill>
          <a:ln w="12700">
            <a:solidFill>
              <a:srgbClr val="D9E1EC"/>
            </a:solidFill>
            <a:prstDash val="solid"/>
          </a:ln>
        </p:spPr>
        <p:txBody>
          <a:bodyPr/>
          <a:lstStyle/>
          <a:p>
            <a:endParaRPr lang="en-US"/>
          </a:p>
        </p:txBody>
      </p:sp>
      <p:pic>
        <p:nvPicPr>
          <p:cNvPr id="28" name="Image 8" descr="icons/check.png"/>
          <p:cNvPicPr>
            <a:picLocks noChangeAspect="1"/>
          </p:cNvPicPr>
          <p:nvPr/>
        </p:nvPicPr>
        <p:blipFill>
          <a:blip r:embed="rId4"/>
          <a:stretch>
            <a:fillRect/>
          </a:stretch>
        </p:blipFill>
        <p:spPr>
          <a:xfrm>
            <a:off x="6382512" y="3602736"/>
            <a:ext cx="256032" cy="256032"/>
          </a:xfrm>
          <a:prstGeom prst="rect">
            <a:avLst/>
          </a:prstGeom>
        </p:spPr>
      </p:pic>
      <p:sp>
        <p:nvSpPr>
          <p:cNvPr id="29" name="Text 18"/>
          <p:cNvSpPr/>
          <p:nvPr/>
        </p:nvSpPr>
        <p:spPr>
          <a:xfrm>
            <a:off x="6748272" y="3447288"/>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Idempotent MERGE   </a:t>
            </a:r>
            <a:r>
              <a:rPr lang="en-US" sz="1000" dirty="0">
                <a:solidFill>
                  <a:srgbClr val="5A6B82"/>
                </a:solidFill>
                <a:latin typeface="Calibri" pitchFamily="34" charset="0"/>
                <a:ea typeface="Calibri" pitchFamily="34" charset="-122"/>
                <a:cs typeface="Calibri" pitchFamily="34" charset="-120"/>
              </a:rPr>
              <a:t>insert new, update changed, no-op identical replays</a:t>
            </a:r>
            <a:endParaRPr lang="en-US" sz="1150" dirty="0"/>
          </a:p>
        </p:txBody>
      </p:sp>
      <p:sp>
        <p:nvSpPr>
          <p:cNvPr id="30" name="Shape 19"/>
          <p:cNvSpPr/>
          <p:nvPr/>
        </p:nvSpPr>
        <p:spPr>
          <a:xfrm>
            <a:off x="502920" y="4123944"/>
            <a:ext cx="5440680" cy="566928"/>
          </a:xfrm>
          <a:prstGeom prst="roundRect">
            <a:avLst>
              <a:gd name="adj" fmla="val 11290"/>
            </a:avLst>
          </a:prstGeom>
          <a:solidFill>
            <a:srgbClr val="F4F7FB"/>
          </a:solidFill>
          <a:ln w="12700">
            <a:solidFill>
              <a:srgbClr val="D9E1EC"/>
            </a:solidFill>
            <a:prstDash val="solid"/>
          </a:ln>
        </p:spPr>
        <p:txBody>
          <a:bodyPr/>
          <a:lstStyle/>
          <a:p>
            <a:endParaRPr lang="en-US"/>
          </a:p>
        </p:txBody>
      </p:sp>
      <p:pic>
        <p:nvPicPr>
          <p:cNvPr id="31" name="Image 9" descr="icons/check.png"/>
          <p:cNvPicPr>
            <a:picLocks noChangeAspect="1"/>
          </p:cNvPicPr>
          <p:nvPr/>
        </p:nvPicPr>
        <p:blipFill>
          <a:blip r:embed="rId4"/>
          <a:stretch>
            <a:fillRect/>
          </a:stretch>
        </p:blipFill>
        <p:spPr>
          <a:xfrm>
            <a:off x="667512" y="4279392"/>
            <a:ext cx="256032" cy="256032"/>
          </a:xfrm>
          <a:prstGeom prst="rect">
            <a:avLst/>
          </a:prstGeom>
        </p:spPr>
      </p:pic>
      <p:sp>
        <p:nvSpPr>
          <p:cNvPr id="32" name="Text 20"/>
          <p:cNvSpPr/>
          <p:nvPr/>
        </p:nvSpPr>
        <p:spPr>
          <a:xfrm>
            <a:off x="1033272" y="4123944"/>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SQL audit / load log   </a:t>
            </a:r>
            <a:r>
              <a:rPr lang="en-US" sz="1000" dirty="0">
                <a:solidFill>
                  <a:srgbClr val="5A6B82"/>
                </a:solidFill>
                <a:latin typeface="Calibri" pitchFamily="34" charset="0"/>
                <a:ea typeface="Calibri" pitchFamily="34" charset="-122"/>
                <a:cs typeface="Calibri" pitchFamily="34" charset="-120"/>
              </a:rPr>
              <a:t>one row per batch; second SUCCESS impossible</a:t>
            </a:r>
            <a:endParaRPr lang="en-US" sz="1150" dirty="0"/>
          </a:p>
        </p:txBody>
      </p:sp>
      <p:sp>
        <p:nvSpPr>
          <p:cNvPr id="33" name="Shape 21"/>
          <p:cNvSpPr/>
          <p:nvPr/>
        </p:nvSpPr>
        <p:spPr>
          <a:xfrm>
            <a:off x="6217920" y="4123944"/>
            <a:ext cx="5440680" cy="566928"/>
          </a:xfrm>
          <a:prstGeom prst="roundRect">
            <a:avLst>
              <a:gd name="adj" fmla="val 11290"/>
            </a:avLst>
          </a:prstGeom>
          <a:solidFill>
            <a:srgbClr val="F7FAFC"/>
          </a:solidFill>
          <a:ln w="12700">
            <a:solidFill>
              <a:srgbClr val="D9E1EC"/>
            </a:solidFill>
            <a:prstDash val="solid"/>
          </a:ln>
        </p:spPr>
        <p:txBody>
          <a:bodyPr/>
          <a:lstStyle/>
          <a:p>
            <a:endParaRPr lang="en-US"/>
          </a:p>
        </p:txBody>
      </p:sp>
      <p:pic>
        <p:nvPicPr>
          <p:cNvPr id="34" name="Image 10" descr="icons/check.png"/>
          <p:cNvPicPr>
            <a:picLocks noChangeAspect="1"/>
          </p:cNvPicPr>
          <p:nvPr/>
        </p:nvPicPr>
        <p:blipFill>
          <a:blip r:embed="rId4"/>
          <a:stretch>
            <a:fillRect/>
          </a:stretch>
        </p:blipFill>
        <p:spPr>
          <a:xfrm>
            <a:off x="6382512" y="4279392"/>
            <a:ext cx="256032" cy="256032"/>
          </a:xfrm>
          <a:prstGeom prst="rect">
            <a:avLst/>
          </a:prstGeom>
        </p:spPr>
      </p:pic>
      <p:sp>
        <p:nvSpPr>
          <p:cNvPr id="35" name="Text 22"/>
          <p:cNvSpPr/>
          <p:nvPr/>
        </p:nvSpPr>
        <p:spPr>
          <a:xfrm>
            <a:off x="6748272" y="4123944"/>
            <a:ext cx="4782312"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dbt build = final gate   </a:t>
            </a:r>
            <a:r>
              <a:rPr lang="en-US" sz="1000" dirty="0">
                <a:solidFill>
                  <a:srgbClr val="5A6B82"/>
                </a:solidFill>
                <a:latin typeface="Calibri" pitchFamily="34" charset="0"/>
                <a:ea typeface="Calibri" pitchFamily="34" charset="-122"/>
                <a:cs typeface="Calibri" pitchFamily="34" charset="-120"/>
              </a:rPr>
              <a:t>post-MERGE check of keys, FKs, domains, sanity</a:t>
            </a:r>
            <a:endParaRPr lang="en-US" sz="1150" dirty="0"/>
          </a:p>
        </p:txBody>
      </p:sp>
      <p:sp>
        <p:nvSpPr>
          <p:cNvPr id="36" name="Shape 23"/>
          <p:cNvSpPr/>
          <p:nvPr/>
        </p:nvSpPr>
        <p:spPr>
          <a:xfrm>
            <a:off x="502920" y="5339182"/>
            <a:ext cx="5532120" cy="705917"/>
          </a:xfrm>
          <a:prstGeom prst="roundRect">
            <a:avLst>
              <a:gd name="adj" fmla="val 7772"/>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37" name="Image 11" descr="img/07_sql_merge_success.png"/>
          <p:cNvPicPr>
            <a:picLocks noChangeAspect="1"/>
          </p:cNvPicPr>
          <p:nvPr/>
        </p:nvPicPr>
        <p:blipFill>
          <a:blip r:embed="rId5"/>
          <a:stretch>
            <a:fillRect/>
          </a:stretch>
        </p:blipFill>
        <p:spPr>
          <a:xfrm>
            <a:off x="548640" y="5384902"/>
            <a:ext cx="5440680" cy="614477"/>
          </a:xfrm>
          <a:prstGeom prst="rect">
            <a:avLst/>
          </a:prstGeom>
        </p:spPr>
      </p:pic>
      <p:sp>
        <p:nvSpPr>
          <p:cNvPr id="38" name="Text 24"/>
          <p:cNvSpPr/>
          <p:nvPr/>
        </p:nvSpPr>
        <p:spPr>
          <a:xfrm>
            <a:off x="502920" y="6373368"/>
            <a:ext cx="553212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Idempotent re-run  —  “warehouse is up to date”</a:t>
            </a:r>
            <a:endParaRPr lang="en-US" sz="1050" dirty="0"/>
          </a:p>
        </p:txBody>
      </p:sp>
      <p:sp>
        <p:nvSpPr>
          <p:cNvPr id="39" name="Shape 25"/>
          <p:cNvSpPr/>
          <p:nvPr/>
        </p:nvSpPr>
        <p:spPr>
          <a:xfrm>
            <a:off x="6199632" y="5162245"/>
            <a:ext cx="5532120" cy="1059790"/>
          </a:xfrm>
          <a:prstGeom prst="roundRect">
            <a:avLst>
              <a:gd name="adj" fmla="val 5177"/>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40" name="Image 12" descr="img/08_sql_audit_log.png"/>
          <p:cNvPicPr>
            <a:picLocks noChangeAspect="1"/>
          </p:cNvPicPr>
          <p:nvPr/>
        </p:nvPicPr>
        <p:blipFill>
          <a:blip r:embed="rId6"/>
          <a:stretch>
            <a:fillRect/>
          </a:stretch>
        </p:blipFill>
        <p:spPr>
          <a:xfrm>
            <a:off x="6245352" y="5207965"/>
            <a:ext cx="5440680" cy="968350"/>
          </a:xfrm>
          <a:prstGeom prst="rect">
            <a:avLst/>
          </a:prstGeom>
        </p:spPr>
      </p:pic>
      <p:sp>
        <p:nvSpPr>
          <p:cNvPr id="41" name="Text 26"/>
          <p:cNvSpPr/>
          <p:nvPr/>
        </p:nvSpPr>
        <p:spPr>
          <a:xfrm>
            <a:off x="6199632" y="6373368"/>
            <a:ext cx="553212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Load log: SUCCESS · 99 staged / 99 valid / 0 rejected · fact = 1,000,000</a:t>
            </a:r>
            <a:endParaRPr lang="en-US" sz="1050" dirty="0"/>
          </a:p>
        </p:txBody>
      </p:sp>
      <p:sp>
        <p:nvSpPr>
          <p:cNvPr id="42" name="Text 27"/>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3" name="Image 0" descr="icons/cloud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SECTION 05 — CLOUD SOLUTION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Microsoft Fabric Companion</a:t>
            </a:r>
            <a:endParaRPr lang="en-US" sz="2600" dirty="0"/>
          </a:p>
        </p:txBody>
      </p:sp>
      <p:sp>
        <p:nvSpPr>
          <p:cNvPr id="6" name="Shape 3"/>
          <p:cNvSpPr/>
          <p:nvPr/>
        </p:nvSpPr>
        <p:spPr>
          <a:xfrm>
            <a:off x="502920" y="1078992"/>
            <a:ext cx="3383280" cy="292608"/>
          </a:xfrm>
          <a:prstGeom prst="roundRect">
            <a:avLst>
              <a:gd name="adj" fmla="val 50000"/>
            </a:avLst>
          </a:prstGeom>
          <a:solidFill>
            <a:srgbClr val="E9F2F3"/>
          </a:solidFill>
          <a:ln/>
        </p:spPr>
        <p:txBody>
          <a:bodyPr/>
          <a:lstStyle/>
          <a:p>
            <a:endParaRPr lang="en-US"/>
          </a:p>
        </p:txBody>
      </p:sp>
      <p:pic>
        <p:nvPicPr>
          <p:cNvPr id="7" name="Image 1" descr="icons/check.png"/>
          <p:cNvPicPr>
            <a:picLocks noChangeAspect="1"/>
          </p:cNvPicPr>
          <p:nvPr/>
        </p:nvPicPr>
        <p:blipFill>
          <a:blip r:embed="rId4"/>
          <a:stretch>
            <a:fillRect/>
          </a:stretch>
        </p:blipFill>
        <p:spPr>
          <a:xfrm>
            <a:off x="612648" y="1147572"/>
            <a:ext cx="155448" cy="155448"/>
          </a:xfrm>
          <a:prstGeom prst="rect">
            <a:avLst/>
          </a:prstGeom>
        </p:spPr>
      </p:pic>
      <p:sp>
        <p:nvSpPr>
          <p:cNvPr id="8" name="Text 4"/>
          <p:cNvSpPr/>
          <p:nvPr/>
        </p:nvSpPr>
        <p:spPr>
          <a:xfrm>
            <a:off x="804672" y="1078992"/>
            <a:ext cx="3054096" cy="292608"/>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DESIGN TARGET · MICROSOFT FABRIC</a:t>
            </a:r>
            <a:endParaRPr lang="en-US" sz="950" dirty="0"/>
          </a:p>
        </p:txBody>
      </p:sp>
      <p:sp>
        <p:nvSpPr>
          <p:cNvPr id="9" name="Text 5"/>
          <p:cNvSpPr/>
          <p:nvPr/>
        </p:nvSpPr>
        <p:spPr>
          <a:xfrm>
            <a:off x="4114800" y="1078992"/>
            <a:ext cx="6858000" cy="292608"/>
          </a:xfrm>
          <a:prstGeom prst="rect">
            <a:avLst/>
          </a:prstGeom>
          <a:noFill/>
          <a:ln/>
        </p:spPr>
        <p:txBody>
          <a:bodyPr wrap="square" lIns="0" tIns="0" rIns="0" bIns="0" rtlCol="0" anchor="ctr"/>
          <a:lstStyle/>
          <a:p>
            <a:pPr marL="0" indent="0">
              <a:buNone/>
            </a:pPr>
            <a:r>
              <a:rPr lang="en-US" sz="1150" i="1" dirty="0">
                <a:solidFill>
                  <a:srgbClr val="5A6B82"/>
                </a:solidFill>
                <a:latin typeface="Calibri" pitchFamily="34" charset="0"/>
                <a:ea typeface="Calibri" pitchFamily="34" charset="-122"/>
                <a:cs typeface="Calibri" pitchFamily="34" charset="-120"/>
              </a:rPr>
              <a:t>Same Medallion + Kimball pattern, re-expressed on Fabric</a:t>
            </a:r>
            <a:endParaRPr lang="en-US" sz="1150" dirty="0"/>
          </a:p>
        </p:txBody>
      </p:sp>
      <p:sp>
        <p:nvSpPr>
          <p:cNvPr id="10" name="Shape 6"/>
          <p:cNvSpPr/>
          <p:nvPr/>
        </p:nvSpPr>
        <p:spPr>
          <a:xfrm>
            <a:off x="502920" y="1686611"/>
            <a:ext cx="7863840" cy="4481474"/>
          </a:xfrm>
          <a:prstGeom prst="roundRect">
            <a:avLst>
              <a:gd name="adj" fmla="val 1224"/>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11" name="Image 2" descr="img/Cloud_Solution_Tool_Stack.png"/>
          <p:cNvPicPr>
            <a:picLocks noChangeAspect="1"/>
          </p:cNvPicPr>
          <p:nvPr/>
        </p:nvPicPr>
        <p:blipFill>
          <a:blip r:embed="rId5"/>
          <a:stretch>
            <a:fillRect/>
          </a:stretch>
        </p:blipFill>
        <p:spPr>
          <a:xfrm>
            <a:off x="566928" y="1750619"/>
            <a:ext cx="7735824" cy="4353458"/>
          </a:xfrm>
          <a:prstGeom prst="rect">
            <a:avLst/>
          </a:prstGeom>
        </p:spPr>
      </p:pic>
      <p:sp>
        <p:nvSpPr>
          <p:cNvPr id="12" name="Shape 7"/>
          <p:cNvSpPr/>
          <p:nvPr/>
        </p:nvSpPr>
        <p:spPr>
          <a:xfrm>
            <a:off x="8549640" y="1481328"/>
            <a:ext cx="3154680" cy="4892040"/>
          </a:xfrm>
          <a:prstGeom prst="roundRect">
            <a:avLst>
              <a:gd name="adj" fmla="val 2609"/>
            </a:avLst>
          </a:prstGeom>
          <a:solidFill>
            <a:srgbClr val="F4F7FB"/>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3" name="Text 8"/>
          <p:cNvSpPr/>
          <p:nvPr/>
        </p:nvSpPr>
        <p:spPr>
          <a:xfrm>
            <a:off x="8778240" y="1645920"/>
            <a:ext cx="2743200" cy="320040"/>
          </a:xfrm>
          <a:prstGeom prst="rect">
            <a:avLst/>
          </a:prstGeom>
          <a:noFill/>
          <a:ln/>
        </p:spPr>
        <p:txBody>
          <a:bodyPr wrap="square" lIns="0" tIns="0" rIns="0" bIns="0" rtlCol="0" anchor="ctr"/>
          <a:lstStyle/>
          <a:p>
            <a:pPr marL="0" indent="0">
              <a:buNone/>
            </a:pPr>
            <a:r>
              <a:rPr lang="en-US" sz="1450" b="1" dirty="0">
                <a:solidFill>
                  <a:srgbClr val="16244D"/>
                </a:solidFill>
                <a:latin typeface="Cambria" pitchFamily="34" charset="0"/>
                <a:ea typeface="Cambria" pitchFamily="34" charset="-122"/>
                <a:cs typeface="Cambria" pitchFamily="34" charset="-120"/>
              </a:rPr>
              <a:t>Target flow</a:t>
            </a:r>
            <a:endParaRPr lang="en-US" sz="1450" dirty="0"/>
          </a:p>
        </p:txBody>
      </p:sp>
      <p:sp>
        <p:nvSpPr>
          <p:cNvPr id="14" name="Shape 9"/>
          <p:cNvSpPr/>
          <p:nvPr/>
        </p:nvSpPr>
        <p:spPr>
          <a:xfrm>
            <a:off x="8778240" y="2084832"/>
            <a:ext cx="310896" cy="310896"/>
          </a:xfrm>
          <a:prstGeom prst="ellipse">
            <a:avLst/>
          </a:prstGeom>
          <a:solidFill>
            <a:srgbClr val="0E7C86"/>
          </a:solidFill>
          <a:ln/>
        </p:spPr>
        <p:txBody>
          <a:bodyPr/>
          <a:lstStyle/>
          <a:p>
            <a:endParaRPr lang="en-US"/>
          </a:p>
        </p:txBody>
      </p:sp>
      <p:sp>
        <p:nvSpPr>
          <p:cNvPr id="15" name="Text 10"/>
          <p:cNvSpPr/>
          <p:nvPr/>
        </p:nvSpPr>
        <p:spPr>
          <a:xfrm>
            <a:off x="8778240" y="208483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1"/>
          <p:cNvSpPr/>
          <p:nvPr/>
        </p:nvSpPr>
        <p:spPr>
          <a:xfrm>
            <a:off x="9198864" y="2029968"/>
            <a:ext cx="2377440"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Cloud CSV source
</a:t>
            </a:r>
            <a:r>
              <a:rPr lang="en-US" sz="950" dirty="0">
                <a:solidFill>
                  <a:srgbClr val="5A6B82"/>
                </a:solidFill>
                <a:latin typeface="Calibri" pitchFamily="34" charset="0"/>
                <a:ea typeface="Calibri" pitchFamily="34" charset="-122"/>
                <a:cs typeface="Calibri" pitchFamily="34" charset="-120"/>
              </a:rPr>
              <a:t>raw transaction datasets</a:t>
            </a:r>
            <a:endParaRPr lang="en-US" sz="1150" dirty="0"/>
          </a:p>
        </p:txBody>
      </p:sp>
      <p:sp>
        <p:nvSpPr>
          <p:cNvPr id="17" name="Shape 12"/>
          <p:cNvSpPr/>
          <p:nvPr/>
        </p:nvSpPr>
        <p:spPr>
          <a:xfrm>
            <a:off x="8924544" y="2414016"/>
            <a:ext cx="13716" cy="310896"/>
          </a:xfrm>
          <a:prstGeom prst="rect">
            <a:avLst/>
          </a:prstGeom>
          <a:solidFill>
            <a:srgbClr val="C2CEDD"/>
          </a:solidFill>
          <a:ln/>
        </p:spPr>
        <p:txBody>
          <a:bodyPr/>
          <a:lstStyle/>
          <a:p>
            <a:endParaRPr lang="en-US"/>
          </a:p>
        </p:txBody>
      </p:sp>
      <p:sp>
        <p:nvSpPr>
          <p:cNvPr id="18" name="Shape 13"/>
          <p:cNvSpPr/>
          <p:nvPr/>
        </p:nvSpPr>
        <p:spPr>
          <a:xfrm>
            <a:off x="8778240" y="2779776"/>
            <a:ext cx="310896" cy="310896"/>
          </a:xfrm>
          <a:prstGeom prst="ellipse">
            <a:avLst/>
          </a:prstGeom>
          <a:solidFill>
            <a:srgbClr val="0E7C86"/>
          </a:solidFill>
          <a:ln/>
        </p:spPr>
        <p:txBody>
          <a:bodyPr/>
          <a:lstStyle/>
          <a:p>
            <a:endParaRPr lang="en-US"/>
          </a:p>
        </p:txBody>
      </p:sp>
      <p:sp>
        <p:nvSpPr>
          <p:cNvPr id="19" name="Text 14"/>
          <p:cNvSpPr/>
          <p:nvPr/>
        </p:nvSpPr>
        <p:spPr>
          <a:xfrm>
            <a:off x="8778240" y="277977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0" name="Text 15"/>
          <p:cNvSpPr/>
          <p:nvPr/>
        </p:nvSpPr>
        <p:spPr>
          <a:xfrm>
            <a:off x="9198864" y="2724912"/>
            <a:ext cx="2377440"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Data Factory pipeline
</a:t>
            </a:r>
            <a:r>
              <a:rPr lang="en-US" sz="950" dirty="0">
                <a:solidFill>
                  <a:srgbClr val="5A6B82"/>
                </a:solidFill>
                <a:latin typeface="Calibri" pitchFamily="34" charset="0"/>
                <a:ea typeface="Calibri" pitchFamily="34" charset="-122"/>
                <a:cs typeface="Calibri" pitchFamily="34" charset="-120"/>
              </a:rPr>
              <a:t>parameterized · ForEach · Copy</a:t>
            </a:r>
            <a:endParaRPr lang="en-US" sz="1150" dirty="0"/>
          </a:p>
        </p:txBody>
      </p:sp>
      <p:sp>
        <p:nvSpPr>
          <p:cNvPr id="21" name="Shape 16"/>
          <p:cNvSpPr/>
          <p:nvPr/>
        </p:nvSpPr>
        <p:spPr>
          <a:xfrm>
            <a:off x="8924544" y="3108960"/>
            <a:ext cx="13716" cy="310896"/>
          </a:xfrm>
          <a:prstGeom prst="rect">
            <a:avLst/>
          </a:prstGeom>
          <a:solidFill>
            <a:srgbClr val="C2CEDD"/>
          </a:solidFill>
          <a:ln/>
        </p:spPr>
        <p:txBody>
          <a:bodyPr/>
          <a:lstStyle/>
          <a:p>
            <a:endParaRPr lang="en-US"/>
          </a:p>
        </p:txBody>
      </p:sp>
      <p:sp>
        <p:nvSpPr>
          <p:cNvPr id="22" name="Shape 17"/>
          <p:cNvSpPr/>
          <p:nvPr/>
        </p:nvSpPr>
        <p:spPr>
          <a:xfrm>
            <a:off x="8778240" y="3474720"/>
            <a:ext cx="310896" cy="310896"/>
          </a:xfrm>
          <a:prstGeom prst="ellipse">
            <a:avLst/>
          </a:prstGeom>
          <a:solidFill>
            <a:srgbClr val="0E7C86"/>
          </a:solidFill>
          <a:ln/>
        </p:spPr>
        <p:txBody>
          <a:bodyPr/>
          <a:lstStyle/>
          <a:p>
            <a:endParaRPr lang="en-US"/>
          </a:p>
        </p:txBody>
      </p:sp>
      <p:sp>
        <p:nvSpPr>
          <p:cNvPr id="23" name="Text 18"/>
          <p:cNvSpPr/>
          <p:nvPr/>
        </p:nvSpPr>
        <p:spPr>
          <a:xfrm>
            <a:off x="8778240" y="34747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19"/>
          <p:cNvSpPr/>
          <p:nvPr/>
        </p:nvSpPr>
        <p:spPr>
          <a:xfrm>
            <a:off x="9198864" y="3419856"/>
            <a:ext cx="2377440"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OneLake Lakehouse — Bronze
</a:t>
            </a:r>
            <a:r>
              <a:rPr lang="en-US" sz="950" dirty="0">
                <a:solidFill>
                  <a:srgbClr val="5A6B82"/>
                </a:solidFill>
                <a:latin typeface="Calibri" pitchFamily="34" charset="0"/>
                <a:ea typeface="Calibri" pitchFamily="34" charset="-122"/>
                <a:cs typeface="Calibri" pitchFamily="34" charset="-120"/>
              </a:rPr>
              <a:t>raw Delta + ingestion metadata</a:t>
            </a:r>
            <a:endParaRPr lang="en-US" sz="1150" dirty="0"/>
          </a:p>
        </p:txBody>
      </p:sp>
      <p:sp>
        <p:nvSpPr>
          <p:cNvPr id="25" name="Shape 20"/>
          <p:cNvSpPr/>
          <p:nvPr/>
        </p:nvSpPr>
        <p:spPr>
          <a:xfrm>
            <a:off x="8924544" y="3803904"/>
            <a:ext cx="13716" cy="310896"/>
          </a:xfrm>
          <a:prstGeom prst="rect">
            <a:avLst/>
          </a:prstGeom>
          <a:solidFill>
            <a:srgbClr val="C2CEDD"/>
          </a:solidFill>
          <a:ln/>
        </p:spPr>
        <p:txBody>
          <a:bodyPr/>
          <a:lstStyle/>
          <a:p>
            <a:endParaRPr lang="en-US"/>
          </a:p>
        </p:txBody>
      </p:sp>
      <p:sp>
        <p:nvSpPr>
          <p:cNvPr id="26" name="Shape 21"/>
          <p:cNvSpPr/>
          <p:nvPr/>
        </p:nvSpPr>
        <p:spPr>
          <a:xfrm>
            <a:off x="8778240" y="4169664"/>
            <a:ext cx="310896" cy="310896"/>
          </a:xfrm>
          <a:prstGeom prst="ellipse">
            <a:avLst/>
          </a:prstGeom>
          <a:solidFill>
            <a:srgbClr val="0E7C86"/>
          </a:solidFill>
          <a:ln/>
        </p:spPr>
        <p:txBody>
          <a:bodyPr/>
          <a:lstStyle/>
          <a:p>
            <a:endParaRPr lang="en-US"/>
          </a:p>
        </p:txBody>
      </p:sp>
      <p:sp>
        <p:nvSpPr>
          <p:cNvPr id="27" name="Text 22"/>
          <p:cNvSpPr/>
          <p:nvPr/>
        </p:nvSpPr>
        <p:spPr>
          <a:xfrm>
            <a:off x="8778240" y="416966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3"/>
          <p:cNvSpPr/>
          <p:nvPr/>
        </p:nvSpPr>
        <p:spPr>
          <a:xfrm>
            <a:off x="9198864" y="4114800"/>
            <a:ext cx="2377440"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Silver SQL views
</a:t>
            </a:r>
            <a:r>
              <a:rPr lang="en-US" sz="950" dirty="0">
                <a:solidFill>
                  <a:srgbClr val="5A6B82"/>
                </a:solidFill>
                <a:latin typeface="Calibri" pitchFamily="34" charset="0"/>
                <a:ea typeface="Calibri" pitchFamily="34" charset="-122"/>
                <a:cs typeface="Calibri" pitchFamily="34" charset="-120"/>
              </a:rPr>
              <a:t>cast · trim · dedupe · validate</a:t>
            </a:r>
            <a:endParaRPr lang="en-US" sz="1150" dirty="0"/>
          </a:p>
        </p:txBody>
      </p:sp>
      <p:sp>
        <p:nvSpPr>
          <p:cNvPr id="29" name="Shape 24"/>
          <p:cNvSpPr/>
          <p:nvPr/>
        </p:nvSpPr>
        <p:spPr>
          <a:xfrm>
            <a:off x="8924544" y="4498848"/>
            <a:ext cx="13716" cy="310896"/>
          </a:xfrm>
          <a:prstGeom prst="rect">
            <a:avLst/>
          </a:prstGeom>
          <a:solidFill>
            <a:srgbClr val="C2CEDD"/>
          </a:solidFill>
          <a:ln/>
        </p:spPr>
        <p:txBody>
          <a:bodyPr/>
          <a:lstStyle/>
          <a:p>
            <a:endParaRPr lang="en-US"/>
          </a:p>
        </p:txBody>
      </p:sp>
      <p:sp>
        <p:nvSpPr>
          <p:cNvPr id="30" name="Shape 25"/>
          <p:cNvSpPr/>
          <p:nvPr/>
        </p:nvSpPr>
        <p:spPr>
          <a:xfrm>
            <a:off x="8778240" y="4864608"/>
            <a:ext cx="310896" cy="310896"/>
          </a:xfrm>
          <a:prstGeom prst="ellipse">
            <a:avLst/>
          </a:prstGeom>
          <a:solidFill>
            <a:srgbClr val="0E7C86"/>
          </a:solidFill>
          <a:ln/>
        </p:spPr>
        <p:txBody>
          <a:bodyPr/>
          <a:lstStyle/>
          <a:p>
            <a:endParaRPr lang="en-US"/>
          </a:p>
        </p:txBody>
      </p:sp>
      <p:sp>
        <p:nvSpPr>
          <p:cNvPr id="31" name="Text 26"/>
          <p:cNvSpPr/>
          <p:nvPr/>
        </p:nvSpPr>
        <p:spPr>
          <a:xfrm>
            <a:off x="8778240" y="486460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27"/>
          <p:cNvSpPr/>
          <p:nvPr/>
        </p:nvSpPr>
        <p:spPr>
          <a:xfrm>
            <a:off x="9198864" y="4809744"/>
            <a:ext cx="2377440"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Fabric Warehouse — Gold
</a:t>
            </a:r>
            <a:r>
              <a:rPr lang="en-US" sz="950" dirty="0">
                <a:solidFill>
                  <a:srgbClr val="5A6B82"/>
                </a:solidFill>
                <a:latin typeface="Calibri" pitchFamily="34" charset="0"/>
                <a:ea typeface="Calibri" pitchFamily="34" charset="-122"/>
                <a:cs typeface="Calibri" pitchFamily="34" charset="-120"/>
              </a:rPr>
              <a:t>SQL views + dbt-fabric KPI marts</a:t>
            </a:r>
            <a:endParaRPr lang="en-US" sz="1150" dirty="0"/>
          </a:p>
        </p:txBody>
      </p:sp>
      <p:sp>
        <p:nvSpPr>
          <p:cNvPr id="33" name="Shape 28"/>
          <p:cNvSpPr/>
          <p:nvPr/>
        </p:nvSpPr>
        <p:spPr>
          <a:xfrm>
            <a:off x="8924544" y="5193792"/>
            <a:ext cx="13716" cy="310896"/>
          </a:xfrm>
          <a:prstGeom prst="rect">
            <a:avLst/>
          </a:prstGeom>
          <a:solidFill>
            <a:srgbClr val="C2CEDD"/>
          </a:solidFill>
          <a:ln/>
        </p:spPr>
        <p:txBody>
          <a:bodyPr/>
          <a:lstStyle/>
          <a:p>
            <a:endParaRPr lang="en-US"/>
          </a:p>
        </p:txBody>
      </p:sp>
      <p:sp>
        <p:nvSpPr>
          <p:cNvPr id="34" name="Shape 29"/>
          <p:cNvSpPr/>
          <p:nvPr/>
        </p:nvSpPr>
        <p:spPr>
          <a:xfrm>
            <a:off x="8778240" y="5559552"/>
            <a:ext cx="310896" cy="310896"/>
          </a:xfrm>
          <a:prstGeom prst="ellipse">
            <a:avLst/>
          </a:prstGeom>
          <a:solidFill>
            <a:srgbClr val="1F9E54"/>
          </a:solidFill>
          <a:ln/>
        </p:spPr>
        <p:txBody>
          <a:bodyPr/>
          <a:lstStyle/>
          <a:p>
            <a:endParaRPr lang="en-US"/>
          </a:p>
        </p:txBody>
      </p:sp>
      <p:sp>
        <p:nvSpPr>
          <p:cNvPr id="35" name="Text 30"/>
          <p:cNvSpPr/>
          <p:nvPr/>
        </p:nvSpPr>
        <p:spPr>
          <a:xfrm>
            <a:off x="8778240" y="555955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1"/>
          <p:cNvSpPr/>
          <p:nvPr/>
        </p:nvSpPr>
        <p:spPr>
          <a:xfrm>
            <a:off x="9198864" y="5504688"/>
            <a:ext cx="2377440" cy="566928"/>
          </a:xfrm>
          <a:prstGeom prst="rect">
            <a:avLst/>
          </a:prstGeom>
          <a:noFill/>
          <a:ln/>
        </p:spPr>
        <p:txBody>
          <a:bodyPr wrap="square" lIns="0" tIns="0" rIns="0" bIns="0" rtlCol="0" anchor="ctr"/>
          <a:lstStyle/>
          <a:p>
            <a:pPr marL="0" indent="0">
              <a:buNone/>
            </a:pPr>
            <a:r>
              <a:rPr lang="en-US" sz="1150" b="1" dirty="0">
                <a:solidFill>
                  <a:srgbClr val="16244D"/>
                </a:solidFill>
                <a:latin typeface="Calibri" pitchFamily="34" charset="0"/>
                <a:ea typeface="Calibri" pitchFamily="34" charset="-122"/>
                <a:cs typeface="Calibri" pitchFamily="34" charset="-120"/>
              </a:rPr>
              <a:t>Power BI Desktop
</a:t>
            </a:r>
            <a:r>
              <a:rPr lang="en-US" sz="950" dirty="0">
                <a:solidFill>
                  <a:srgbClr val="5A6B82"/>
                </a:solidFill>
                <a:latin typeface="Calibri" pitchFamily="34" charset="0"/>
                <a:ea typeface="Calibri" pitchFamily="34" charset="-122"/>
                <a:cs typeface="Calibri" pitchFamily="34" charset="-120"/>
              </a:rPr>
              <a:t>reporting target</a:t>
            </a:r>
            <a:endParaRPr lang="en-US" sz="1150" dirty="0"/>
          </a:p>
        </p:txBody>
      </p:sp>
      <p:sp>
        <p:nvSpPr>
          <p:cNvPr id="37" name="Text 32"/>
          <p:cNvSpPr/>
          <p:nvPr/>
        </p:nvSpPr>
        <p:spPr>
          <a:xfrm>
            <a:off x="502920" y="6473952"/>
            <a:ext cx="8229600" cy="274320"/>
          </a:xfrm>
          <a:prstGeom prst="rect">
            <a:avLst/>
          </a:prstGeom>
          <a:noFill/>
          <a:ln/>
        </p:spPr>
        <p:txBody>
          <a:bodyPr wrap="square" lIns="0" tIns="0" rIns="0" bIns="0" rtlCol="0" anchor="ctr"/>
          <a:lstStyle/>
          <a:p>
            <a:pPr marL="0" indent="0">
              <a:buNone/>
            </a:pPr>
            <a:r>
              <a:rPr lang="en-US" sz="950" dirty="0">
                <a:solidFill>
                  <a:srgbClr val="5A6B82"/>
                </a:solidFill>
                <a:latin typeface="Calibri" pitchFamily="34" charset="0"/>
                <a:ea typeface="Calibri" pitchFamily="34" charset="-122"/>
                <a:cs typeface="Calibri" pitchFamily="34" charset="-120"/>
              </a:rPr>
              <a:t>Identity via Microsoft Entra ID · workspace roles · service principals (distinct from the local Windows-Auth model).</a:t>
            </a:r>
            <a:endParaRPr lang="en-US" sz="950" dirty="0"/>
          </a:p>
        </p:txBody>
      </p:sp>
      <p:sp>
        <p:nvSpPr>
          <p:cNvPr id="38" name="Text 3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3" name="Image 0" descr="icons/check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SECTION 05 — CLOUD SOLUTION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Fabric Build — Up &amp; Running</a:t>
            </a:r>
            <a:endParaRPr lang="en-US" sz="2600" dirty="0"/>
          </a:p>
        </p:txBody>
      </p:sp>
      <p:sp>
        <p:nvSpPr>
          <p:cNvPr id="6" name="Shape 3"/>
          <p:cNvSpPr/>
          <p:nvPr/>
        </p:nvSpPr>
        <p:spPr>
          <a:xfrm>
            <a:off x="502920" y="1078992"/>
            <a:ext cx="2926080" cy="292608"/>
          </a:xfrm>
          <a:prstGeom prst="roundRect">
            <a:avLst>
              <a:gd name="adj" fmla="val 50000"/>
            </a:avLst>
          </a:prstGeom>
          <a:solidFill>
            <a:srgbClr val="E9F2F3"/>
          </a:solidFill>
          <a:ln/>
        </p:spPr>
        <p:txBody>
          <a:bodyPr/>
          <a:lstStyle/>
          <a:p>
            <a:endParaRPr lang="en-US"/>
          </a:p>
        </p:txBody>
      </p:sp>
      <p:pic>
        <p:nvPicPr>
          <p:cNvPr id="7" name="Image 1" descr="icons/check.png"/>
          <p:cNvPicPr>
            <a:picLocks noChangeAspect="1"/>
          </p:cNvPicPr>
          <p:nvPr/>
        </p:nvPicPr>
        <p:blipFill>
          <a:blip r:embed="rId4"/>
          <a:stretch>
            <a:fillRect/>
          </a:stretch>
        </p:blipFill>
        <p:spPr>
          <a:xfrm>
            <a:off x="612648" y="1147572"/>
            <a:ext cx="155448" cy="155448"/>
          </a:xfrm>
          <a:prstGeom prst="rect">
            <a:avLst/>
          </a:prstGeom>
        </p:spPr>
      </p:pic>
      <p:sp>
        <p:nvSpPr>
          <p:cNvPr id="8" name="Text 4"/>
          <p:cNvSpPr/>
          <p:nvPr/>
        </p:nvSpPr>
        <p:spPr>
          <a:xfrm>
            <a:off x="804672" y="1078992"/>
            <a:ext cx="2596896" cy="292608"/>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BUILT &amp; VALIDATED IN FABRIC</a:t>
            </a:r>
            <a:endParaRPr lang="en-US" sz="950" dirty="0"/>
          </a:p>
        </p:txBody>
      </p:sp>
      <p:sp>
        <p:nvSpPr>
          <p:cNvPr id="9" name="Shape 5"/>
          <p:cNvSpPr/>
          <p:nvPr/>
        </p:nvSpPr>
        <p:spPr>
          <a:xfrm>
            <a:off x="502920" y="1646834"/>
            <a:ext cx="5532120" cy="2073859"/>
          </a:xfrm>
          <a:prstGeom prst="roundRect">
            <a:avLst>
              <a:gd name="adj" fmla="val 2646"/>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10" name="Image 2" descr="img/Cloud_images1.jpeg"/>
          <p:cNvPicPr>
            <a:picLocks noChangeAspect="1"/>
          </p:cNvPicPr>
          <p:nvPr/>
        </p:nvPicPr>
        <p:blipFill>
          <a:blip r:embed="rId5"/>
          <a:stretch>
            <a:fillRect/>
          </a:stretch>
        </p:blipFill>
        <p:spPr>
          <a:xfrm>
            <a:off x="548640" y="1692554"/>
            <a:ext cx="5440680" cy="1982419"/>
          </a:xfrm>
          <a:prstGeom prst="rect">
            <a:avLst/>
          </a:prstGeom>
        </p:spPr>
      </p:pic>
      <p:sp>
        <p:nvSpPr>
          <p:cNvPr id="11" name="Text 6"/>
          <p:cNvSpPr/>
          <p:nvPr/>
        </p:nvSpPr>
        <p:spPr>
          <a:xfrm>
            <a:off x="502920" y="3858768"/>
            <a:ext cx="553212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Data Factory pipeline “Ingest the data to silver” — Run Succeeded (ForEach, 9 items)</a:t>
            </a:r>
            <a:endParaRPr lang="en-US" sz="1050" dirty="0"/>
          </a:p>
        </p:txBody>
      </p:sp>
      <p:sp>
        <p:nvSpPr>
          <p:cNvPr id="12" name="Shape 7"/>
          <p:cNvSpPr/>
          <p:nvPr/>
        </p:nvSpPr>
        <p:spPr>
          <a:xfrm>
            <a:off x="6199632" y="1602486"/>
            <a:ext cx="5532120" cy="2162556"/>
          </a:xfrm>
          <a:prstGeom prst="roundRect">
            <a:avLst>
              <a:gd name="adj" fmla="val 2537"/>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13" name="Image 3" descr="img/Cloud_Images3.jpeg"/>
          <p:cNvPicPr>
            <a:picLocks noChangeAspect="1"/>
          </p:cNvPicPr>
          <p:nvPr/>
        </p:nvPicPr>
        <p:blipFill>
          <a:blip r:embed="rId6"/>
          <a:stretch>
            <a:fillRect/>
          </a:stretch>
        </p:blipFill>
        <p:spPr>
          <a:xfrm>
            <a:off x="6245352" y="1648206"/>
            <a:ext cx="5440680" cy="2071116"/>
          </a:xfrm>
          <a:prstGeom prst="rect">
            <a:avLst/>
          </a:prstGeom>
        </p:spPr>
      </p:pic>
      <p:sp>
        <p:nvSpPr>
          <p:cNvPr id="14" name="Text 8"/>
          <p:cNvSpPr/>
          <p:nvPr/>
        </p:nvSpPr>
        <p:spPr>
          <a:xfrm>
            <a:off x="6199632" y="3858768"/>
            <a:ext cx="553212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Fabric workspace items — bronze/silver/gold Lakehouses, Gold_WH, pipelines, notebook</a:t>
            </a:r>
            <a:endParaRPr lang="en-US" sz="1050" dirty="0"/>
          </a:p>
        </p:txBody>
      </p:sp>
      <p:sp>
        <p:nvSpPr>
          <p:cNvPr id="15" name="Shape 9"/>
          <p:cNvSpPr/>
          <p:nvPr/>
        </p:nvSpPr>
        <p:spPr>
          <a:xfrm>
            <a:off x="1650492" y="4206240"/>
            <a:ext cx="4745736" cy="2194560"/>
          </a:xfrm>
          <a:prstGeom prst="roundRect">
            <a:avLst>
              <a:gd name="adj" fmla="val 2500"/>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16" name="Image 4" descr="img/Cloud_Images2.jpeg"/>
          <p:cNvPicPr>
            <a:picLocks noChangeAspect="1"/>
          </p:cNvPicPr>
          <p:nvPr/>
        </p:nvPicPr>
        <p:blipFill>
          <a:blip r:embed="rId7"/>
          <a:stretch>
            <a:fillRect/>
          </a:stretch>
        </p:blipFill>
        <p:spPr>
          <a:xfrm>
            <a:off x="1696212" y="4251960"/>
            <a:ext cx="4654296" cy="2103120"/>
          </a:xfrm>
          <a:prstGeom prst="rect">
            <a:avLst/>
          </a:prstGeom>
        </p:spPr>
      </p:pic>
      <p:sp>
        <p:nvSpPr>
          <p:cNvPr id="17" name="Text 10"/>
          <p:cNvSpPr/>
          <p:nvPr/>
        </p:nvSpPr>
        <p:spPr>
          <a:xfrm>
            <a:off x="502920" y="6400800"/>
            <a:ext cx="704088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Gold_WH validation query — vw_gold_fact_transactions_enriched = 1,000,000 rows</a:t>
            </a:r>
            <a:endParaRPr lang="en-US" sz="1050" dirty="0"/>
          </a:p>
        </p:txBody>
      </p:sp>
      <p:sp>
        <p:nvSpPr>
          <p:cNvPr id="18" name="Shape 11"/>
          <p:cNvSpPr/>
          <p:nvPr/>
        </p:nvSpPr>
        <p:spPr>
          <a:xfrm>
            <a:off x="7726680" y="4206240"/>
            <a:ext cx="4005072" cy="2194560"/>
          </a:xfrm>
          <a:prstGeom prst="roundRect">
            <a:avLst>
              <a:gd name="adj" fmla="val 3750"/>
            </a:avLst>
          </a:prstGeom>
          <a:solidFill>
            <a:srgbClr val="16244D"/>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19" name="Text 12"/>
          <p:cNvSpPr/>
          <p:nvPr/>
        </p:nvSpPr>
        <p:spPr>
          <a:xfrm>
            <a:off x="7955280" y="4334256"/>
            <a:ext cx="3566160" cy="292608"/>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Cloud Gold — verified</a:t>
            </a:r>
            <a:endParaRPr lang="en-US" sz="1350" dirty="0"/>
          </a:p>
        </p:txBody>
      </p:sp>
      <p:sp>
        <p:nvSpPr>
          <p:cNvPr id="20" name="Text 13"/>
          <p:cNvSpPr/>
          <p:nvPr/>
        </p:nvSpPr>
        <p:spPr>
          <a:xfrm>
            <a:off x="7955280" y="4681728"/>
            <a:ext cx="2743200" cy="292608"/>
          </a:xfrm>
          <a:prstGeom prst="rect">
            <a:avLst/>
          </a:prstGeom>
          <a:noFill/>
          <a:ln/>
        </p:spPr>
        <p:txBody>
          <a:bodyPr wrap="square" lIns="0" tIns="0" rIns="0" bIns="0" rtlCol="0" anchor="ctr"/>
          <a:lstStyle/>
          <a:p>
            <a:pPr marL="0" indent="0">
              <a:buNone/>
            </a:pPr>
            <a:r>
              <a:rPr lang="en-US" sz="950" dirty="0">
                <a:solidFill>
                  <a:srgbClr val="9DB2D9"/>
                </a:solidFill>
                <a:latin typeface="Calibri" pitchFamily="34" charset="0"/>
                <a:ea typeface="Calibri" pitchFamily="34" charset="-122"/>
                <a:cs typeface="Calibri" pitchFamily="34" charset="-120"/>
              </a:rPr>
              <a:t>vw_gold_fact_transactions_enriched</a:t>
            </a:r>
            <a:endParaRPr lang="en-US" sz="950" dirty="0"/>
          </a:p>
        </p:txBody>
      </p:sp>
      <p:sp>
        <p:nvSpPr>
          <p:cNvPr id="21" name="Text 14"/>
          <p:cNvSpPr/>
          <p:nvPr/>
        </p:nvSpPr>
        <p:spPr>
          <a:xfrm>
            <a:off x="10515600" y="4681728"/>
            <a:ext cx="1005840" cy="292608"/>
          </a:xfrm>
          <a:prstGeom prst="rect">
            <a:avLst/>
          </a:prstGeom>
          <a:noFill/>
          <a:ln/>
        </p:spPr>
        <p:txBody>
          <a:bodyPr wrap="square" lIns="0" tIns="0" rIns="0" bIns="0" rtlCol="0" anchor="ctr"/>
          <a:lstStyle/>
          <a:p>
            <a:pPr marL="0" indent="0" algn="r">
              <a:buNone/>
            </a:pPr>
            <a:r>
              <a:rPr lang="en-US" sz="1100" b="1" dirty="0">
                <a:solidFill>
                  <a:srgbClr val="7FE3A6"/>
                </a:solidFill>
                <a:latin typeface="Calibri" pitchFamily="34" charset="0"/>
                <a:ea typeface="Calibri" pitchFamily="34" charset="-122"/>
                <a:cs typeface="Calibri" pitchFamily="34" charset="-120"/>
              </a:rPr>
              <a:t>1,000,000</a:t>
            </a:r>
            <a:endParaRPr lang="en-US" sz="1100" dirty="0"/>
          </a:p>
        </p:txBody>
      </p:sp>
      <p:sp>
        <p:nvSpPr>
          <p:cNvPr id="22" name="Text 15"/>
          <p:cNvSpPr/>
          <p:nvPr/>
        </p:nvSpPr>
        <p:spPr>
          <a:xfrm>
            <a:off x="7955280" y="5010912"/>
            <a:ext cx="2743200" cy="292608"/>
          </a:xfrm>
          <a:prstGeom prst="rect">
            <a:avLst/>
          </a:prstGeom>
          <a:noFill/>
          <a:ln/>
        </p:spPr>
        <p:txBody>
          <a:bodyPr wrap="square" lIns="0" tIns="0" rIns="0" bIns="0" rtlCol="0" anchor="ctr"/>
          <a:lstStyle/>
          <a:p>
            <a:pPr marL="0" indent="0">
              <a:buNone/>
            </a:pPr>
            <a:r>
              <a:rPr lang="en-US" sz="950" dirty="0">
                <a:solidFill>
                  <a:srgbClr val="9DB2D9"/>
                </a:solidFill>
                <a:latin typeface="Calibri" pitchFamily="34" charset="0"/>
                <a:ea typeface="Calibri" pitchFamily="34" charset="-122"/>
                <a:cs typeface="Calibri" pitchFamily="34" charset="-120"/>
              </a:rPr>
              <a:t>vw_gold_merchant_performance</a:t>
            </a:r>
            <a:endParaRPr lang="en-US" sz="950" dirty="0"/>
          </a:p>
        </p:txBody>
      </p:sp>
      <p:sp>
        <p:nvSpPr>
          <p:cNvPr id="23" name="Text 16"/>
          <p:cNvSpPr/>
          <p:nvPr/>
        </p:nvSpPr>
        <p:spPr>
          <a:xfrm>
            <a:off x="10515600" y="5010912"/>
            <a:ext cx="1005840" cy="292608"/>
          </a:xfrm>
          <a:prstGeom prst="rect">
            <a:avLst/>
          </a:prstGeom>
          <a:noFill/>
          <a:ln/>
        </p:spPr>
        <p:txBody>
          <a:bodyPr wrap="square" lIns="0" tIns="0" rIns="0" bIns="0" rtlCol="0" anchor="ctr"/>
          <a:lstStyle/>
          <a:p>
            <a:pPr marL="0" indent="0" algn="r">
              <a:buNone/>
            </a:pPr>
            <a:r>
              <a:rPr lang="en-US" sz="1100" b="1" dirty="0">
                <a:solidFill>
                  <a:srgbClr val="CBD9F2"/>
                </a:solidFill>
                <a:latin typeface="Calibri" pitchFamily="34" charset="0"/>
                <a:ea typeface="Calibri" pitchFamily="34" charset="-122"/>
                <a:cs typeface="Calibri" pitchFamily="34" charset="-120"/>
              </a:rPr>
              <a:t>1,200</a:t>
            </a:r>
            <a:endParaRPr lang="en-US" sz="1100" dirty="0"/>
          </a:p>
        </p:txBody>
      </p:sp>
      <p:sp>
        <p:nvSpPr>
          <p:cNvPr id="24" name="Text 17"/>
          <p:cNvSpPr/>
          <p:nvPr/>
        </p:nvSpPr>
        <p:spPr>
          <a:xfrm>
            <a:off x="7955280" y="5340096"/>
            <a:ext cx="2743200" cy="292608"/>
          </a:xfrm>
          <a:prstGeom prst="rect">
            <a:avLst/>
          </a:prstGeom>
          <a:noFill/>
          <a:ln/>
        </p:spPr>
        <p:txBody>
          <a:bodyPr wrap="square" lIns="0" tIns="0" rIns="0" bIns="0" rtlCol="0" anchor="ctr"/>
          <a:lstStyle/>
          <a:p>
            <a:pPr marL="0" indent="0">
              <a:buNone/>
            </a:pPr>
            <a:r>
              <a:rPr lang="en-US" sz="950" dirty="0">
                <a:solidFill>
                  <a:srgbClr val="9DB2D9"/>
                </a:solidFill>
                <a:latin typeface="Calibri" pitchFamily="34" charset="0"/>
                <a:ea typeface="Calibri" pitchFamily="34" charset="-122"/>
                <a:cs typeface="Calibri" pitchFamily="34" charset="-120"/>
              </a:rPr>
              <a:t>vw_gold_daily_kpi</a:t>
            </a:r>
            <a:endParaRPr lang="en-US" sz="950" dirty="0"/>
          </a:p>
        </p:txBody>
      </p:sp>
      <p:sp>
        <p:nvSpPr>
          <p:cNvPr id="25" name="Text 18"/>
          <p:cNvSpPr/>
          <p:nvPr/>
        </p:nvSpPr>
        <p:spPr>
          <a:xfrm>
            <a:off x="10515600" y="5340096"/>
            <a:ext cx="1005840" cy="292608"/>
          </a:xfrm>
          <a:prstGeom prst="rect">
            <a:avLst/>
          </a:prstGeom>
          <a:noFill/>
          <a:ln/>
        </p:spPr>
        <p:txBody>
          <a:bodyPr wrap="square" lIns="0" tIns="0" rIns="0" bIns="0" rtlCol="0" anchor="ctr"/>
          <a:lstStyle/>
          <a:p>
            <a:pPr marL="0" indent="0" algn="r">
              <a:buNone/>
            </a:pPr>
            <a:r>
              <a:rPr lang="en-US" sz="1100" b="1" dirty="0">
                <a:solidFill>
                  <a:srgbClr val="CBD9F2"/>
                </a:solidFill>
                <a:latin typeface="Calibri" pitchFamily="34" charset="0"/>
                <a:ea typeface="Calibri" pitchFamily="34" charset="-122"/>
                <a:cs typeface="Calibri" pitchFamily="34" charset="-120"/>
              </a:rPr>
              <a:t>701</a:t>
            </a:r>
            <a:endParaRPr lang="en-US" sz="1100" dirty="0"/>
          </a:p>
        </p:txBody>
      </p:sp>
      <p:sp>
        <p:nvSpPr>
          <p:cNvPr id="26" name="Text 19"/>
          <p:cNvSpPr/>
          <p:nvPr/>
        </p:nvSpPr>
        <p:spPr>
          <a:xfrm>
            <a:off x="7955280" y="5669280"/>
            <a:ext cx="2743200" cy="292608"/>
          </a:xfrm>
          <a:prstGeom prst="rect">
            <a:avLst/>
          </a:prstGeom>
          <a:noFill/>
          <a:ln/>
        </p:spPr>
        <p:txBody>
          <a:bodyPr wrap="square" lIns="0" tIns="0" rIns="0" bIns="0" rtlCol="0" anchor="ctr"/>
          <a:lstStyle/>
          <a:p>
            <a:pPr marL="0" indent="0">
              <a:buNone/>
            </a:pPr>
            <a:r>
              <a:rPr lang="en-US" sz="950" dirty="0">
                <a:solidFill>
                  <a:srgbClr val="9DB2D9"/>
                </a:solidFill>
                <a:latin typeface="Calibri" pitchFamily="34" charset="0"/>
                <a:ea typeface="Calibri" pitchFamily="34" charset="-122"/>
                <a:cs typeface="Calibri" pitchFamily="34" charset="-120"/>
              </a:rPr>
              <a:t>vw_gold_customer_segment_kpi</a:t>
            </a:r>
            <a:endParaRPr lang="en-US" sz="950" dirty="0"/>
          </a:p>
        </p:txBody>
      </p:sp>
      <p:sp>
        <p:nvSpPr>
          <p:cNvPr id="27" name="Text 20"/>
          <p:cNvSpPr/>
          <p:nvPr/>
        </p:nvSpPr>
        <p:spPr>
          <a:xfrm>
            <a:off x="10515600" y="5669280"/>
            <a:ext cx="1005840" cy="292608"/>
          </a:xfrm>
          <a:prstGeom prst="rect">
            <a:avLst/>
          </a:prstGeom>
          <a:noFill/>
          <a:ln/>
        </p:spPr>
        <p:txBody>
          <a:bodyPr wrap="square" lIns="0" tIns="0" rIns="0" bIns="0" rtlCol="0" anchor="ctr"/>
          <a:lstStyle/>
          <a:p>
            <a:pPr marL="0" indent="0" algn="r">
              <a:buNone/>
            </a:pPr>
            <a:r>
              <a:rPr lang="en-US" sz="1100" b="1" dirty="0">
                <a:solidFill>
                  <a:srgbClr val="CBD9F2"/>
                </a:solidFill>
                <a:latin typeface="Calibri" pitchFamily="34" charset="0"/>
                <a:ea typeface="Calibri" pitchFamily="34" charset="-122"/>
                <a:cs typeface="Calibri" pitchFamily="34" charset="-120"/>
              </a:rPr>
              <a:t>474</a:t>
            </a:r>
            <a:endParaRPr lang="en-US" sz="1100" dirty="0"/>
          </a:p>
        </p:txBody>
      </p:sp>
      <p:sp>
        <p:nvSpPr>
          <p:cNvPr id="28" name="Text 21"/>
          <p:cNvSpPr/>
          <p:nvPr/>
        </p:nvSpPr>
        <p:spPr>
          <a:xfrm>
            <a:off x="7955280" y="5998464"/>
            <a:ext cx="2743200" cy="292608"/>
          </a:xfrm>
          <a:prstGeom prst="rect">
            <a:avLst/>
          </a:prstGeom>
          <a:noFill/>
          <a:ln/>
        </p:spPr>
        <p:txBody>
          <a:bodyPr wrap="square" lIns="0" tIns="0" rIns="0" bIns="0" rtlCol="0" anchor="ctr"/>
          <a:lstStyle/>
          <a:p>
            <a:pPr marL="0" indent="0">
              <a:buNone/>
            </a:pPr>
            <a:r>
              <a:rPr lang="en-US" sz="950" dirty="0">
                <a:solidFill>
                  <a:srgbClr val="9DB2D9"/>
                </a:solidFill>
                <a:latin typeface="Calibri" pitchFamily="34" charset="0"/>
                <a:ea typeface="Calibri" pitchFamily="34" charset="-122"/>
                <a:cs typeface="Calibri" pitchFamily="34" charset="-120"/>
              </a:rPr>
              <a:t>decline_analysis · monthly · loc</a:t>
            </a:r>
            <a:endParaRPr lang="en-US" sz="950" dirty="0"/>
          </a:p>
        </p:txBody>
      </p:sp>
      <p:sp>
        <p:nvSpPr>
          <p:cNvPr id="29" name="Text 22"/>
          <p:cNvSpPr/>
          <p:nvPr/>
        </p:nvSpPr>
        <p:spPr>
          <a:xfrm>
            <a:off x="10515600" y="5998464"/>
            <a:ext cx="1005840" cy="292608"/>
          </a:xfrm>
          <a:prstGeom prst="rect">
            <a:avLst/>
          </a:prstGeom>
          <a:noFill/>
          <a:ln/>
        </p:spPr>
        <p:txBody>
          <a:bodyPr wrap="square" lIns="0" tIns="0" rIns="0" bIns="0" rtlCol="0" anchor="ctr"/>
          <a:lstStyle/>
          <a:p>
            <a:pPr marL="0" indent="0" algn="r">
              <a:buNone/>
            </a:pPr>
            <a:r>
              <a:rPr lang="en-US" sz="1100" b="1" dirty="0">
                <a:solidFill>
                  <a:srgbClr val="CBD9F2"/>
                </a:solidFill>
                <a:latin typeface="Calibri" pitchFamily="34" charset="0"/>
                <a:ea typeface="Calibri" pitchFamily="34" charset="-122"/>
                <a:cs typeface="Calibri" pitchFamily="34" charset="-120"/>
              </a:rPr>
              <a:t>80 · 24 · 19</a:t>
            </a:r>
            <a:endParaRPr lang="en-US" sz="1100" dirty="0"/>
          </a:p>
        </p:txBody>
      </p:sp>
      <p:sp>
        <p:nvSpPr>
          <p:cNvPr id="30" name="Text 2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16244D"/>
          </a:solidFill>
          <a:ln/>
          <a:effectLst>
            <a:outerShdw blurRad="88900" dist="25400" dir="5400000" algn="bl" rotWithShape="0">
              <a:srgbClr val="13233F">
                <a:alpha val="12000"/>
              </a:srgbClr>
            </a:outerShdw>
          </a:effectLst>
        </p:spPr>
        <p:txBody>
          <a:bodyPr/>
          <a:lstStyle/>
          <a:p>
            <a:endParaRPr lang="en-US"/>
          </a:p>
        </p:txBody>
      </p:sp>
      <p:pic>
        <p:nvPicPr>
          <p:cNvPr id="3" name="Image 0" descr="icons/compare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16244D"/>
                </a:solidFill>
                <a:latin typeface="Calibri" pitchFamily="34" charset="0"/>
                <a:ea typeface="Calibri" pitchFamily="34" charset="-122"/>
                <a:cs typeface="Calibri" pitchFamily="34" charset="-120"/>
              </a:rPr>
              <a:t>ARCHITECTURE COMPARISON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Local vs Fabric Cloud</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612880" cy="4425696"/>
        </p:xfrm>
        <a:graphic>
          <a:graphicData uri="http://schemas.openxmlformats.org/drawingml/2006/table">
            <a:tbl>
              <a:tblPr/>
              <a:tblGrid>
                <a:gridCol w="228600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02336">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16244D"/>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  Local Implementation</a:t>
                      </a:r>
                      <a:endParaRPr lang="en-US" sz="1250" dirty="0">
                        <a:latin typeface="Calibri" charset="0"/>
                        <a:ea typeface="Calibri" charset="0"/>
                        <a:cs typeface="Calibri" charset="0"/>
                      </a:endParaRPr>
                    </a:p>
                  </a:txBody>
                  <a:tcPr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0E7C86"/>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  Fabric Cloud Build</a:t>
                      </a:r>
                      <a:endParaRPr lang="en-US" sz="1250" dirty="0">
                        <a:latin typeface="Calibri" charset="0"/>
                        <a:ea typeface="Calibri" charset="0"/>
                        <a:cs typeface="Calibri" charset="0"/>
                      </a:endParaRPr>
                    </a:p>
                  </a:txBody>
                  <a:tcPr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1F9E54"/>
                    </a:solidFill>
                  </a:tcPr>
                </a:tc>
                <a:extLst>
                  <a:ext uri="{0D108BD9-81ED-4DB2-BD59-A6C34878D82A}">
                    <a16:rowId xmlns:a16="http://schemas.microsoft.com/office/drawing/2014/main" val="10000"/>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4F7FB"/>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8 CSV files; fact replayed via FastAPI</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Cloud-hosted CSV datasets</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Orchestration</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4ECF5"/>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Airflow (Docker) + PowerShell</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Fabric Data Factory pipeline (ForEach)</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extLst>
                  <a:ext uri="{0D108BD9-81ED-4DB2-BD59-A6C34878D82A}">
                    <a16:rowId xmlns:a16="http://schemas.microsoft.com/office/drawing/2014/main" val="10002"/>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Bronze</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4F7FB"/>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Parquet (batch) / JSONL (incremental)</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Lakehouse / OneLake Delta tables</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Silver</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4ECF5"/>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PySpark conformance to Parquet</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Conformed SQL views in Warehouse</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extLst>
                  <a:ext uri="{0D108BD9-81ED-4DB2-BD59-A6C34878D82A}">
                    <a16:rowId xmlns:a16="http://schemas.microsoft.com/office/drawing/2014/main" val="10004"/>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Gold</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4F7FB"/>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dbo.* star: full-reload + MERGE</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Fabric Warehouse SQL views + dbt marts</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Warehouse</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4ECF5"/>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SQL Server Express (fintech_db)</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Fabric Warehouse (Gold_WH)</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extLst>
                  <a:ext uri="{0D108BD9-81ED-4DB2-BD59-A6C34878D82A}">
                    <a16:rowId xmlns:a16="http://schemas.microsoft.com/office/drawing/2014/main" val="10006"/>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dbt</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4F7FB"/>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dbt-sqlserver (tests + views)</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dbt-fabric (models, tests, docs)</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Reporting</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4ECF5"/>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Power BI Desktop (Import)</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Power BI Desktop</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extLst>
                  <a:ext uri="{0D108BD9-81ED-4DB2-BD59-A6C34878D82A}">
                    <a16:rowId xmlns:a16="http://schemas.microsoft.com/office/drawing/2014/main" val="10008"/>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Authentication</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4F7FB"/>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Windows (Trusted) Auth — no secrets</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Microsoft Entra ID · service principals</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l">
                        <a:buNone/>
                      </a:pPr>
                      <a:r>
                        <a:rPr lang="en-US" sz="1100" b="1" dirty="0">
                          <a:solidFill>
                            <a:srgbClr val="16244D"/>
                          </a:solidFill>
                          <a:latin typeface="Calibri" pitchFamily="34" charset="0"/>
                          <a:ea typeface="Calibri" pitchFamily="34" charset="-122"/>
                          <a:cs typeface="Calibri" pitchFamily="34" charset="-120"/>
                        </a:rPr>
                        <a:t>Monitoring</a:t>
                      </a:r>
                      <a:endParaRPr lang="en-US" sz="110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4ECF5"/>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Exit codes · dbt · load log</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tc>
                  <a:txBody>
                    <a:bodyPr/>
                    <a:lstStyle/>
                    <a:p>
                      <a:pPr marL="0" indent="0" algn="l">
                        <a:buNone/>
                      </a:pPr>
                      <a:r>
                        <a:rPr lang="en-US" sz="1050" dirty="0">
                          <a:solidFill>
                            <a:srgbClr val="1C2A3A"/>
                          </a:solidFill>
                          <a:latin typeface="Calibri" pitchFamily="34" charset="0"/>
                          <a:ea typeface="Calibri" pitchFamily="34" charset="-122"/>
                          <a:cs typeface="Calibri" pitchFamily="34" charset="-120"/>
                        </a:rPr>
                        <a:t>Fabric monitoring + run history</a:t>
                      </a:r>
                      <a:endParaRPr lang="en-US" sz="1050" dirty="0">
                        <a:latin typeface="Calibri" charset="0"/>
                        <a:ea typeface="Calibri" charset="0"/>
                        <a:cs typeface="Calibri" charset="0"/>
                      </a:endParaRPr>
                    </a:p>
                  </a:txBody>
                  <a:tcPr marL="76200" marR="76200" marT="25400" marB="25400" anchor="ctr">
                    <a:lnL w="6350" cap="flat" cmpd="sng" algn="ctr">
                      <a:solidFill>
                        <a:srgbClr val="D9E1EC"/>
                      </a:solidFill>
                      <a:prstDash val="solid"/>
                      <a:round/>
                      <a:headEnd type="none" w="med" len="med"/>
                      <a:tailEnd type="none" w="med" len="med"/>
                    </a:lnL>
                    <a:lnR w="6350" cap="flat" cmpd="sng" algn="ctr">
                      <a:solidFill>
                        <a:srgbClr val="D9E1EC"/>
                      </a:solidFill>
                      <a:prstDash val="solid"/>
                      <a:round/>
                      <a:headEnd type="none" w="med" len="med"/>
                      <a:tailEnd type="none" w="med" len="med"/>
                    </a:lnR>
                    <a:lnT w="6350" cap="flat" cmpd="sng" algn="ctr">
                      <a:solidFill>
                        <a:srgbClr val="D9E1EC"/>
                      </a:solidFill>
                      <a:prstDash val="solid"/>
                      <a:round/>
                      <a:headEnd type="none" w="med" len="med"/>
                      <a:tailEnd type="none" w="med" len="med"/>
                    </a:lnT>
                    <a:lnB w="6350" cap="flat" cmpd="sng" algn="ctr">
                      <a:solidFill>
                        <a:srgbClr val="D9E1EC"/>
                      </a:solidFill>
                      <a:prstDash val="solid"/>
                      <a:round/>
                      <a:headEnd type="none" w="med" len="med"/>
                      <a:tailEnd type="none" w="med" len="med"/>
                    </a:lnB>
                    <a:solidFill>
                      <a:srgbClr val="EEF3F9"/>
                    </a:solidFill>
                  </a:tcPr>
                </a:tc>
                <a:extLst>
                  <a:ext uri="{0D108BD9-81ED-4DB2-BD59-A6C34878D82A}">
                    <a16:rowId xmlns:a16="http://schemas.microsoft.com/office/drawing/2014/main" val="10010"/>
                  </a:ext>
                </a:extLst>
              </a:tr>
            </a:tbl>
          </a:graphicData>
        </a:graphic>
      </p:graphicFrame>
      <p:sp>
        <p:nvSpPr>
          <p:cNvPr id="7" name="Text 3"/>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3" name="Image 0" descr="icons/powerbi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SECTION 06 — POWER BI DASHBOARD</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Business Intelligence</a:t>
            </a:r>
            <a:endParaRPr lang="en-US" sz="2600" dirty="0"/>
          </a:p>
        </p:txBody>
      </p:sp>
      <p:sp>
        <p:nvSpPr>
          <p:cNvPr id="6" name="Text 3"/>
          <p:cNvSpPr/>
          <p:nvPr/>
        </p:nvSpPr>
        <p:spPr>
          <a:xfrm>
            <a:off x="502920" y="1060704"/>
            <a:ext cx="11155680" cy="274320"/>
          </a:xfrm>
          <a:prstGeom prst="rect">
            <a:avLst/>
          </a:prstGeom>
          <a:noFill/>
          <a:ln/>
        </p:spPr>
        <p:txBody>
          <a:bodyPr wrap="square" lIns="0" tIns="0" rIns="0" bIns="0" rtlCol="0" anchor="ctr"/>
          <a:lstStyle/>
          <a:p>
            <a:pPr marL="0" indent="0">
              <a:buNone/>
            </a:pPr>
            <a:r>
              <a:rPr lang="en-US" sz="1150" i="1" dirty="0">
                <a:solidFill>
                  <a:srgbClr val="5A6B82"/>
                </a:solidFill>
                <a:latin typeface="Calibri" pitchFamily="34" charset="0"/>
                <a:ea typeface="Calibri" pitchFamily="34" charset="-122"/>
                <a:cs typeface="Calibri" pitchFamily="34" charset="-120"/>
              </a:rPr>
              <a:t>Power BI Desktop · Import mode · Windows Auth — connected to the trusted warehouse / reporting views</a:t>
            </a:r>
            <a:endParaRPr lang="en-US" sz="1150" dirty="0"/>
          </a:p>
        </p:txBody>
      </p:sp>
      <p:sp>
        <p:nvSpPr>
          <p:cNvPr id="7" name="Shape 4"/>
          <p:cNvSpPr/>
          <p:nvPr/>
        </p:nvSpPr>
        <p:spPr>
          <a:xfrm>
            <a:off x="1215695" y="1417320"/>
            <a:ext cx="4060850" cy="2240280"/>
          </a:xfrm>
          <a:prstGeom prst="roundRect">
            <a:avLst>
              <a:gd name="adj" fmla="val 2449"/>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8" name="Image 1" descr="img/Overview_performance_powerbi.PNG"/>
          <p:cNvPicPr>
            <a:picLocks noChangeAspect="1"/>
          </p:cNvPicPr>
          <p:nvPr/>
        </p:nvPicPr>
        <p:blipFill>
          <a:blip r:embed="rId4"/>
          <a:stretch>
            <a:fillRect/>
          </a:stretch>
        </p:blipFill>
        <p:spPr>
          <a:xfrm>
            <a:off x="1261415" y="1463040"/>
            <a:ext cx="3969410" cy="2148840"/>
          </a:xfrm>
          <a:prstGeom prst="rect">
            <a:avLst/>
          </a:prstGeom>
        </p:spPr>
      </p:pic>
      <p:sp>
        <p:nvSpPr>
          <p:cNvPr id="9" name="Shape 5"/>
          <p:cNvSpPr/>
          <p:nvPr/>
        </p:nvSpPr>
        <p:spPr>
          <a:xfrm>
            <a:off x="539496" y="3675888"/>
            <a:ext cx="237744" cy="237744"/>
          </a:xfrm>
          <a:prstGeom prst="ellipse">
            <a:avLst/>
          </a:prstGeom>
          <a:solidFill>
            <a:srgbClr val="0E7C86"/>
          </a:solidFill>
          <a:ln/>
        </p:spPr>
        <p:txBody>
          <a:bodyPr/>
          <a:lstStyle/>
          <a:p>
            <a:endParaRPr lang="en-US"/>
          </a:p>
        </p:txBody>
      </p:sp>
      <p:pic>
        <p:nvPicPr>
          <p:cNvPr id="10" name="Image 2" descr="icons/overview_w.png"/>
          <p:cNvPicPr>
            <a:picLocks noChangeAspect="1"/>
          </p:cNvPicPr>
          <p:nvPr/>
        </p:nvPicPr>
        <p:blipFill>
          <a:blip r:embed="rId5"/>
          <a:stretch>
            <a:fillRect/>
          </a:stretch>
        </p:blipFill>
        <p:spPr>
          <a:xfrm>
            <a:off x="603504" y="3739896"/>
            <a:ext cx="109728" cy="109728"/>
          </a:xfrm>
          <a:prstGeom prst="rect">
            <a:avLst/>
          </a:prstGeom>
        </p:spPr>
      </p:pic>
      <p:sp>
        <p:nvSpPr>
          <p:cNvPr id="11" name="Text 6"/>
          <p:cNvSpPr/>
          <p:nvPr/>
        </p:nvSpPr>
        <p:spPr>
          <a:xfrm>
            <a:off x="850392" y="3657600"/>
            <a:ext cx="51206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Overview — 689.18M volume · 40K customers</a:t>
            </a:r>
            <a:endParaRPr lang="en-US" sz="1050" dirty="0"/>
          </a:p>
        </p:txBody>
      </p:sp>
      <p:sp>
        <p:nvSpPr>
          <p:cNvPr id="12" name="Shape 7"/>
          <p:cNvSpPr/>
          <p:nvPr/>
        </p:nvSpPr>
        <p:spPr>
          <a:xfrm>
            <a:off x="6904634" y="1417320"/>
            <a:ext cx="4076395" cy="2240280"/>
          </a:xfrm>
          <a:prstGeom prst="roundRect">
            <a:avLst>
              <a:gd name="adj" fmla="val 2449"/>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13" name="Image 3" descr="img/Transactions_performance_powerbi.PNG"/>
          <p:cNvPicPr>
            <a:picLocks noChangeAspect="1"/>
          </p:cNvPicPr>
          <p:nvPr/>
        </p:nvPicPr>
        <p:blipFill>
          <a:blip r:embed="rId6"/>
          <a:stretch>
            <a:fillRect/>
          </a:stretch>
        </p:blipFill>
        <p:spPr>
          <a:xfrm>
            <a:off x="6950354" y="1463040"/>
            <a:ext cx="3984955" cy="2148840"/>
          </a:xfrm>
          <a:prstGeom prst="rect">
            <a:avLst/>
          </a:prstGeom>
        </p:spPr>
      </p:pic>
      <p:sp>
        <p:nvSpPr>
          <p:cNvPr id="14" name="Shape 8"/>
          <p:cNvSpPr/>
          <p:nvPr/>
        </p:nvSpPr>
        <p:spPr>
          <a:xfrm>
            <a:off x="6236208" y="3675888"/>
            <a:ext cx="237744" cy="237744"/>
          </a:xfrm>
          <a:prstGeom prst="ellipse">
            <a:avLst/>
          </a:prstGeom>
          <a:solidFill>
            <a:srgbClr val="0E7C86"/>
          </a:solidFill>
          <a:ln/>
        </p:spPr>
        <p:txBody>
          <a:bodyPr/>
          <a:lstStyle/>
          <a:p>
            <a:endParaRPr lang="en-US"/>
          </a:p>
        </p:txBody>
      </p:sp>
      <p:pic>
        <p:nvPicPr>
          <p:cNvPr id="15" name="Image 4" descr="icons/receipt_w.png"/>
          <p:cNvPicPr>
            <a:picLocks noChangeAspect="1"/>
          </p:cNvPicPr>
          <p:nvPr/>
        </p:nvPicPr>
        <p:blipFill>
          <a:blip r:embed="rId7"/>
          <a:stretch>
            <a:fillRect/>
          </a:stretch>
        </p:blipFill>
        <p:spPr>
          <a:xfrm>
            <a:off x="6300216" y="3739896"/>
            <a:ext cx="109728" cy="109728"/>
          </a:xfrm>
          <a:prstGeom prst="rect">
            <a:avLst/>
          </a:prstGeom>
        </p:spPr>
      </p:pic>
      <p:sp>
        <p:nvSpPr>
          <p:cNvPr id="16" name="Text 9"/>
          <p:cNvSpPr/>
          <p:nvPr/>
        </p:nvSpPr>
        <p:spPr>
          <a:xfrm>
            <a:off x="6547104" y="3657600"/>
            <a:ext cx="51206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Transactions — declines, FX, city &amp; trend</a:t>
            </a:r>
            <a:endParaRPr lang="en-US" sz="1050" dirty="0"/>
          </a:p>
        </p:txBody>
      </p:sp>
      <p:sp>
        <p:nvSpPr>
          <p:cNvPr id="17" name="Shape 10"/>
          <p:cNvSpPr/>
          <p:nvPr/>
        </p:nvSpPr>
        <p:spPr>
          <a:xfrm>
            <a:off x="1215238" y="3913632"/>
            <a:ext cx="4061765" cy="2240280"/>
          </a:xfrm>
          <a:prstGeom prst="roundRect">
            <a:avLst>
              <a:gd name="adj" fmla="val 2449"/>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18" name="Image 5" descr="img/Customers_performance_powerbi.PNG"/>
          <p:cNvPicPr>
            <a:picLocks noChangeAspect="1"/>
          </p:cNvPicPr>
          <p:nvPr/>
        </p:nvPicPr>
        <p:blipFill>
          <a:blip r:embed="rId8"/>
          <a:stretch>
            <a:fillRect/>
          </a:stretch>
        </p:blipFill>
        <p:spPr>
          <a:xfrm>
            <a:off x="1260958" y="3959352"/>
            <a:ext cx="3970325" cy="2148840"/>
          </a:xfrm>
          <a:prstGeom prst="rect">
            <a:avLst/>
          </a:prstGeom>
        </p:spPr>
      </p:pic>
      <p:sp>
        <p:nvSpPr>
          <p:cNvPr id="19" name="Shape 11"/>
          <p:cNvSpPr/>
          <p:nvPr/>
        </p:nvSpPr>
        <p:spPr>
          <a:xfrm>
            <a:off x="539496" y="6172200"/>
            <a:ext cx="237744" cy="237744"/>
          </a:xfrm>
          <a:prstGeom prst="ellipse">
            <a:avLst/>
          </a:prstGeom>
          <a:solidFill>
            <a:srgbClr val="0E7C86"/>
          </a:solidFill>
          <a:ln/>
        </p:spPr>
        <p:txBody>
          <a:bodyPr/>
          <a:lstStyle/>
          <a:p>
            <a:endParaRPr lang="en-US"/>
          </a:p>
        </p:txBody>
      </p:sp>
      <p:pic>
        <p:nvPicPr>
          <p:cNvPr id="20" name="Image 6" descr="icons/users_w.png"/>
          <p:cNvPicPr>
            <a:picLocks noChangeAspect="1"/>
          </p:cNvPicPr>
          <p:nvPr/>
        </p:nvPicPr>
        <p:blipFill>
          <a:blip r:embed="rId9"/>
          <a:stretch>
            <a:fillRect/>
          </a:stretch>
        </p:blipFill>
        <p:spPr>
          <a:xfrm>
            <a:off x="603504" y="6236208"/>
            <a:ext cx="109728" cy="109728"/>
          </a:xfrm>
          <a:prstGeom prst="rect">
            <a:avLst/>
          </a:prstGeom>
        </p:spPr>
      </p:pic>
      <p:sp>
        <p:nvSpPr>
          <p:cNvPr id="21" name="Text 12"/>
          <p:cNvSpPr/>
          <p:nvPr/>
        </p:nvSpPr>
        <p:spPr>
          <a:xfrm>
            <a:off x="850392" y="6153912"/>
            <a:ext cx="51206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Customers — tiers, acquisition, age, growth</a:t>
            </a:r>
            <a:endParaRPr lang="en-US" sz="1050" dirty="0"/>
          </a:p>
        </p:txBody>
      </p:sp>
      <p:sp>
        <p:nvSpPr>
          <p:cNvPr id="22" name="Shape 13"/>
          <p:cNvSpPr/>
          <p:nvPr/>
        </p:nvSpPr>
        <p:spPr>
          <a:xfrm>
            <a:off x="6904634" y="3913632"/>
            <a:ext cx="4076395" cy="2240280"/>
          </a:xfrm>
          <a:prstGeom prst="roundRect">
            <a:avLst>
              <a:gd name="adj" fmla="val 2449"/>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23" name="Image 7" descr="img/Merchant_performance_powerbi.PNG"/>
          <p:cNvPicPr>
            <a:picLocks noChangeAspect="1"/>
          </p:cNvPicPr>
          <p:nvPr/>
        </p:nvPicPr>
        <p:blipFill>
          <a:blip r:embed="rId10"/>
          <a:stretch>
            <a:fillRect/>
          </a:stretch>
        </p:blipFill>
        <p:spPr>
          <a:xfrm>
            <a:off x="6950354" y="3959352"/>
            <a:ext cx="3984955" cy="2148840"/>
          </a:xfrm>
          <a:prstGeom prst="rect">
            <a:avLst/>
          </a:prstGeom>
        </p:spPr>
      </p:pic>
      <p:sp>
        <p:nvSpPr>
          <p:cNvPr id="24" name="Shape 14"/>
          <p:cNvSpPr/>
          <p:nvPr/>
        </p:nvSpPr>
        <p:spPr>
          <a:xfrm>
            <a:off x="6236208" y="6172200"/>
            <a:ext cx="237744" cy="237744"/>
          </a:xfrm>
          <a:prstGeom prst="ellipse">
            <a:avLst/>
          </a:prstGeom>
          <a:solidFill>
            <a:srgbClr val="0E7C86"/>
          </a:solidFill>
          <a:ln/>
        </p:spPr>
        <p:txBody>
          <a:bodyPr/>
          <a:lstStyle/>
          <a:p>
            <a:endParaRPr lang="en-US"/>
          </a:p>
        </p:txBody>
      </p:sp>
      <p:pic>
        <p:nvPicPr>
          <p:cNvPr id="25" name="Image 8" descr="icons/store_w.png"/>
          <p:cNvPicPr>
            <a:picLocks noChangeAspect="1"/>
          </p:cNvPicPr>
          <p:nvPr/>
        </p:nvPicPr>
        <p:blipFill>
          <a:blip r:embed="rId11"/>
          <a:stretch>
            <a:fillRect/>
          </a:stretch>
        </p:blipFill>
        <p:spPr>
          <a:xfrm>
            <a:off x="6300216" y="6236208"/>
            <a:ext cx="109728" cy="109728"/>
          </a:xfrm>
          <a:prstGeom prst="rect">
            <a:avLst/>
          </a:prstGeom>
        </p:spPr>
      </p:pic>
      <p:sp>
        <p:nvSpPr>
          <p:cNvPr id="26" name="Text 15"/>
          <p:cNvSpPr/>
          <p:nvPr/>
        </p:nvSpPr>
        <p:spPr>
          <a:xfrm>
            <a:off x="6547104" y="6153912"/>
            <a:ext cx="5120640" cy="274320"/>
          </a:xfrm>
          <a:prstGeom prst="rect">
            <a:avLst/>
          </a:prstGeom>
          <a:noFill/>
          <a:ln/>
        </p:spPr>
        <p:txBody>
          <a:bodyPr wrap="square" lIns="0" tIns="0" rIns="0" bIns="0" rtlCol="0" anchor="ctr"/>
          <a:lstStyle/>
          <a:p>
            <a:pPr marL="0" indent="0">
              <a:buNone/>
            </a:pPr>
            <a:r>
              <a:rPr lang="en-US" sz="1050" dirty="0">
                <a:solidFill>
                  <a:srgbClr val="5A6B82"/>
                </a:solidFill>
                <a:latin typeface="Calibri" pitchFamily="34" charset="0"/>
                <a:ea typeface="Calibri" pitchFamily="34" charset="-122"/>
                <a:cs typeface="Calibri" pitchFamily="34" charset="-120"/>
              </a:rPr>
              <a:t>Merchants — category, size mix, revenue trend</a:t>
            </a:r>
            <a:endParaRPr lang="en-US" sz="1050" dirty="0"/>
          </a:p>
        </p:txBody>
      </p:sp>
      <p:sp>
        <p:nvSpPr>
          <p:cNvPr id="27" name="Text 1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384048"/>
            <a:ext cx="603504" cy="603504"/>
          </a:xfrm>
          <a:prstGeom prst="ellipse">
            <a:avLst/>
          </a:prstGeom>
          <a:solidFill>
            <a:srgbClr val="1F9E54"/>
          </a:solidFill>
          <a:ln/>
          <a:effectLst>
            <a:outerShdw blurRad="88900" dist="25400" dir="5400000" algn="bl" rotWithShape="0">
              <a:srgbClr val="13233F">
                <a:alpha val="12000"/>
              </a:srgbClr>
            </a:outerShdw>
          </a:effectLst>
        </p:spPr>
        <p:txBody>
          <a:bodyPr/>
          <a:lstStyle/>
          <a:p>
            <a:endParaRPr lang="en-US"/>
          </a:p>
        </p:txBody>
      </p:sp>
      <p:pic>
        <p:nvPicPr>
          <p:cNvPr id="3" name="Image 0" descr="icons/validate_w.png"/>
          <p:cNvPicPr>
            <a:picLocks noChangeAspect="1"/>
          </p:cNvPicPr>
          <p:nvPr/>
        </p:nvPicPr>
        <p:blipFill>
          <a:blip r:embed="rId3"/>
          <a:stretch>
            <a:fillRect/>
          </a:stretch>
        </p:blipFill>
        <p:spPr>
          <a:xfrm>
            <a:off x="667512" y="548640"/>
            <a:ext cx="274320" cy="274320"/>
          </a:xfrm>
          <a:prstGeom prst="rect">
            <a:avLst/>
          </a:prstGeom>
        </p:spPr>
      </p:pic>
      <p:sp>
        <p:nvSpPr>
          <p:cNvPr id="4" name="Text 1"/>
          <p:cNvSpPr/>
          <p:nvPr/>
        </p:nvSpPr>
        <p:spPr>
          <a:xfrm>
            <a:off x="1307592" y="365760"/>
            <a:ext cx="10515600" cy="237744"/>
          </a:xfrm>
          <a:prstGeom prst="rect">
            <a:avLst/>
          </a:prstGeom>
          <a:noFill/>
          <a:ln/>
        </p:spPr>
        <p:txBody>
          <a:bodyPr wrap="square" lIns="0" tIns="0" rIns="0" bIns="0" rtlCol="0" anchor="ctr"/>
          <a:lstStyle/>
          <a:p>
            <a:pPr marL="0" indent="0">
              <a:buNone/>
            </a:pPr>
            <a:r>
              <a:rPr lang="en-US" sz="1150" b="1" kern="0" spc="200" dirty="0">
                <a:solidFill>
                  <a:srgbClr val="1F9E54"/>
                </a:solidFill>
                <a:latin typeface="Calibri" pitchFamily="34" charset="0"/>
                <a:ea typeface="Calibri" pitchFamily="34" charset="-122"/>
                <a:cs typeface="Calibri" pitchFamily="34" charset="-120"/>
              </a:rPr>
              <a:t>PROOF OF COMPLETION</a:t>
            </a:r>
            <a:endParaRPr lang="en-US" sz="1150" dirty="0"/>
          </a:p>
        </p:txBody>
      </p:sp>
      <p:sp>
        <p:nvSpPr>
          <p:cNvPr id="5" name="Text 2"/>
          <p:cNvSpPr/>
          <p:nvPr/>
        </p:nvSpPr>
        <p:spPr>
          <a:xfrm>
            <a:off x="1307592" y="603504"/>
            <a:ext cx="10607040" cy="548640"/>
          </a:xfrm>
          <a:prstGeom prst="rect">
            <a:avLst/>
          </a:prstGeom>
          <a:noFill/>
          <a:ln/>
        </p:spPr>
        <p:txBody>
          <a:bodyPr wrap="square" lIns="0" tIns="0" rIns="0" bIns="0" rtlCol="0" anchor="ctr"/>
          <a:lstStyle/>
          <a:p>
            <a:pPr marL="0" indent="0">
              <a:buNone/>
            </a:pPr>
            <a:r>
              <a:rPr lang="en-US" sz="2600" b="1" dirty="0">
                <a:solidFill>
                  <a:srgbClr val="16244D"/>
                </a:solidFill>
                <a:latin typeface="Cambria" pitchFamily="34" charset="0"/>
                <a:ea typeface="Cambria" pitchFamily="34" charset="-122"/>
                <a:cs typeface="Cambria" pitchFamily="34" charset="-120"/>
              </a:rPr>
              <a:t>Validation &amp; Evidence</a:t>
            </a:r>
            <a:endParaRPr lang="en-US" sz="2600" dirty="0"/>
          </a:p>
        </p:txBody>
      </p:sp>
      <p:sp>
        <p:nvSpPr>
          <p:cNvPr id="6" name="Shape 3"/>
          <p:cNvSpPr/>
          <p:nvPr/>
        </p:nvSpPr>
        <p:spPr>
          <a:xfrm>
            <a:off x="502920" y="1417320"/>
            <a:ext cx="5074920" cy="4937760"/>
          </a:xfrm>
          <a:prstGeom prst="roundRect">
            <a:avLst>
              <a:gd name="adj" fmla="val 1667"/>
            </a:avLst>
          </a:prstGeom>
          <a:solidFill>
            <a:srgbClr val="FFFFFF"/>
          </a:solidFill>
          <a:ln w="12700">
            <a:solidFill>
              <a:srgbClr val="D9E1EC"/>
            </a:solidFill>
            <a:prstDash val="solid"/>
          </a:ln>
          <a:effectLst>
            <a:outerShdw blurRad="88900" dist="25400" dir="5400000" algn="bl" rotWithShape="0">
              <a:srgbClr val="13233F">
                <a:alpha val="12000"/>
              </a:srgbClr>
            </a:outerShdw>
          </a:effectLst>
        </p:spPr>
        <p:txBody>
          <a:bodyPr/>
          <a:lstStyle/>
          <a:p>
            <a:endParaRPr lang="en-US"/>
          </a:p>
        </p:txBody>
      </p:sp>
      <p:sp>
        <p:nvSpPr>
          <p:cNvPr id="7" name="Text 4"/>
          <p:cNvSpPr/>
          <p:nvPr/>
        </p:nvSpPr>
        <p:spPr>
          <a:xfrm>
            <a:off x="795528" y="1591056"/>
            <a:ext cx="4572000" cy="320040"/>
          </a:xfrm>
          <a:prstGeom prst="rect">
            <a:avLst/>
          </a:prstGeom>
          <a:noFill/>
          <a:ln/>
        </p:spPr>
        <p:txBody>
          <a:bodyPr wrap="square" lIns="0" tIns="0" rIns="0" bIns="0" rtlCol="0" anchor="ctr"/>
          <a:lstStyle/>
          <a:p>
            <a:pPr marL="0" indent="0">
              <a:buNone/>
            </a:pPr>
            <a:r>
              <a:rPr lang="en-US" sz="1500" b="1" dirty="0">
                <a:solidFill>
                  <a:srgbClr val="16244D"/>
                </a:solidFill>
                <a:latin typeface="Cambria" pitchFamily="34" charset="0"/>
                <a:ea typeface="Cambria" pitchFamily="34" charset="-122"/>
                <a:cs typeface="Cambria" pitchFamily="34" charset="-120"/>
              </a:rPr>
              <a:t>Completion checklist</a:t>
            </a:r>
            <a:endParaRPr lang="en-US" sz="1500" dirty="0"/>
          </a:p>
        </p:txBody>
      </p:sp>
      <p:pic>
        <p:nvPicPr>
          <p:cNvPr id="8" name="Image 1" descr="icons/check.png"/>
          <p:cNvPicPr>
            <a:picLocks noChangeAspect="1"/>
          </p:cNvPicPr>
          <p:nvPr/>
        </p:nvPicPr>
        <p:blipFill>
          <a:blip r:embed="rId4"/>
          <a:stretch>
            <a:fillRect/>
          </a:stretch>
        </p:blipFill>
        <p:spPr>
          <a:xfrm>
            <a:off x="813816" y="2084832"/>
            <a:ext cx="274320" cy="274320"/>
          </a:xfrm>
          <a:prstGeom prst="rect">
            <a:avLst/>
          </a:prstGeom>
        </p:spPr>
      </p:pic>
      <p:sp>
        <p:nvSpPr>
          <p:cNvPr id="9" name="Text 5"/>
          <p:cNvSpPr/>
          <p:nvPr/>
        </p:nvSpPr>
        <p:spPr>
          <a:xfrm>
            <a:off x="1216152" y="2048256"/>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Initial batch pipeline completed</a:t>
            </a:r>
            <a:endParaRPr lang="en-US" sz="1250" dirty="0"/>
          </a:p>
        </p:txBody>
      </p:sp>
      <p:pic>
        <p:nvPicPr>
          <p:cNvPr id="10" name="Image 2" descr="icons/check.png"/>
          <p:cNvPicPr>
            <a:picLocks noChangeAspect="1"/>
          </p:cNvPicPr>
          <p:nvPr/>
        </p:nvPicPr>
        <p:blipFill>
          <a:blip r:embed="rId4"/>
          <a:stretch>
            <a:fillRect/>
          </a:stretch>
        </p:blipFill>
        <p:spPr>
          <a:xfrm>
            <a:off x="813816" y="2596896"/>
            <a:ext cx="274320" cy="274320"/>
          </a:xfrm>
          <a:prstGeom prst="rect">
            <a:avLst/>
          </a:prstGeom>
        </p:spPr>
      </p:pic>
      <p:sp>
        <p:nvSpPr>
          <p:cNvPr id="11" name="Text 6"/>
          <p:cNvSpPr/>
          <p:nvPr/>
        </p:nvSpPr>
        <p:spPr>
          <a:xfrm>
            <a:off x="1216152" y="2560320"/>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Incremental Kafka pipeline completed</a:t>
            </a:r>
            <a:endParaRPr lang="en-US" sz="1250" dirty="0"/>
          </a:p>
        </p:txBody>
      </p:sp>
      <p:pic>
        <p:nvPicPr>
          <p:cNvPr id="12" name="Image 3" descr="icons/check.png"/>
          <p:cNvPicPr>
            <a:picLocks noChangeAspect="1"/>
          </p:cNvPicPr>
          <p:nvPr/>
        </p:nvPicPr>
        <p:blipFill>
          <a:blip r:embed="rId4"/>
          <a:stretch>
            <a:fillRect/>
          </a:stretch>
        </p:blipFill>
        <p:spPr>
          <a:xfrm>
            <a:off x="813816" y="3108960"/>
            <a:ext cx="274320" cy="274320"/>
          </a:xfrm>
          <a:prstGeom prst="rect">
            <a:avLst/>
          </a:prstGeom>
        </p:spPr>
      </p:pic>
      <p:sp>
        <p:nvSpPr>
          <p:cNvPr id="13" name="Text 7"/>
          <p:cNvSpPr/>
          <p:nvPr/>
        </p:nvSpPr>
        <p:spPr>
          <a:xfrm>
            <a:off x="1216152" y="3072384"/>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SQL MERGE validated (idempotent)</a:t>
            </a:r>
            <a:endParaRPr lang="en-US" sz="1250" dirty="0"/>
          </a:p>
        </p:txBody>
      </p:sp>
      <p:pic>
        <p:nvPicPr>
          <p:cNvPr id="14" name="Image 4" descr="icons/check.png"/>
          <p:cNvPicPr>
            <a:picLocks noChangeAspect="1"/>
          </p:cNvPicPr>
          <p:nvPr/>
        </p:nvPicPr>
        <p:blipFill>
          <a:blip r:embed="rId4"/>
          <a:stretch>
            <a:fillRect/>
          </a:stretch>
        </p:blipFill>
        <p:spPr>
          <a:xfrm>
            <a:off x="813816" y="3621024"/>
            <a:ext cx="274320" cy="274320"/>
          </a:xfrm>
          <a:prstGeom prst="rect">
            <a:avLst/>
          </a:prstGeom>
        </p:spPr>
      </p:pic>
      <p:sp>
        <p:nvSpPr>
          <p:cNvPr id="15" name="Text 8"/>
          <p:cNvSpPr/>
          <p:nvPr/>
        </p:nvSpPr>
        <p:spPr>
          <a:xfrm>
            <a:off x="1216152" y="3584448"/>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dbt build PASS = 47 · WARN/ERROR = 0</a:t>
            </a:r>
            <a:endParaRPr lang="en-US" sz="1250" dirty="0"/>
          </a:p>
        </p:txBody>
      </p:sp>
      <p:pic>
        <p:nvPicPr>
          <p:cNvPr id="16" name="Image 5" descr="icons/check.png"/>
          <p:cNvPicPr>
            <a:picLocks noChangeAspect="1"/>
          </p:cNvPicPr>
          <p:nvPr/>
        </p:nvPicPr>
        <p:blipFill>
          <a:blip r:embed="rId4"/>
          <a:stretch>
            <a:fillRect/>
          </a:stretch>
        </p:blipFill>
        <p:spPr>
          <a:xfrm>
            <a:off x="813816" y="4133088"/>
            <a:ext cx="274320" cy="274320"/>
          </a:xfrm>
          <a:prstGeom prst="rect">
            <a:avLst/>
          </a:prstGeom>
        </p:spPr>
      </p:pic>
      <p:sp>
        <p:nvSpPr>
          <p:cNvPr id="17" name="Text 9"/>
          <p:cNvSpPr/>
          <p:nvPr/>
        </p:nvSpPr>
        <p:spPr>
          <a:xfrm>
            <a:off x="1216152" y="4096512"/>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No duplicate transaction_id</a:t>
            </a:r>
            <a:endParaRPr lang="en-US" sz="1250" dirty="0"/>
          </a:p>
        </p:txBody>
      </p:sp>
      <p:pic>
        <p:nvPicPr>
          <p:cNvPr id="18" name="Image 6" descr="icons/check.png"/>
          <p:cNvPicPr>
            <a:picLocks noChangeAspect="1"/>
          </p:cNvPicPr>
          <p:nvPr/>
        </p:nvPicPr>
        <p:blipFill>
          <a:blip r:embed="rId4"/>
          <a:stretch>
            <a:fillRect/>
          </a:stretch>
        </p:blipFill>
        <p:spPr>
          <a:xfrm>
            <a:off x="813816" y="4645152"/>
            <a:ext cx="274320" cy="274320"/>
          </a:xfrm>
          <a:prstGeom prst="rect">
            <a:avLst/>
          </a:prstGeom>
        </p:spPr>
      </p:pic>
      <p:sp>
        <p:nvSpPr>
          <p:cNvPr id="19" name="Text 10"/>
          <p:cNvSpPr/>
          <p:nvPr/>
        </p:nvSpPr>
        <p:spPr>
          <a:xfrm>
            <a:off x="1216152" y="4608576"/>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No orphan foreign keys</a:t>
            </a:r>
            <a:endParaRPr lang="en-US" sz="1250" dirty="0"/>
          </a:p>
        </p:txBody>
      </p:sp>
      <p:pic>
        <p:nvPicPr>
          <p:cNvPr id="20" name="Image 7" descr="icons/check.png"/>
          <p:cNvPicPr>
            <a:picLocks noChangeAspect="1"/>
          </p:cNvPicPr>
          <p:nvPr/>
        </p:nvPicPr>
        <p:blipFill>
          <a:blip r:embed="rId4"/>
          <a:stretch>
            <a:fillRect/>
          </a:stretch>
        </p:blipFill>
        <p:spPr>
          <a:xfrm>
            <a:off x="813816" y="5157216"/>
            <a:ext cx="274320" cy="274320"/>
          </a:xfrm>
          <a:prstGeom prst="rect">
            <a:avLst/>
          </a:prstGeom>
        </p:spPr>
      </p:pic>
      <p:sp>
        <p:nvSpPr>
          <p:cNvPr id="21" name="Text 11"/>
          <p:cNvSpPr/>
          <p:nvPr/>
        </p:nvSpPr>
        <p:spPr>
          <a:xfrm>
            <a:off x="1216152" y="5120640"/>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Reporting views created</a:t>
            </a:r>
            <a:endParaRPr lang="en-US" sz="1250" dirty="0"/>
          </a:p>
        </p:txBody>
      </p:sp>
      <p:pic>
        <p:nvPicPr>
          <p:cNvPr id="22" name="Image 8" descr="icons/check.png"/>
          <p:cNvPicPr>
            <a:picLocks noChangeAspect="1"/>
          </p:cNvPicPr>
          <p:nvPr/>
        </p:nvPicPr>
        <p:blipFill>
          <a:blip r:embed="rId4"/>
          <a:stretch>
            <a:fillRect/>
          </a:stretch>
        </p:blipFill>
        <p:spPr>
          <a:xfrm>
            <a:off x="813816" y="5669280"/>
            <a:ext cx="274320" cy="274320"/>
          </a:xfrm>
          <a:prstGeom prst="rect">
            <a:avLst/>
          </a:prstGeom>
        </p:spPr>
      </p:pic>
      <p:sp>
        <p:nvSpPr>
          <p:cNvPr id="23" name="Text 12"/>
          <p:cNvSpPr/>
          <p:nvPr/>
        </p:nvSpPr>
        <p:spPr>
          <a:xfrm>
            <a:off x="1216152" y="5632704"/>
            <a:ext cx="4206240" cy="365760"/>
          </a:xfrm>
          <a:prstGeom prst="rect">
            <a:avLst/>
          </a:prstGeom>
          <a:noFill/>
          <a:ln/>
        </p:spPr>
        <p:txBody>
          <a:bodyPr wrap="square" lIns="0" tIns="0" rIns="0" bIns="0" rtlCol="0" anchor="ctr"/>
          <a:lstStyle/>
          <a:p>
            <a:pPr marL="0" indent="0">
              <a:buNone/>
            </a:pPr>
            <a:r>
              <a:rPr lang="en-US" sz="1250" dirty="0">
                <a:solidFill>
                  <a:srgbClr val="1C2A3A"/>
                </a:solidFill>
                <a:latin typeface="Calibri" pitchFamily="34" charset="0"/>
                <a:ea typeface="Calibri" pitchFamily="34" charset="-122"/>
                <a:cs typeface="Calibri" pitchFamily="34" charset="-120"/>
              </a:rPr>
              <a:t>Cloud Gold reproduces 1,000,000 rows</a:t>
            </a:r>
            <a:endParaRPr lang="en-US" sz="1250" dirty="0"/>
          </a:p>
        </p:txBody>
      </p:sp>
      <p:sp>
        <p:nvSpPr>
          <p:cNvPr id="24" name="Shape 13"/>
          <p:cNvSpPr/>
          <p:nvPr/>
        </p:nvSpPr>
        <p:spPr>
          <a:xfrm>
            <a:off x="6654546" y="1417320"/>
            <a:ext cx="4247388" cy="2212848"/>
          </a:xfrm>
          <a:prstGeom prst="roundRect">
            <a:avLst>
              <a:gd name="adj" fmla="val 2479"/>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25" name="Image 9" descr="img/09_dbt_build_success.png"/>
          <p:cNvPicPr>
            <a:picLocks noChangeAspect="1"/>
          </p:cNvPicPr>
          <p:nvPr/>
        </p:nvPicPr>
        <p:blipFill>
          <a:blip r:embed="rId5"/>
          <a:stretch>
            <a:fillRect/>
          </a:stretch>
        </p:blipFill>
        <p:spPr>
          <a:xfrm>
            <a:off x="6700266" y="1463040"/>
            <a:ext cx="4155948" cy="2121408"/>
          </a:xfrm>
          <a:prstGeom prst="rect">
            <a:avLst/>
          </a:prstGeom>
        </p:spPr>
      </p:pic>
      <p:sp>
        <p:nvSpPr>
          <p:cNvPr id="26" name="Text 14"/>
          <p:cNvSpPr/>
          <p:nvPr/>
        </p:nvSpPr>
        <p:spPr>
          <a:xfrm>
            <a:off x="5852160" y="3639312"/>
            <a:ext cx="585216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dbt build  —  Done. PASS=47  WARN=0  ERROR=0</a:t>
            </a:r>
            <a:endParaRPr lang="en-US" sz="1050" dirty="0"/>
          </a:p>
        </p:txBody>
      </p:sp>
      <p:sp>
        <p:nvSpPr>
          <p:cNvPr id="27" name="Shape 15"/>
          <p:cNvSpPr/>
          <p:nvPr/>
        </p:nvSpPr>
        <p:spPr>
          <a:xfrm>
            <a:off x="6931152" y="3968496"/>
            <a:ext cx="3694176" cy="1993392"/>
          </a:xfrm>
          <a:prstGeom prst="roundRect">
            <a:avLst>
              <a:gd name="adj" fmla="val 2752"/>
            </a:avLst>
          </a:prstGeom>
          <a:solidFill>
            <a:srgbClr val="FFFFFF"/>
          </a:solidFill>
          <a:ln w="12700">
            <a:solidFill>
              <a:srgbClr val="D9E1EC"/>
            </a:solidFill>
            <a:prstDash val="solid"/>
          </a:ln>
          <a:effectLst>
            <a:outerShdw blurRad="114300" dist="38100" dir="5400000" algn="bl" rotWithShape="0">
              <a:srgbClr val="0B1830">
                <a:alpha val="16000"/>
              </a:srgbClr>
            </a:outerShdw>
          </a:effectLst>
        </p:spPr>
        <p:txBody>
          <a:bodyPr/>
          <a:lstStyle/>
          <a:p>
            <a:endParaRPr lang="en-US"/>
          </a:p>
        </p:txBody>
      </p:sp>
      <p:pic>
        <p:nvPicPr>
          <p:cNvPr id="28" name="Image 10" descr="img/04_sql_row_counts.png"/>
          <p:cNvPicPr>
            <a:picLocks noChangeAspect="1"/>
          </p:cNvPicPr>
          <p:nvPr/>
        </p:nvPicPr>
        <p:blipFill>
          <a:blip r:embed="rId6"/>
          <a:stretch>
            <a:fillRect/>
          </a:stretch>
        </p:blipFill>
        <p:spPr>
          <a:xfrm>
            <a:off x="6976872" y="4014216"/>
            <a:ext cx="3602736" cy="1901952"/>
          </a:xfrm>
          <a:prstGeom prst="rect">
            <a:avLst/>
          </a:prstGeom>
        </p:spPr>
      </p:pic>
      <p:sp>
        <p:nvSpPr>
          <p:cNvPr id="29" name="Text 16"/>
          <p:cNvSpPr/>
          <p:nvPr/>
        </p:nvSpPr>
        <p:spPr>
          <a:xfrm>
            <a:off x="5852160" y="5980176"/>
            <a:ext cx="5852160" cy="237744"/>
          </a:xfrm>
          <a:prstGeom prst="rect">
            <a:avLst/>
          </a:prstGeom>
          <a:noFill/>
          <a:ln/>
        </p:spPr>
        <p:txBody>
          <a:bodyPr wrap="square" lIns="0" tIns="0" rIns="0" bIns="0" rtlCol="0" anchor="ctr"/>
          <a:lstStyle/>
          <a:p>
            <a:pPr marL="0" indent="0" algn="ctr">
              <a:buNone/>
            </a:pPr>
            <a:r>
              <a:rPr lang="en-US" sz="1050" i="1" dirty="0">
                <a:solidFill>
                  <a:srgbClr val="5A6B82"/>
                </a:solidFill>
                <a:latin typeface="Calibri" pitchFamily="34" charset="0"/>
                <a:ea typeface="Calibri" pitchFamily="34" charset="-122"/>
                <a:cs typeface="Calibri" pitchFamily="34" charset="-120"/>
              </a:rPr>
              <a:t>Warehouse row counts — fact_transactions = 1,000,000</a:t>
            </a:r>
            <a:endParaRPr lang="en-US" sz="1050" dirty="0"/>
          </a:p>
        </p:txBody>
      </p:sp>
      <p:sp>
        <p:nvSpPr>
          <p:cNvPr id="30" name="Text 17"/>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44D"/>
        </a:solidFill>
        <a:effectLst/>
      </p:bgPr>
    </p:bg>
    <p:spTree>
      <p:nvGrpSpPr>
        <p:cNvPr id="1" name=""/>
        <p:cNvGrpSpPr/>
        <p:nvPr/>
      </p:nvGrpSpPr>
      <p:grpSpPr>
        <a:xfrm>
          <a:off x="0" y="0"/>
          <a:ext cx="0" cy="0"/>
          <a:chOff x="0" y="0"/>
          <a:chExt cx="0" cy="0"/>
        </a:xfrm>
      </p:grpSpPr>
      <p:sp>
        <p:nvSpPr>
          <p:cNvPr id="2" name="Shape 0"/>
          <p:cNvSpPr/>
          <p:nvPr/>
        </p:nvSpPr>
        <p:spPr>
          <a:xfrm>
            <a:off x="9692640" y="-1463040"/>
            <a:ext cx="3931920" cy="3931920"/>
          </a:xfrm>
          <a:prstGeom prst="ellipse">
            <a:avLst/>
          </a:prstGeom>
          <a:solidFill>
            <a:srgbClr val="1E2F5E"/>
          </a:solidFill>
          <a:ln/>
        </p:spPr>
        <p:txBody>
          <a:bodyPr/>
          <a:lstStyle/>
          <a:p>
            <a:endParaRPr lang="en-US"/>
          </a:p>
        </p:txBody>
      </p:sp>
      <p:sp>
        <p:nvSpPr>
          <p:cNvPr id="3" name="Shape 1"/>
          <p:cNvSpPr/>
          <p:nvPr/>
        </p:nvSpPr>
        <p:spPr>
          <a:xfrm>
            <a:off x="-1188720" y="4572000"/>
            <a:ext cx="3108960" cy="3108960"/>
          </a:xfrm>
          <a:prstGeom prst="ellipse">
            <a:avLst/>
          </a:prstGeom>
          <a:solidFill>
            <a:srgbClr val="1E2F5E"/>
          </a:solidFill>
          <a:ln/>
        </p:spPr>
        <p:txBody>
          <a:bodyPr/>
          <a:lstStyle/>
          <a:p>
            <a:endParaRPr lang="en-US"/>
          </a:p>
        </p:txBody>
      </p:sp>
      <p:sp>
        <p:nvSpPr>
          <p:cNvPr id="4" name="Shape 2"/>
          <p:cNvSpPr/>
          <p:nvPr/>
        </p:nvSpPr>
        <p:spPr>
          <a:xfrm>
            <a:off x="502920" y="502920"/>
            <a:ext cx="603504" cy="603504"/>
          </a:xfrm>
          <a:prstGeom prst="ellipse">
            <a:avLst/>
          </a:prstGeom>
          <a:solidFill>
            <a:srgbClr val="1F9E54"/>
          </a:solidFill>
          <a:ln/>
        </p:spPr>
        <p:txBody>
          <a:bodyPr/>
          <a:lstStyle/>
          <a:p>
            <a:endParaRPr lang="en-US"/>
          </a:p>
        </p:txBody>
      </p:sp>
      <p:pic>
        <p:nvPicPr>
          <p:cNvPr id="5" name="Image 0" descr="icons/outcome_w.png"/>
          <p:cNvPicPr>
            <a:picLocks noChangeAspect="1"/>
          </p:cNvPicPr>
          <p:nvPr/>
        </p:nvPicPr>
        <p:blipFill>
          <a:blip r:embed="rId3"/>
          <a:stretch>
            <a:fillRect/>
          </a:stretch>
        </p:blipFill>
        <p:spPr>
          <a:xfrm>
            <a:off x="667512" y="667512"/>
            <a:ext cx="274320" cy="274320"/>
          </a:xfrm>
          <a:prstGeom prst="rect">
            <a:avLst/>
          </a:prstGeom>
        </p:spPr>
      </p:pic>
      <p:sp>
        <p:nvSpPr>
          <p:cNvPr id="6" name="Text 3"/>
          <p:cNvSpPr/>
          <p:nvPr/>
        </p:nvSpPr>
        <p:spPr>
          <a:xfrm>
            <a:off x="1307592" y="475488"/>
            <a:ext cx="7315200" cy="256032"/>
          </a:xfrm>
          <a:prstGeom prst="rect">
            <a:avLst/>
          </a:prstGeom>
          <a:noFill/>
          <a:ln/>
        </p:spPr>
        <p:txBody>
          <a:bodyPr wrap="square" lIns="0" tIns="0" rIns="0" bIns="0" rtlCol="0" anchor="ctr"/>
          <a:lstStyle/>
          <a:p>
            <a:pPr marL="0" indent="0">
              <a:buNone/>
            </a:pPr>
            <a:r>
              <a:rPr lang="en-US" sz="1150" b="1" kern="0" spc="200" dirty="0">
                <a:solidFill>
                  <a:srgbClr val="1F9E54"/>
                </a:solidFill>
                <a:latin typeface="Calibri" pitchFamily="34" charset="0"/>
                <a:ea typeface="Calibri" pitchFamily="34" charset="-122"/>
                <a:cs typeface="Calibri" pitchFamily="34" charset="-120"/>
              </a:rPr>
              <a:t>FINAL OUTCOME</a:t>
            </a:r>
            <a:endParaRPr lang="en-US" sz="1150" dirty="0"/>
          </a:p>
        </p:txBody>
      </p:sp>
      <p:sp>
        <p:nvSpPr>
          <p:cNvPr id="7" name="Text 4"/>
          <p:cNvSpPr/>
          <p:nvPr/>
        </p:nvSpPr>
        <p:spPr>
          <a:xfrm>
            <a:off x="1289304" y="694944"/>
            <a:ext cx="10607040" cy="54864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A complete data engineering platform</a:t>
            </a:r>
            <a:endParaRPr lang="en-US" sz="2700" dirty="0"/>
          </a:p>
        </p:txBody>
      </p:sp>
      <p:sp>
        <p:nvSpPr>
          <p:cNvPr id="8" name="Shape 5"/>
          <p:cNvSpPr/>
          <p:nvPr/>
        </p:nvSpPr>
        <p:spPr>
          <a:xfrm>
            <a:off x="502920" y="1600200"/>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9" name="Shape 6"/>
          <p:cNvSpPr/>
          <p:nvPr/>
        </p:nvSpPr>
        <p:spPr>
          <a:xfrm>
            <a:off x="704088" y="1847088"/>
            <a:ext cx="457200" cy="457200"/>
          </a:xfrm>
          <a:prstGeom prst="ellipse">
            <a:avLst/>
          </a:prstGeom>
          <a:solidFill>
            <a:srgbClr val="0E7C86"/>
          </a:solidFill>
          <a:ln/>
        </p:spPr>
        <p:txBody>
          <a:bodyPr/>
          <a:lstStyle/>
          <a:p>
            <a:endParaRPr lang="en-US"/>
          </a:p>
        </p:txBody>
      </p:sp>
      <p:pic>
        <p:nvPicPr>
          <p:cNvPr id="10" name="Image 1" descr="icons/batch_w.png"/>
          <p:cNvPicPr>
            <a:picLocks noChangeAspect="1"/>
          </p:cNvPicPr>
          <p:nvPr/>
        </p:nvPicPr>
        <p:blipFill>
          <a:blip r:embed="rId4"/>
          <a:stretch>
            <a:fillRect/>
          </a:stretch>
        </p:blipFill>
        <p:spPr>
          <a:xfrm>
            <a:off x="827532" y="1970532"/>
            <a:ext cx="210312" cy="210312"/>
          </a:xfrm>
          <a:prstGeom prst="rect">
            <a:avLst/>
          </a:prstGeom>
        </p:spPr>
      </p:pic>
      <p:sp>
        <p:nvSpPr>
          <p:cNvPr id="11" name="Text 7"/>
          <p:cNvSpPr/>
          <p:nvPr/>
        </p:nvSpPr>
        <p:spPr>
          <a:xfrm>
            <a:off x="1289304" y="1691640"/>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Historical batch loading
</a:t>
            </a:r>
            <a:r>
              <a:rPr lang="en-US" sz="1050" dirty="0">
                <a:solidFill>
                  <a:srgbClr val="9DB2D9"/>
                </a:solidFill>
                <a:latin typeface="Calibri" pitchFamily="34" charset="0"/>
                <a:ea typeface="Calibri" pitchFamily="34" charset="-122"/>
                <a:cs typeface="Calibri" pitchFamily="34" charset="-120"/>
              </a:rPr>
              <a:t>Full ~1.3M-row warehouse initialization</a:t>
            </a:r>
            <a:endParaRPr lang="en-US" sz="1300" dirty="0"/>
          </a:p>
        </p:txBody>
      </p:sp>
      <p:sp>
        <p:nvSpPr>
          <p:cNvPr id="12" name="Shape 8"/>
          <p:cNvSpPr/>
          <p:nvPr/>
        </p:nvSpPr>
        <p:spPr>
          <a:xfrm>
            <a:off x="6245352" y="1600200"/>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13" name="Shape 9"/>
          <p:cNvSpPr/>
          <p:nvPr/>
        </p:nvSpPr>
        <p:spPr>
          <a:xfrm>
            <a:off x="6446520" y="1847088"/>
            <a:ext cx="457200" cy="457200"/>
          </a:xfrm>
          <a:prstGeom prst="ellipse">
            <a:avLst/>
          </a:prstGeom>
          <a:solidFill>
            <a:srgbClr val="1F9E54"/>
          </a:solidFill>
          <a:ln/>
        </p:spPr>
        <p:txBody>
          <a:bodyPr/>
          <a:lstStyle/>
          <a:p>
            <a:endParaRPr lang="en-US"/>
          </a:p>
        </p:txBody>
      </p:sp>
      <p:pic>
        <p:nvPicPr>
          <p:cNvPr id="14" name="Image 2" descr="icons/bolt_w.png"/>
          <p:cNvPicPr>
            <a:picLocks noChangeAspect="1"/>
          </p:cNvPicPr>
          <p:nvPr/>
        </p:nvPicPr>
        <p:blipFill>
          <a:blip r:embed="rId5"/>
          <a:stretch>
            <a:fillRect/>
          </a:stretch>
        </p:blipFill>
        <p:spPr>
          <a:xfrm>
            <a:off x="6569964" y="1970532"/>
            <a:ext cx="210312" cy="210312"/>
          </a:xfrm>
          <a:prstGeom prst="rect">
            <a:avLst/>
          </a:prstGeom>
        </p:spPr>
      </p:pic>
      <p:sp>
        <p:nvSpPr>
          <p:cNvPr id="15" name="Text 10"/>
          <p:cNvSpPr/>
          <p:nvPr/>
        </p:nvSpPr>
        <p:spPr>
          <a:xfrm>
            <a:off x="7031736" y="1691640"/>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Incremental ingestion
</a:t>
            </a:r>
            <a:r>
              <a:rPr lang="en-US" sz="1050" dirty="0">
                <a:solidFill>
                  <a:srgbClr val="9DB2D9"/>
                </a:solidFill>
                <a:latin typeface="Calibri" pitchFamily="34" charset="0"/>
                <a:ea typeface="Calibri" pitchFamily="34" charset="-122"/>
                <a:cs typeface="Calibri" pitchFamily="34" charset="-120"/>
              </a:rPr>
              <a:t>Event-driven Kafka stream, idempotent MERGE</a:t>
            </a:r>
            <a:endParaRPr lang="en-US" sz="1300" dirty="0"/>
          </a:p>
        </p:txBody>
      </p:sp>
      <p:sp>
        <p:nvSpPr>
          <p:cNvPr id="16" name="Shape 11"/>
          <p:cNvSpPr/>
          <p:nvPr/>
        </p:nvSpPr>
        <p:spPr>
          <a:xfrm>
            <a:off x="502920" y="2752344"/>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17" name="Shape 12"/>
          <p:cNvSpPr/>
          <p:nvPr/>
        </p:nvSpPr>
        <p:spPr>
          <a:xfrm>
            <a:off x="704088" y="2999232"/>
            <a:ext cx="457200" cy="457200"/>
          </a:xfrm>
          <a:prstGeom prst="ellipse">
            <a:avLst/>
          </a:prstGeom>
          <a:solidFill>
            <a:srgbClr val="0E7C86"/>
          </a:solidFill>
          <a:ln/>
        </p:spPr>
        <p:txBody>
          <a:bodyPr/>
          <a:lstStyle/>
          <a:p>
            <a:endParaRPr lang="en-US"/>
          </a:p>
        </p:txBody>
      </p:sp>
      <p:pic>
        <p:nvPicPr>
          <p:cNvPr id="18" name="Image 3" descr="icons/architecture_w.png"/>
          <p:cNvPicPr>
            <a:picLocks noChangeAspect="1"/>
          </p:cNvPicPr>
          <p:nvPr/>
        </p:nvPicPr>
        <p:blipFill>
          <a:blip r:embed="rId6"/>
          <a:stretch>
            <a:fillRect/>
          </a:stretch>
        </p:blipFill>
        <p:spPr>
          <a:xfrm>
            <a:off x="827532" y="3122676"/>
            <a:ext cx="210312" cy="210312"/>
          </a:xfrm>
          <a:prstGeom prst="rect">
            <a:avLst/>
          </a:prstGeom>
        </p:spPr>
      </p:pic>
      <p:sp>
        <p:nvSpPr>
          <p:cNvPr id="19" name="Text 13"/>
          <p:cNvSpPr/>
          <p:nvPr/>
        </p:nvSpPr>
        <p:spPr>
          <a:xfrm>
            <a:off x="1289304" y="2843784"/>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Medallion architecture
</a:t>
            </a:r>
            <a:r>
              <a:rPr lang="en-US" sz="1050" dirty="0">
                <a:solidFill>
                  <a:srgbClr val="9DB2D9"/>
                </a:solidFill>
                <a:latin typeface="Calibri" pitchFamily="34" charset="0"/>
                <a:ea typeface="Calibri" pitchFamily="34" charset="-122"/>
                <a:cs typeface="Calibri" pitchFamily="34" charset="-120"/>
              </a:rPr>
              <a:t>Bronze → Silver → Gold, both pipelines</a:t>
            </a:r>
            <a:endParaRPr lang="en-US" sz="1300" dirty="0"/>
          </a:p>
        </p:txBody>
      </p:sp>
      <p:sp>
        <p:nvSpPr>
          <p:cNvPr id="20" name="Shape 14"/>
          <p:cNvSpPr/>
          <p:nvPr/>
        </p:nvSpPr>
        <p:spPr>
          <a:xfrm>
            <a:off x="6245352" y="2752344"/>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21" name="Shape 15"/>
          <p:cNvSpPr/>
          <p:nvPr/>
        </p:nvSpPr>
        <p:spPr>
          <a:xfrm>
            <a:off x="6446520" y="2999232"/>
            <a:ext cx="457200" cy="457200"/>
          </a:xfrm>
          <a:prstGeom prst="ellipse">
            <a:avLst/>
          </a:prstGeom>
          <a:solidFill>
            <a:srgbClr val="1F9E54"/>
          </a:solidFill>
          <a:ln/>
        </p:spPr>
        <p:txBody>
          <a:bodyPr/>
          <a:lstStyle/>
          <a:p>
            <a:endParaRPr lang="en-US"/>
          </a:p>
        </p:txBody>
      </p:sp>
      <p:pic>
        <p:nvPicPr>
          <p:cNvPr id="22" name="Image 4" descr="icons/datamodel_w.png"/>
          <p:cNvPicPr>
            <a:picLocks noChangeAspect="1"/>
          </p:cNvPicPr>
          <p:nvPr/>
        </p:nvPicPr>
        <p:blipFill>
          <a:blip r:embed="rId7"/>
          <a:stretch>
            <a:fillRect/>
          </a:stretch>
        </p:blipFill>
        <p:spPr>
          <a:xfrm>
            <a:off x="6569964" y="3122676"/>
            <a:ext cx="210312" cy="210312"/>
          </a:xfrm>
          <a:prstGeom prst="rect">
            <a:avLst/>
          </a:prstGeom>
        </p:spPr>
      </p:pic>
      <p:sp>
        <p:nvSpPr>
          <p:cNvPr id="23" name="Text 16"/>
          <p:cNvSpPr/>
          <p:nvPr/>
        </p:nvSpPr>
        <p:spPr>
          <a:xfrm>
            <a:off x="7031736" y="2843784"/>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Kimball dimensional model
</a:t>
            </a:r>
            <a:r>
              <a:rPr lang="en-US" sz="1050" dirty="0">
                <a:solidFill>
                  <a:srgbClr val="9DB2D9"/>
                </a:solidFill>
                <a:latin typeface="Calibri" pitchFamily="34" charset="0"/>
                <a:ea typeface="Calibri" pitchFamily="34" charset="-122"/>
                <a:cs typeface="Calibri" pitchFamily="34" charset="-120"/>
              </a:rPr>
              <a:t>1 fact · 7 conformed dimensions</a:t>
            </a:r>
            <a:endParaRPr lang="en-US" sz="1300" dirty="0"/>
          </a:p>
        </p:txBody>
      </p:sp>
      <p:sp>
        <p:nvSpPr>
          <p:cNvPr id="24" name="Shape 17"/>
          <p:cNvSpPr/>
          <p:nvPr/>
        </p:nvSpPr>
        <p:spPr>
          <a:xfrm>
            <a:off x="502920" y="3904488"/>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25" name="Shape 18"/>
          <p:cNvSpPr/>
          <p:nvPr/>
        </p:nvSpPr>
        <p:spPr>
          <a:xfrm>
            <a:off x="704088" y="4151376"/>
            <a:ext cx="457200" cy="457200"/>
          </a:xfrm>
          <a:prstGeom prst="ellipse">
            <a:avLst/>
          </a:prstGeom>
          <a:solidFill>
            <a:srgbClr val="0E7C86"/>
          </a:solidFill>
          <a:ln/>
        </p:spPr>
        <p:txBody>
          <a:bodyPr/>
          <a:lstStyle/>
          <a:p>
            <a:endParaRPr lang="en-US"/>
          </a:p>
        </p:txBody>
      </p:sp>
      <p:pic>
        <p:nvPicPr>
          <p:cNvPr id="26" name="Image 5" descr="icons/warehouse_w.png"/>
          <p:cNvPicPr>
            <a:picLocks noChangeAspect="1"/>
          </p:cNvPicPr>
          <p:nvPr/>
        </p:nvPicPr>
        <p:blipFill>
          <a:blip r:embed="rId8"/>
          <a:stretch>
            <a:fillRect/>
          </a:stretch>
        </p:blipFill>
        <p:spPr>
          <a:xfrm>
            <a:off x="827532" y="4274820"/>
            <a:ext cx="210312" cy="210312"/>
          </a:xfrm>
          <a:prstGeom prst="rect">
            <a:avLst/>
          </a:prstGeom>
        </p:spPr>
      </p:pic>
      <p:sp>
        <p:nvSpPr>
          <p:cNvPr id="27" name="Text 19"/>
          <p:cNvSpPr/>
          <p:nvPr/>
        </p:nvSpPr>
        <p:spPr>
          <a:xfrm>
            <a:off x="1289304" y="3995928"/>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SQL Server warehouse
</a:t>
            </a:r>
            <a:r>
              <a:rPr lang="en-US" sz="1050" dirty="0">
                <a:solidFill>
                  <a:srgbClr val="9DB2D9"/>
                </a:solidFill>
                <a:latin typeface="Calibri" pitchFamily="34" charset="0"/>
                <a:ea typeface="Calibri" pitchFamily="34" charset="-122"/>
                <a:cs typeface="Calibri" pitchFamily="34" charset="-120"/>
              </a:rPr>
              <a:t>Trusted, FK-enforced single source of truth</a:t>
            </a:r>
            <a:endParaRPr lang="en-US" sz="1300" dirty="0"/>
          </a:p>
        </p:txBody>
      </p:sp>
      <p:sp>
        <p:nvSpPr>
          <p:cNvPr id="28" name="Shape 20"/>
          <p:cNvSpPr/>
          <p:nvPr/>
        </p:nvSpPr>
        <p:spPr>
          <a:xfrm>
            <a:off x="6245352" y="3904488"/>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29" name="Shape 21"/>
          <p:cNvSpPr/>
          <p:nvPr/>
        </p:nvSpPr>
        <p:spPr>
          <a:xfrm>
            <a:off x="6446520" y="4151376"/>
            <a:ext cx="457200" cy="457200"/>
          </a:xfrm>
          <a:prstGeom prst="ellipse">
            <a:avLst/>
          </a:prstGeom>
          <a:solidFill>
            <a:srgbClr val="1F9E54"/>
          </a:solidFill>
          <a:ln/>
        </p:spPr>
        <p:txBody>
          <a:bodyPr/>
          <a:lstStyle/>
          <a:p>
            <a:endParaRPr lang="en-US"/>
          </a:p>
        </p:txBody>
      </p:sp>
      <p:pic>
        <p:nvPicPr>
          <p:cNvPr id="30" name="Image 6" descr="icons/validate_w.png"/>
          <p:cNvPicPr>
            <a:picLocks noChangeAspect="1"/>
          </p:cNvPicPr>
          <p:nvPr/>
        </p:nvPicPr>
        <p:blipFill>
          <a:blip r:embed="rId9"/>
          <a:stretch>
            <a:fillRect/>
          </a:stretch>
        </p:blipFill>
        <p:spPr>
          <a:xfrm>
            <a:off x="6569964" y="4274820"/>
            <a:ext cx="210312" cy="210312"/>
          </a:xfrm>
          <a:prstGeom prst="rect">
            <a:avLst/>
          </a:prstGeom>
        </p:spPr>
      </p:pic>
      <p:sp>
        <p:nvSpPr>
          <p:cNvPr id="31" name="Text 22"/>
          <p:cNvSpPr/>
          <p:nvPr/>
        </p:nvSpPr>
        <p:spPr>
          <a:xfrm>
            <a:off x="7031736" y="3995928"/>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dbt validation
</a:t>
            </a:r>
            <a:r>
              <a:rPr lang="en-US" sz="1050" dirty="0">
                <a:solidFill>
                  <a:srgbClr val="9DB2D9"/>
                </a:solidFill>
                <a:latin typeface="Calibri" pitchFamily="34" charset="0"/>
                <a:ea typeface="Calibri" pitchFamily="34" charset="-122"/>
                <a:cs typeface="Calibri" pitchFamily="34" charset="-120"/>
              </a:rPr>
              <a:t>47 automated checks gate every load</a:t>
            </a:r>
            <a:endParaRPr lang="en-US" sz="1300" dirty="0"/>
          </a:p>
        </p:txBody>
      </p:sp>
      <p:sp>
        <p:nvSpPr>
          <p:cNvPr id="32" name="Shape 23"/>
          <p:cNvSpPr/>
          <p:nvPr/>
        </p:nvSpPr>
        <p:spPr>
          <a:xfrm>
            <a:off x="502920" y="5056632"/>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33" name="Shape 24"/>
          <p:cNvSpPr/>
          <p:nvPr/>
        </p:nvSpPr>
        <p:spPr>
          <a:xfrm>
            <a:off x="704088" y="5303520"/>
            <a:ext cx="457200" cy="457200"/>
          </a:xfrm>
          <a:prstGeom prst="ellipse">
            <a:avLst/>
          </a:prstGeom>
          <a:solidFill>
            <a:srgbClr val="0E7C86"/>
          </a:solidFill>
          <a:ln/>
        </p:spPr>
        <p:txBody>
          <a:bodyPr/>
          <a:lstStyle/>
          <a:p>
            <a:endParaRPr lang="en-US"/>
          </a:p>
        </p:txBody>
      </p:sp>
      <p:pic>
        <p:nvPicPr>
          <p:cNvPr id="34" name="Image 7" descr="icons/powerbi_w.png"/>
          <p:cNvPicPr>
            <a:picLocks noChangeAspect="1"/>
          </p:cNvPicPr>
          <p:nvPr/>
        </p:nvPicPr>
        <p:blipFill>
          <a:blip r:embed="rId10"/>
          <a:stretch>
            <a:fillRect/>
          </a:stretch>
        </p:blipFill>
        <p:spPr>
          <a:xfrm>
            <a:off x="827532" y="5426964"/>
            <a:ext cx="210312" cy="210312"/>
          </a:xfrm>
          <a:prstGeom prst="rect">
            <a:avLst/>
          </a:prstGeom>
        </p:spPr>
      </p:pic>
      <p:sp>
        <p:nvSpPr>
          <p:cNvPr id="35" name="Text 25"/>
          <p:cNvSpPr/>
          <p:nvPr/>
        </p:nvSpPr>
        <p:spPr>
          <a:xfrm>
            <a:off x="1289304" y="5148072"/>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Power BI analytics
</a:t>
            </a:r>
            <a:r>
              <a:rPr lang="en-US" sz="1050" dirty="0">
                <a:solidFill>
                  <a:srgbClr val="9DB2D9"/>
                </a:solidFill>
                <a:latin typeface="Calibri" pitchFamily="34" charset="0"/>
                <a:ea typeface="Calibri" pitchFamily="34" charset="-122"/>
                <a:cs typeface="Calibri" pitchFamily="34" charset="-120"/>
              </a:rPr>
              <a:t>Volume, declines, FX, merchants, customers</a:t>
            </a:r>
            <a:endParaRPr lang="en-US" sz="1300" dirty="0"/>
          </a:p>
        </p:txBody>
      </p:sp>
      <p:sp>
        <p:nvSpPr>
          <p:cNvPr id="36" name="Shape 26"/>
          <p:cNvSpPr/>
          <p:nvPr/>
        </p:nvSpPr>
        <p:spPr>
          <a:xfrm>
            <a:off x="6245352" y="5056632"/>
            <a:ext cx="5440680" cy="950976"/>
          </a:xfrm>
          <a:prstGeom prst="roundRect">
            <a:avLst>
              <a:gd name="adj" fmla="val 7692"/>
            </a:avLst>
          </a:prstGeom>
          <a:solidFill>
            <a:srgbClr val="1E2F5E"/>
          </a:solidFill>
          <a:ln w="12700">
            <a:solidFill>
              <a:srgbClr val="2E4B86"/>
            </a:solidFill>
            <a:prstDash val="solid"/>
          </a:ln>
        </p:spPr>
        <p:txBody>
          <a:bodyPr/>
          <a:lstStyle/>
          <a:p>
            <a:endParaRPr lang="en-US"/>
          </a:p>
        </p:txBody>
      </p:sp>
      <p:sp>
        <p:nvSpPr>
          <p:cNvPr id="37" name="Shape 27"/>
          <p:cNvSpPr/>
          <p:nvPr/>
        </p:nvSpPr>
        <p:spPr>
          <a:xfrm>
            <a:off x="6446520" y="5303520"/>
            <a:ext cx="457200" cy="457200"/>
          </a:xfrm>
          <a:prstGeom prst="ellipse">
            <a:avLst/>
          </a:prstGeom>
          <a:solidFill>
            <a:srgbClr val="1F9E54"/>
          </a:solidFill>
          <a:ln/>
        </p:spPr>
        <p:txBody>
          <a:bodyPr/>
          <a:lstStyle/>
          <a:p>
            <a:endParaRPr lang="en-US"/>
          </a:p>
        </p:txBody>
      </p:sp>
      <p:pic>
        <p:nvPicPr>
          <p:cNvPr id="38" name="Image 8" descr="icons/cloud_w.png"/>
          <p:cNvPicPr>
            <a:picLocks noChangeAspect="1"/>
          </p:cNvPicPr>
          <p:nvPr/>
        </p:nvPicPr>
        <p:blipFill>
          <a:blip r:embed="rId11"/>
          <a:stretch>
            <a:fillRect/>
          </a:stretch>
        </p:blipFill>
        <p:spPr>
          <a:xfrm>
            <a:off x="6569964" y="5426964"/>
            <a:ext cx="210312" cy="210312"/>
          </a:xfrm>
          <a:prstGeom prst="rect">
            <a:avLst/>
          </a:prstGeom>
        </p:spPr>
      </p:pic>
      <p:sp>
        <p:nvSpPr>
          <p:cNvPr id="39" name="Text 28"/>
          <p:cNvSpPr/>
          <p:nvPr/>
        </p:nvSpPr>
        <p:spPr>
          <a:xfrm>
            <a:off x="7031736" y="5148072"/>
            <a:ext cx="4480560" cy="7772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Microsoft Fabric evolution
</a:t>
            </a:r>
            <a:r>
              <a:rPr lang="en-US" sz="1050" dirty="0">
                <a:solidFill>
                  <a:srgbClr val="9DB2D9"/>
                </a:solidFill>
                <a:latin typeface="Calibri" pitchFamily="34" charset="0"/>
                <a:ea typeface="Calibri" pitchFamily="34" charset="-122"/>
                <a:cs typeface="Calibri" pitchFamily="34" charset="-120"/>
              </a:rPr>
              <a:t>Same pattern, built &amp; validated in the cloud</a:t>
            </a:r>
            <a:endParaRPr lang="en-US" sz="1300" dirty="0"/>
          </a:p>
        </p:txBody>
      </p:sp>
      <p:sp>
        <p:nvSpPr>
          <p:cNvPr id="40" name="Text 29"/>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1000" dirty="0">
                <a:solidFill>
                  <a:srgbClr val="5A6B8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244D"/>
        </a:solidFill>
        <a:effectLst/>
      </p:bgPr>
    </p:bg>
    <p:spTree>
      <p:nvGrpSpPr>
        <p:cNvPr id="1" name=""/>
        <p:cNvGrpSpPr/>
        <p:nvPr/>
      </p:nvGrpSpPr>
      <p:grpSpPr>
        <a:xfrm>
          <a:off x="0" y="0"/>
          <a:ext cx="0" cy="0"/>
          <a:chOff x="0" y="0"/>
          <a:chExt cx="0" cy="0"/>
        </a:xfrm>
      </p:grpSpPr>
      <p:sp>
        <p:nvSpPr>
          <p:cNvPr id="2" name="Shape 0"/>
          <p:cNvSpPr/>
          <p:nvPr/>
        </p:nvSpPr>
        <p:spPr>
          <a:xfrm>
            <a:off x="9052560" y="-1828800"/>
            <a:ext cx="4937760" cy="4937760"/>
          </a:xfrm>
          <a:prstGeom prst="ellipse">
            <a:avLst/>
          </a:prstGeom>
          <a:solidFill>
            <a:srgbClr val="1E2F5E"/>
          </a:solidFill>
          <a:ln w="12700">
            <a:solidFill>
              <a:srgbClr val="26407A"/>
            </a:solidFill>
            <a:prstDash val="solid"/>
          </a:ln>
        </p:spPr>
        <p:txBody>
          <a:bodyPr/>
          <a:lstStyle/>
          <a:p>
            <a:endParaRPr lang="en-US"/>
          </a:p>
        </p:txBody>
      </p:sp>
      <p:sp>
        <p:nvSpPr>
          <p:cNvPr id="3" name="Shape 1"/>
          <p:cNvSpPr/>
          <p:nvPr/>
        </p:nvSpPr>
        <p:spPr>
          <a:xfrm>
            <a:off x="9875520" y="-1005840"/>
            <a:ext cx="3291840" cy="3291840"/>
          </a:xfrm>
          <a:prstGeom prst="ellipse">
            <a:avLst/>
          </a:prstGeom>
          <a:solidFill>
            <a:srgbClr val="16244D"/>
          </a:solidFill>
          <a:ln/>
        </p:spPr>
        <p:txBody>
          <a:bodyPr/>
          <a:lstStyle/>
          <a:p>
            <a:endParaRPr lang="en-US"/>
          </a:p>
        </p:txBody>
      </p:sp>
      <p:sp>
        <p:nvSpPr>
          <p:cNvPr id="4" name="Shape 2"/>
          <p:cNvSpPr/>
          <p:nvPr/>
        </p:nvSpPr>
        <p:spPr>
          <a:xfrm>
            <a:off x="-1645920" y="4023360"/>
            <a:ext cx="4023360" cy="4023360"/>
          </a:xfrm>
          <a:prstGeom prst="ellipse">
            <a:avLst/>
          </a:prstGeom>
          <a:solidFill>
            <a:srgbClr val="1E2F5E"/>
          </a:solidFill>
          <a:ln/>
        </p:spPr>
        <p:txBody>
          <a:bodyPr/>
          <a:lstStyle/>
          <a:p>
            <a:endParaRPr lang="en-US"/>
          </a:p>
        </p:txBody>
      </p:sp>
      <p:sp>
        <p:nvSpPr>
          <p:cNvPr id="5" name="Shape 3"/>
          <p:cNvSpPr/>
          <p:nvPr/>
        </p:nvSpPr>
        <p:spPr>
          <a:xfrm>
            <a:off x="502920" y="2331720"/>
            <a:ext cx="822960" cy="822960"/>
          </a:xfrm>
          <a:prstGeom prst="ellipse">
            <a:avLst/>
          </a:prstGeom>
          <a:solidFill>
            <a:srgbClr val="0E7C86"/>
          </a:solidFill>
          <a:ln/>
          <a:effectLst>
            <a:outerShdw blurRad="88900" dist="25400" dir="5400000" algn="bl" rotWithShape="0">
              <a:srgbClr val="13233F">
                <a:alpha val="12000"/>
              </a:srgbClr>
            </a:outerShdw>
          </a:effectLst>
        </p:spPr>
        <p:txBody>
          <a:bodyPr/>
          <a:lstStyle/>
          <a:p>
            <a:endParaRPr lang="en-US"/>
          </a:p>
        </p:txBody>
      </p:sp>
      <p:pic>
        <p:nvPicPr>
          <p:cNvPr id="6" name="Image 0" descr="icons/cubes.png"/>
          <p:cNvPicPr>
            <a:picLocks noChangeAspect="1"/>
          </p:cNvPicPr>
          <p:nvPr/>
        </p:nvPicPr>
        <p:blipFill>
          <a:blip r:embed="rId3"/>
          <a:stretch>
            <a:fillRect/>
          </a:stretch>
        </p:blipFill>
        <p:spPr>
          <a:xfrm>
            <a:off x="740664" y="2569464"/>
            <a:ext cx="347472" cy="347472"/>
          </a:xfrm>
          <a:prstGeom prst="rect">
            <a:avLst/>
          </a:prstGeom>
        </p:spPr>
      </p:pic>
      <p:sp>
        <p:nvSpPr>
          <p:cNvPr id="7" name="Text 4"/>
          <p:cNvSpPr/>
          <p:nvPr/>
        </p:nvSpPr>
        <p:spPr>
          <a:xfrm>
            <a:off x="1554480" y="2148840"/>
            <a:ext cx="822960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8" name="Text 5"/>
          <p:cNvSpPr/>
          <p:nvPr/>
        </p:nvSpPr>
        <p:spPr>
          <a:xfrm>
            <a:off x="1600200" y="3246120"/>
            <a:ext cx="7315200" cy="457200"/>
          </a:xfrm>
          <a:prstGeom prst="rect">
            <a:avLst/>
          </a:prstGeom>
          <a:noFill/>
          <a:ln/>
        </p:spPr>
        <p:txBody>
          <a:bodyPr wrap="square" lIns="0" tIns="0" rIns="0" bIns="0" rtlCol="0" anchor="ctr"/>
          <a:lstStyle/>
          <a:p>
            <a:pPr marL="0" indent="0">
              <a:buNone/>
            </a:pPr>
            <a:r>
              <a:rPr lang="en-US" sz="2200" dirty="0">
                <a:solidFill>
                  <a:srgbClr val="9DB2D9"/>
                </a:solidFill>
                <a:latin typeface="Calibri" pitchFamily="34" charset="0"/>
                <a:ea typeface="Calibri" pitchFamily="34" charset="-122"/>
                <a:cs typeface="Calibri" pitchFamily="34" charset="-120"/>
              </a:rPr>
              <a:t>Questions?</a:t>
            </a:r>
            <a:endParaRPr lang="en-US" sz="2200" dirty="0"/>
          </a:p>
        </p:txBody>
      </p:sp>
      <p:sp>
        <p:nvSpPr>
          <p:cNvPr id="9" name="Shape 6"/>
          <p:cNvSpPr/>
          <p:nvPr/>
        </p:nvSpPr>
        <p:spPr>
          <a:xfrm>
            <a:off x="502920" y="5074920"/>
            <a:ext cx="1391717" cy="384048"/>
          </a:xfrm>
          <a:prstGeom prst="roundRect">
            <a:avLst>
              <a:gd name="adj" fmla="val 50000"/>
            </a:avLst>
          </a:prstGeom>
          <a:solidFill>
            <a:srgbClr val="1E2F5E"/>
          </a:solidFill>
          <a:ln/>
        </p:spPr>
        <p:txBody>
          <a:bodyPr/>
          <a:lstStyle/>
          <a:p>
            <a:endParaRPr lang="en-US"/>
          </a:p>
        </p:txBody>
      </p:sp>
      <p:sp>
        <p:nvSpPr>
          <p:cNvPr id="10" name="Text 7"/>
          <p:cNvSpPr/>
          <p:nvPr/>
        </p:nvSpPr>
        <p:spPr>
          <a:xfrm>
            <a:off x="502920" y="5074920"/>
            <a:ext cx="1391717" cy="384048"/>
          </a:xfrm>
          <a:prstGeom prst="rect">
            <a:avLst/>
          </a:prstGeom>
          <a:noFill/>
          <a:ln/>
        </p:spPr>
        <p:txBody>
          <a:bodyPr wrap="square" lIns="0" tIns="0" rIns="0" bIns="0" rtlCol="0" anchor="ctr"/>
          <a:lstStyle/>
          <a:p>
            <a:pPr marL="0" indent="0" algn="ctr">
              <a:buNone/>
            </a:pPr>
            <a:r>
              <a:rPr lang="en-US" sz="1050" b="1" dirty="0">
                <a:solidFill>
                  <a:srgbClr val="CBD9F2"/>
                </a:solidFill>
                <a:latin typeface="Calibri" pitchFamily="34" charset="0"/>
                <a:ea typeface="Calibri" pitchFamily="34" charset="-122"/>
                <a:cs typeface="Calibri" pitchFamily="34" charset="-120"/>
              </a:rPr>
              <a:t>Medallion</a:t>
            </a:r>
            <a:endParaRPr lang="en-US" sz="1050" dirty="0"/>
          </a:p>
        </p:txBody>
      </p:sp>
      <p:sp>
        <p:nvSpPr>
          <p:cNvPr id="11" name="Shape 8"/>
          <p:cNvSpPr/>
          <p:nvPr/>
        </p:nvSpPr>
        <p:spPr>
          <a:xfrm>
            <a:off x="2059229" y="5074920"/>
            <a:ext cx="1687982" cy="384048"/>
          </a:xfrm>
          <a:prstGeom prst="roundRect">
            <a:avLst>
              <a:gd name="adj" fmla="val 50000"/>
            </a:avLst>
          </a:prstGeom>
          <a:solidFill>
            <a:srgbClr val="1E2F5E"/>
          </a:solidFill>
          <a:ln/>
        </p:spPr>
        <p:txBody>
          <a:bodyPr/>
          <a:lstStyle/>
          <a:p>
            <a:endParaRPr lang="en-US"/>
          </a:p>
        </p:txBody>
      </p:sp>
      <p:sp>
        <p:nvSpPr>
          <p:cNvPr id="12" name="Text 9"/>
          <p:cNvSpPr/>
          <p:nvPr/>
        </p:nvSpPr>
        <p:spPr>
          <a:xfrm>
            <a:off x="2059229" y="5074920"/>
            <a:ext cx="1687982" cy="384048"/>
          </a:xfrm>
          <a:prstGeom prst="rect">
            <a:avLst/>
          </a:prstGeom>
          <a:noFill/>
          <a:ln/>
        </p:spPr>
        <p:txBody>
          <a:bodyPr wrap="square" lIns="0" tIns="0" rIns="0" bIns="0" rtlCol="0" anchor="ctr"/>
          <a:lstStyle/>
          <a:p>
            <a:pPr marL="0" indent="0" algn="ctr">
              <a:buNone/>
            </a:pPr>
            <a:r>
              <a:rPr lang="en-US" sz="1050" b="1" dirty="0">
                <a:solidFill>
                  <a:srgbClr val="CBD9F2"/>
                </a:solidFill>
                <a:latin typeface="Calibri" pitchFamily="34" charset="0"/>
                <a:ea typeface="Calibri" pitchFamily="34" charset="-122"/>
                <a:cs typeface="Calibri" pitchFamily="34" charset="-120"/>
              </a:rPr>
              <a:t>Kimball Star</a:t>
            </a:r>
            <a:endParaRPr lang="en-US" sz="1050" dirty="0"/>
          </a:p>
        </p:txBody>
      </p:sp>
      <p:sp>
        <p:nvSpPr>
          <p:cNvPr id="13" name="Shape 10"/>
          <p:cNvSpPr/>
          <p:nvPr/>
        </p:nvSpPr>
        <p:spPr>
          <a:xfrm>
            <a:off x="3911803" y="5074920"/>
            <a:ext cx="2181758" cy="384048"/>
          </a:xfrm>
          <a:prstGeom prst="roundRect">
            <a:avLst>
              <a:gd name="adj" fmla="val 50000"/>
            </a:avLst>
          </a:prstGeom>
          <a:solidFill>
            <a:srgbClr val="1F9E54"/>
          </a:solidFill>
          <a:ln/>
        </p:spPr>
        <p:txBody>
          <a:bodyPr/>
          <a:lstStyle/>
          <a:p>
            <a:endParaRPr lang="en-US"/>
          </a:p>
        </p:txBody>
      </p:sp>
      <p:sp>
        <p:nvSpPr>
          <p:cNvPr id="14" name="Text 11"/>
          <p:cNvSpPr/>
          <p:nvPr/>
        </p:nvSpPr>
        <p:spPr>
          <a:xfrm>
            <a:off x="3911803" y="5074920"/>
            <a:ext cx="218175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Kafka Incremental</a:t>
            </a:r>
            <a:endParaRPr lang="en-US" sz="1050" dirty="0"/>
          </a:p>
        </p:txBody>
      </p:sp>
      <p:sp>
        <p:nvSpPr>
          <p:cNvPr id="15" name="Shape 12"/>
          <p:cNvSpPr/>
          <p:nvPr/>
        </p:nvSpPr>
        <p:spPr>
          <a:xfrm>
            <a:off x="6258154" y="5074920"/>
            <a:ext cx="1984248" cy="384048"/>
          </a:xfrm>
          <a:prstGeom prst="roundRect">
            <a:avLst>
              <a:gd name="adj" fmla="val 50000"/>
            </a:avLst>
          </a:prstGeom>
          <a:solidFill>
            <a:srgbClr val="1E2F5E"/>
          </a:solidFill>
          <a:ln/>
        </p:spPr>
        <p:txBody>
          <a:bodyPr/>
          <a:lstStyle/>
          <a:p>
            <a:endParaRPr lang="en-US"/>
          </a:p>
        </p:txBody>
      </p:sp>
      <p:sp>
        <p:nvSpPr>
          <p:cNvPr id="16" name="Text 13"/>
          <p:cNvSpPr/>
          <p:nvPr/>
        </p:nvSpPr>
        <p:spPr>
          <a:xfrm>
            <a:off x="6258154" y="5074920"/>
            <a:ext cx="1984248" cy="384048"/>
          </a:xfrm>
          <a:prstGeom prst="rect">
            <a:avLst/>
          </a:prstGeom>
          <a:noFill/>
          <a:ln/>
        </p:spPr>
        <p:txBody>
          <a:bodyPr wrap="square" lIns="0" tIns="0" rIns="0" bIns="0" rtlCol="0" anchor="ctr"/>
          <a:lstStyle/>
          <a:p>
            <a:pPr marL="0" indent="0" algn="ctr">
              <a:buNone/>
            </a:pPr>
            <a:r>
              <a:rPr lang="en-US" sz="1050" b="1" dirty="0">
                <a:solidFill>
                  <a:srgbClr val="CBD9F2"/>
                </a:solidFill>
                <a:latin typeface="Calibri" pitchFamily="34" charset="0"/>
                <a:ea typeface="Calibri" pitchFamily="34" charset="-122"/>
                <a:cs typeface="Calibri" pitchFamily="34" charset="-120"/>
              </a:rPr>
              <a:t>dbt · 47 checks</a:t>
            </a:r>
            <a:endParaRPr lang="en-US" sz="1050" dirty="0"/>
          </a:p>
        </p:txBody>
      </p:sp>
      <p:sp>
        <p:nvSpPr>
          <p:cNvPr id="17" name="Shape 14"/>
          <p:cNvSpPr/>
          <p:nvPr/>
        </p:nvSpPr>
        <p:spPr>
          <a:xfrm>
            <a:off x="8406994" y="5074920"/>
            <a:ext cx="1292962" cy="384048"/>
          </a:xfrm>
          <a:prstGeom prst="roundRect">
            <a:avLst>
              <a:gd name="adj" fmla="val 50000"/>
            </a:avLst>
          </a:prstGeom>
          <a:solidFill>
            <a:srgbClr val="1E2F5E"/>
          </a:solidFill>
          <a:ln/>
        </p:spPr>
        <p:txBody>
          <a:bodyPr/>
          <a:lstStyle/>
          <a:p>
            <a:endParaRPr lang="en-US"/>
          </a:p>
        </p:txBody>
      </p:sp>
      <p:sp>
        <p:nvSpPr>
          <p:cNvPr id="18" name="Text 15"/>
          <p:cNvSpPr/>
          <p:nvPr/>
        </p:nvSpPr>
        <p:spPr>
          <a:xfrm>
            <a:off x="8406994" y="5074920"/>
            <a:ext cx="1292962" cy="384048"/>
          </a:xfrm>
          <a:prstGeom prst="rect">
            <a:avLst/>
          </a:prstGeom>
          <a:noFill/>
          <a:ln/>
        </p:spPr>
        <p:txBody>
          <a:bodyPr wrap="square" lIns="0" tIns="0" rIns="0" bIns="0" rtlCol="0" anchor="ctr"/>
          <a:lstStyle/>
          <a:p>
            <a:pPr marL="0" indent="0" algn="ctr">
              <a:buNone/>
            </a:pPr>
            <a:r>
              <a:rPr lang="en-US" sz="1050" b="1" dirty="0">
                <a:solidFill>
                  <a:srgbClr val="CBD9F2"/>
                </a:solidFill>
                <a:latin typeface="Calibri" pitchFamily="34" charset="0"/>
                <a:ea typeface="Calibri" pitchFamily="34" charset="-122"/>
                <a:cs typeface="Calibri" pitchFamily="34" charset="-120"/>
              </a:rPr>
              <a:t>Power BI</a:t>
            </a:r>
            <a:endParaRPr lang="en-US" sz="1050" dirty="0"/>
          </a:p>
        </p:txBody>
      </p:sp>
      <p:sp>
        <p:nvSpPr>
          <p:cNvPr id="19" name="Shape 16"/>
          <p:cNvSpPr/>
          <p:nvPr/>
        </p:nvSpPr>
        <p:spPr>
          <a:xfrm>
            <a:off x="9864547" y="5074920"/>
            <a:ext cx="2083003" cy="384048"/>
          </a:xfrm>
          <a:prstGeom prst="roundRect">
            <a:avLst>
              <a:gd name="adj" fmla="val 50000"/>
            </a:avLst>
          </a:prstGeom>
          <a:solidFill>
            <a:srgbClr val="1E2F5E"/>
          </a:solidFill>
          <a:ln/>
        </p:spPr>
        <p:txBody>
          <a:bodyPr/>
          <a:lstStyle/>
          <a:p>
            <a:endParaRPr lang="en-US"/>
          </a:p>
        </p:txBody>
      </p:sp>
      <p:sp>
        <p:nvSpPr>
          <p:cNvPr id="20" name="Text 17"/>
          <p:cNvSpPr/>
          <p:nvPr/>
        </p:nvSpPr>
        <p:spPr>
          <a:xfrm>
            <a:off x="9864547" y="5074920"/>
            <a:ext cx="2083003" cy="384048"/>
          </a:xfrm>
          <a:prstGeom prst="rect">
            <a:avLst/>
          </a:prstGeom>
          <a:noFill/>
          <a:ln/>
        </p:spPr>
        <p:txBody>
          <a:bodyPr wrap="square" lIns="0" tIns="0" rIns="0" bIns="0" rtlCol="0" anchor="ctr"/>
          <a:lstStyle/>
          <a:p>
            <a:pPr marL="0" indent="0" algn="ctr">
              <a:buNone/>
            </a:pPr>
            <a:r>
              <a:rPr lang="en-US" sz="1050" b="1" dirty="0">
                <a:solidFill>
                  <a:srgbClr val="CBD9F2"/>
                </a:solidFill>
                <a:latin typeface="Calibri" pitchFamily="34" charset="0"/>
                <a:ea typeface="Calibri" pitchFamily="34" charset="-122"/>
                <a:cs typeface="Calibri" pitchFamily="34" charset="-120"/>
              </a:rPr>
              <a:t>Microsoft Fabric</a:t>
            </a:r>
            <a:endParaRPr lang="en-US" sz="1050" dirty="0"/>
          </a:p>
        </p:txBody>
      </p:sp>
      <p:sp>
        <p:nvSpPr>
          <p:cNvPr id="21" name="Text 18"/>
          <p:cNvSpPr/>
          <p:nvPr/>
        </p:nvSpPr>
        <p:spPr>
          <a:xfrm>
            <a:off x="502920" y="5989320"/>
            <a:ext cx="11155680" cy="365760"/>
          </a:xfrm>
          <a:prstGeom prst="rect">
            <a:avLst/>
          </a:prstGeom>
          <a:noFill/>
          <a:ln/>
        </p:spPr>
        <p:txBody>
          <a:bodyPr wrap="square" lIns="0" tIns="0" rIns="0" bIns="0" rtlCol="0" anchor="ctr"/>
          <a:lstStyle/>
          <a:p>
            <a:pPr marL="0" indent="0">
              <a:buNone/>
            </a:pPr>
            <a:r>
              <a:rPr lang="en-US" sz="1250" i="1" dirty="0">
                <a:solidFill>
                  <a:srgbClr val="7F95BF"/>
                </a:solidFill>
                <a:latin typeface="Calibri" pitchFamily="34" charset="0"/>
                <a:ea typeface="Calibri" pitchFamily="34" charset="-122"/>
                <a:cs typeface="Calibri" pitchFamily="34" charset="-120"/>
              </a:rPr>
              <a:t>FinTech Lakehouse  ·  Batch + Incremental Data Engineering Pipeline  ·  Ahmed Nhmedo</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3251</Words>
  <Application>Microsoft Office PowerPoint</Application>
  <PresentationFormat>Widescreen</PresentationFormat>
  <Paragraphs>288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FinTech Lakehouse — Batch + Incremental Data Engineering Pipeline</dc:title>
  <dc:subject>PptxGenJS Presentation</dc:subject>
  <dc:creator>Ahmed Nhmedo</dc:creator>
  <cp:lastModifiedBy>Eyad Elatik</cp:lastModifiedBy>
  <cp:revision>2</cp:revision>
  <dcterms:created xsi:type="dcterms:W3CDTF">2026-06-30T03:35:15Z</dcterms:created>
  <dcterms:modified xsi:type="dcterms:W3CDTF">2026-06-30T04:08:56Z</dcterms:modified>
</cp:coreProperties>
</file>